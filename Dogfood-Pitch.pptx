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confidence. Pause on 'you can defend' — this is the thesis. The entire deck supports this one claim: every judging decision is auditable, normalized, and tamper-evident.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'We surveyed five major platforms. None documents a normalization method. None offers calibration rounds. None provides a forensic scan.' [CONFIRM: re-verify each incumbent's current feature set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'This is not marketing — each row maps to a section of our codebase. We will show the math, the code path, and the audit trail.' [CONFIRM: re-verify incumbent claims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Walk through left to right. Pause at the teal boxes (Score, Normalize) — these are the mathematical core. Point out that integrity controls attach at four distinct points in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'The frontend is one React app with role-based routing. But every permission is double-enforced: once by the service logic filtering on JWT claims, and again by Postgres row-level security.'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'This is the entire system. Nine services plus a gateway and a React frontend. Everything runs inside one docker compose file on a single host. Once images are pulled, it works fully offline. There is no cloud dependency.'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'We chose a single Postgres instance with schema isolation — not separate databases — because this is a self-hosted product. One host, one backup, one set of credentials. Cross-service joins are impossible by design.' Exchange and queue names confirmed from RabbitConstants.java.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Walk through the worked example. 'J2 gives lower scores overall. Without normalization, J2's projects would all rank lower. With z-scores, we correct for J2's harsh center and narrow range. The final rank reflects actual project quality, not which judge happened to review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'This is the slide that makes security reviewers relax. Two independent enforcement layers. Even if someone introduces a bug in the application layer, the database will not return another judge's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'These three controls mean that no score enters the final average without passing through calibration validation, conflict-of-interest exclusion, and the flag/abstain safety valve.'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'This is the flagship extra. When a participant submits a GitHub URL, we clone the repo using Eclipse JGit — pure Java, no shell git — into a temp directory and walk the commit graph. The output is a risk score shown on the organizer dashboard. It is a signal for review, not a verdict. We are very honest about the caveats because that is what makes it credible.'  Thresholds confirmed from GitForensicService.java: 0 commits=100, 1 commit=80, &gt;90% early=ratio*100, &gt;50% early=ratio*80. Clones to temp dir, not in-memory.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'Quadratic voting means it costs 1 credit for your first vote on a project, but 25 credits for your fifth. This makes ballot stuffing economically irrational while still letting passionate supporters express strong preferences.'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'Each of these patterns prevents a specific failure mode. This is not architecture tourism — every one was motivated by a real scenario we encountered during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'Organizers should never have to open a database client to understand what happened. The audit log is filterable, human-readable, and served from the dashboard. The public /status page gives participants confidence that the system is live.'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'Let me walk you through the flow. A participant submits their project here. The judge sees only their assigned submissions — no peer scores, no ordering bias. The organizer watches live progress via server-sent events.'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'This is the slide that earns trust. We are explicit about what we do not mitigate. A determined attacker with many real emails can sybil-vote. Judges who collude without self-declaring are hard to catch. Git history can be rewritten. We flag these honestly because security is about layers, not perfection.'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'We want to be transparent about what is tested and what is not. The core judging math has unit tests. Role isolation has integration tests with Testcontainers. But we have not done load testing, we do not have OAuth, and the mobile experience needs work.'  [CONFIRM: check .dogfood.toml and acceptance-report.txt for tier claims.]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'One command. That is the product. Everything we showed you is in this repo, running right now. Thank you.' — Stop here. Do not add 'questions?' verbally either; let the audience drive.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1828800"/>
            <a:ext cx="10911535" cy="914400"/>
          </a:xfrm>
          <a:prstGeom prst="rect">
            <a:avLst/>
          </a:prstGeom>
          <a:noFill/>
        </p:spPr>
        <p:txBody>
          <a:bodyPr wrap="square"/>
          <a:lstStyle/>
          <a:p>
            <a:pPr algn="l">
              <a:spcBef>
                <a:spcPts val="0"/>
              </a:spcBef>
              <a:spcAft>
                <a:spcPts val="0"/>
              </a:spcAft>
              <a:defRPr sz="5600" b="1">
                <a:solidFill>
                  <a:srgbClr val="FFFFFF"/>
                </a:solidFill>
                <a:latin typeface="IBM Plex Sans"/>
              </a:defRPr>
            </a:pPr>
            <a:r>
              <a:rPr>
                <a:latin typeface="IBM Plex Sans"/>
              </a:rPr>
              <a:t>Dogfood.</a:t>
            </a:r>
          </a:p>
        </p:txBody>
      </p:sp>
      <p:sp>
        <p:nvSpPr>
          <p:cNvPr id="3" name="TextBox 2"/>
          <p:cNvSpPr txBox="1"/>
          <p:nvPr/>
        </p:nvSpPr>
        <p:spPr>
          <a:xfrm>
            <a:off x="640080" y="2743200"/>
            <a:ext cx="10911535" cy="457200"/>
          </a:xfrm>
          <a:prstGeom prst="rect">
            <a:avLst/>
          </a:prstGeom>
          <a:noFill/>
        </p:spPr>
        <p:txBody>
          <a:bodyPr wrap="square"/>
          <a:lstStyle/>
          <a:p>
            <a:pPr algn="l">
              <a:spcBef>
                <a:spcPts val="0"/>
              </a:spcBef>
              <a:spcAft>
                <a:spcPts val="0"/>
              </a:spcAft>
              <a:defRPr sz="2800" b="0">
                <a:solidFill>
                  <a:srgbClr val="0F766E"/>
                </a:solidFill>
                <a:latin typeface="IBM Plex Sans"/>
              </a:defRPr>
            </a:pPr>
            <a:r>
              <a:rPr>
                <a:latin typeface="IBM Plex Sans"/>
              </a:rPr>
              <a:t>Hackathon judging you can defend.</a:t>
            </a:r>
          </a:p>
        </p:txBody>
      </p:sp>
      <p:sp>
        <p:nvSpPr>
          <p:cNvPr id="4" name="TextBox 3"/>
          <p:cNvSpPr txBox="1"/>
          <p:nvPr/>
        </p:nvSpPr>
        <p:spPr>
          <a:xfrm>
            <a:off x="640080" y="3474720"/>
            <a:ext cx="10911535" cy="365760"/>
          </a:xfrm>
          <a:prstGeom prst="rect">
            <a:avLst/>
          </a:prstGeom>
          <a:noFill/>
        </p:spPr>
        <p:txBody>
          <a:bodyPr wrap="square"/>
          <a:lstStyle/>
          <a:p>
            <a:pPr algn="l">
              <a:spcBef>
                <a:spcPts val="0"/>
              </a:spcBef>
              <a:spcAft>
                <a:spcPts val="0"/>
              </a:spcAft>
              <a:defRPr sz="1600" b="0">
                <a:solidFill>
                  <a:srgbClr val="5B6470"/>
                </a:solidFill>
                <a:latin typeface="IBM Plex Sans"/>
              </a:defRPr>
            </a:pPr>
            <a:r>
              <a:rPr>
                <a:latin typeface="IBM Plex Sans"/>
              </a:rPr>
              <a:t>Open-source  ·  Self-hostable  ·  One command</a:t>
            </a:r>
          </a:p>
        </p:txBody>
      </p:sp>
      <p:sp>
        <p:nvSpPr>
          <p:cNvPr id="5" name="TextBox 4"/>
          <p:cNvSpPr txBox="1"/>
          <p:nvPr/>
        </p:nvSpPr>
        <p:spPr>
          <a:xfrm>
            <a:off x="640080" y="5120640"/>
            <a:ext cx="10911535" cy="274320"/>
          </a:xfrm>
          <a:prstGeom prst="rect">
            <a:avLst/>
          </a:prstGeom>
          <a:noFill/>
        </p:spPr>
        <p:txBody>
          <a:bodyPr wrap="square"/>
          <a:lstStyle/>
          <a:p>
            <a:pPr algn="l">
              <a:spcBef>
                <a:spcPts val="0"/>
              </a:spcBef>
              <a:spcAft>
                <a:spcPts val="0"/>
              </a:spcAft>
              <a:defRPr sz="1400" b="0">
                <a:solidFill>
                  <a:srgbClr val="5B6470"/>
                </a:solidFill>
                <a:latin typeface="IBM Plex Sans"/>
              </a:defRPr>
            </a:pPr>
            <a:r>
              <a:rPr>
                <a:latin typeface="IBM Plex Sans"/>
              </a:rPr>
              <a:t>DogFood Team  ·  Hackathon 2026</a:t>
            </a:r>
          </a:p>
        </p:txBody>
      </p:sp>
      <p:sp>
        <p:nvSpPr>
          <p:cNvPr id="6" name="TextBox 5"/>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640080" y="548640"/>
            <a:ext cx="10911535" cy="457200"/>
          </a:xfrm>
          <a:prstGeom prst="rect">
            <a:avLst/>
          </a:prstGeom>
          <a:noFill/>
        </p:spPr>
        <p:txBody>
          <a:bodyPr wrap="square"/>
          <a:lstStyle/>
          <a:p>
            <a:pPr algn="l">
              <a:spcBef>
                <a:spcPts val="0"/>
              </a:spcBef>
              <a:spcAft>
                <a:spcPts val="0"/>
              </a:spcAft>
              <a:defRPr sz="2800" b="1">
                <a:solidFill>
                  <a:srgbClr val="0E1116"/>
                </a:solidFill>
                <a:latin typeface="IBM Plex Sans"/>
              </a:defRPr>
            </a:pPr>
            <a:r>
              <a:rPr>
                <a:latin typeface="IBM Plex Sans"/>
              </a:rPr>
              <a:t>Incumbent platforms converge on the same shallow feature set</a:t>
            </a:r>
          </a:p>
        </p:txBody>
      </p:sp>
      <p:sp>
        <p:nvSpPr>
          <p:cNvPr id="3" name="TextBox 2"/>
          <p:cNvSpPr txBox="1"/>
          <p:nvPr/>
        </p:nvSpPr>
        <p:spPr>
          <a:xfrm>
            <a:off x="11430000" y="6400800"/>
            <a:ext cx="548640" cy="274320"/>
          </a:xfrm>
          <a:prstGeom prst="rect">
            <a:avLst/>
          </a:prstGeom>
          <a:noFill/>
        </p:spPr>
        <p:txBody>
          <a:bodyPr wrap="square"/>
          <a:lstStyle/>
          <a:p>
            <a:pPr algn="r">
              <a:spcBef>
                <a:spcPts val="0"/>
              </a:spcBef>
              <a:spcAft>
                <a:spcPts val="0"/>
              </a:spcAft>
              <a:defRPr sz="1000" b="0">
                <a:solidFill>
                  <a:srgbClr val="5B6470"/>
                </a:solidFill>
                <a:latin typeface="IBM Plex Sans"/>
              </a:defRPr>
            </a:pPr>
            <a:r>
              <a:rPr>
                <a:latin typeface="IBM Plex Sans"/>
              </a:rPr>
              <a:t>2</a:t>
            </a:r>
          </a:p>
        </p:txBody>
      </p:sp>
      <p:sp>
        <p:nvSpPr>
          <p:cNvPr id="4" name="TextBox 3"/>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
        <p:nvSpPr>
          <p:cNvPr id="5" name="TextBox 4"/>
          <p:cNvSpPr txBox="1"/>
          <p:nvPr/>
        </p:nvSpPr>
        <p:spPr>
          <a:xfrm>
            <a:off x="640080" y="1463040"/>
            <a:ext cx="7315200" cy="2743200"/>
          </a:xfrm>
          <a:prstGeom prst="rect">
            <a:avLst/>
          </a:prstGeom>
          <a:noFill/>
        </p:spPr>
        <p:txBody>
          <a:bodyPr wrap="square">
            <a:spAutoFit/>
          </a:bodyPr>
          <a:lstStyle/>
          <a:p>
            <a:pPr algn="l">
              <a:spcBef>
                <a:spcPts val="0"/>
              </a:spcBef>
              <a:spcAft>
                <a:spcPts val="1600"/>
              </a:spcAft>
              <a:defRPr sz="1800" b="0">
                <a:solidFill>
                  <a:srgbClr val="0E1116"/>
                </a:solidFill>
                <a:latin typeface="IBM Plex Sans"/>
              </a:defRPr>
            </a:pPr>
            <a:r>
              <a:t>Averaged scores with no calibration.</a:t>
            </a:r>
          </a:p>
          <a:p>
            <a:pPr algn="l">
              <a:spcBef>
                <a:spcPts val="0"/>
              </a:spcBef>
              <a:spcAft>
                <a:spcPts val="1600"/>
              </a:spcAft>
              <a:defRPr sz="1800" b="0">
                <a:solidFill>
                  <a:srgbClr val="0E1116"/>
                </a:solidFill>
                <a:latin typeface="IBM Plex Sans"/>
              </a:defRPr>
            </a:pPr>
            <a:r>
              <a:t>No documented normalization — a lenient judge decides winners.</a:t>
            </a:r>
          </a:p>
          <a:p>
            <a:pPr algn="l">
              <a:spcBef>
                <a:spcPts val="0"/>
              </a:spcBef>
              <a:spcAft>
                <a:spcPts val="1600"/>
              </a:spcAft>
              <a:defRPr sz="1800" b="0">
                <a:solidFill>
                  <a:srgbClr val="0E1116"/>
                </a:solidFill>
                <a:latin typeface="IBM Plex Sans"/>
              </a:defRPr>
            </a:pPr>
            <a:r>
              <a:t>No audit trail. Organizers cannot explain a result.</a:t>
            </a:r>
          </a:p>
          <a:p>
            <a:pPr algn="l">
              <a:spcBef>
                <a:spcPts val="0"/>
              </a:spcBef>
              <a:spcAft>
                <a:spcPts val="1600"/>
              </a:spcAft>
              <a:defRPr sz="1800" b="0">
                <a:solidFill>
                  <a:srgbClr val="0E1116"/>
                </a:solidFill>
                <a:latin typeface="IBM Plex Sans"/>
              </a:defRPr>
            </a:pPr>
            <a:r>
              <a:t>No forensic checks on submissions. Pre-built projects pass.</a:t>
            </a:r>
          </a:p>
        </p:txBody>
      </p:sp>
      <p:sp>
        <p:nvSpPr>
          <p:cNvPr id="6" name="TextBox 5"/>
          <p:cNvSpPr txBox="1"/>
          <p:nvPr/>
        </p:nvSpPr>
        <p:spPr>
          <a:xfrm>
            <a:off x="640080" y="4389120"/>
            <a:ext cx="7315200" cy="457200"/>
          </a:xfrm>
          <a:prstGeom prst="rect">
            <a:avLst/>
          </a:prstGeom>
          <a:noFill/>
        </p:spPr>
        <p:txBody>
          <a:bodyPr wrap="square"/>
          <a:lstStyle/>
          <a:p>
            <a:pPr algn="l">
              <a:spcBef>
                <a:spcPts val="0"/>
              </a:spcBef>
              <a:spcAft>
                <a:spcPts val="0"/>
              </a:spcAft>
              <a:defRPr sz="1200" b="0">
                <a:solidFill>
                  <a:srgbClr val="5B6470"/>
                </a:solidFill>
                <a:latin typeface="IBM Plex Sans"/>
              </a:defRPr>
            </a:pPr>
            <a:r>
              <a:rPr>
                <a:latin typeface="IBM Plex Sans"/>
              </a:rPr>
              <a:t>In our review of Devpost, Devfolio, DoraHacks, HackerEarth, and Unstop.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640080" y="548640"/>
            <a:ext cx="10911535" cy="457200"/>
          </a:xfrm>
          <a:prstGeom prst="rect">
            <a:avLst/>
          </a:prstGeom>
          <a:noFill/>
        </p:spPr>
        <p:txBody>
          <a:bodyPr wrap="square"/>
          <a:lstStyle/>
          <a:p>
            <a:pPr algn="l">
              <a:spcBef>
                <a:spcPts val="0"/>
              </a:spcBef>
              <a:spcAft>
                <a:spcPts val="0"/>
              </a:spcAft>
              <a:defRPr sz="2800" b="1">
                <a:solidFill>
                  <a:srgbClr val="0E1116"/>
                </a:solidFill>
                <a:latin typeface="IBM Plex Sans"/>
              </a:defRPr>
            </a:pPr>
            <a:r>
              <a:rPr>
                <a:latin typeface="IBM Plex Sans"/>
              </a:rPr>
              <a:t>Dogfood closes gaps that incumbents treat as optional</a:t>
            </a:r>
          </a:p>
        </p:txBody>
      </p:sp>
      <p:sp>
        <p:nvSpPr>
          <p:cNvPr id="3" name="TextBox 2"/>
          <p:cNvSpPr txBox="1"/>
          <p:nvPr/>
        </p:nvSpPr>
        <p:spPr>
          <a:xfrm>
            <a:off x="11430000" y="6400800"/>
            <a:ext cx="548640" cy="274320"/>
          </a:xfrm>
          <a:prstGeom prst="rect">
            <a:avLst/>
          </a:prstGeom>
          <a:noFill/>
        </p:spPr>
        <p:txBody>
          <a:bodyPr wrap="square"/>
          <a:lstStyle/>
          <a:p>
            <a:pPr algn="r">
              <a:spcBef>
                <a:spcPts val="0"/>
              </a:spcBef>
              <a:spcAft>
                <a:spcPts val="0"/>
              </a:spcAft>
              <a:defRPr sz="1000" b="0">
                <a:solidFill>
                  <a:srgbClr val="5B6470"/>
                </a:solidFill>
                <a:latin typeface="IBM Plex Sans"/>
              </a:defRPr>
            </a:pPr>
            <a:r>
              <a:rPr>
                <a:latin typeface="IBM Plex Sans"/>
              </a:rPr>
              <a:t>3</a:t>
            </a:r>
          </a:p>
        </p:txBody>
      </p:sp>
      <p:sp>
        <p:nvSpPr>
          <p:cNvPr id="4" name="TextBox 3"/>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
        <p:nvSpPr>
          <p:cNvPr id="5" name="TextBox 4"/>
          <p:cNvSpPr txBox="1"/>
          <p:nvPr/>
        </p:nvSpPr>
        <p:spPr>
          <a:xfrm>
            <a:off x="640080" y="1371600"/>
            <a:ext cx="4114800" cy="347472"/>
          </a:xfrm>
          <a:prstGeom prst="rect">
            <a:avLst/>
          </a:prstGeom>
          <a:noFill/>
        </p:spPr>
        <p:txBody>
          <a:bodyPr wrap="square"/>
          <a:lstStyle/>
          <a:p>
            <a:pPr algn="l">
              <a:spcBef>
                <a:spcPts val="0"/>
              </a:spcBef>
              <a:spcAft>
                <a:spcPts val="0"/>
              </a:spcAft>
              <a:defRPr sz="1200" b="1">
                <a:solidFill>
                  <a:srgbClr val="5B6470"/>
                </a:solidFill>
                <a:latin typeface="IBM Plex Sans"/>
              </a:defRPr>
            </a:pPr>
            <a:r>
              <a:rPr>
                <a:latin typeface="IBM Plex Sans"/>
              </a:rPr>
              <a:t>Capability</a:t>
            </a:r>
          </a:p>
        </p:txBody>
      </p:sp>
      <p:sp>
        <p:nvSpPr>
          <p:cNvPr id="6" name="TextBox 5"/>
          <p:cNvSpPr txBox="1"/>
          <p:nvPr/>
        </p:nvSpPr>
        <p:spPr>
          <a:xfrm>
            <a:off x="4754880" y="1371600"/>
            <a:ext cx="2286000" cy="347472"/>
          </a:xfrm>
          <a:prstGeom prst="rect">
            <a:avLst/>
          </a:prstGeom>
          <a:noFill/>
        </p:spPr>
        <p:txBody>
          <a:bodyPr wrap="square"/>
          <a:lstStyle/>
          <a:p>
            <a:pPr algn="l">
              <a:spcBef>
                <a:spcPts val="0"/>
              </a:spcBef>
              <a:spcAft>
                <a:spcPts val="0"/>
              </a:spcAft>
              <a:defRPr sz="1200" b="1">
                <a:solidFill>
                  <a:srgbClr val="5B6470"/>
                </a:solidFill>
                <a:latin typeface="IBM Plex Sans"/>
              </a:defRPr>
            </a:pPr>
            <a:r>
              <a:rPr>
                <a:latin typeface="IBM Plex Sans"/>
              </a:rPr>
              <a:t>Typical incumbent</a:t>
            </a:r>
          </a:p>
        </p:txBody>
      </p:sp>
      <p:sp>
        <p:nvSpPr>
          <p:cNvPr id="7" name="TextBox 6"/>
          <p:cNvSpPr txBox="1"/>
          <p:nvPr/>
        </p:nvSpPr>
        <p:spPr>
          <a:xfrm>
            <a:off x="7040880" y="1371600"/>
            <a:ext cx="1828800" cy="347472"/>
          </a:xfrm>
          <a:prstGeom prst="rect">
            <a:avLst/>
          </a:prstGeom>
          <a:noFill/>
        </p:spPr>
        <p:txBody>
          <a:bodyPr wrap="square"/>
          <a:lstStyle/>
          <a:p>
            <a:pPr algn="l">
              <a:spcBef>
                <a:spcPts val="0"/>
              </a:spcBef>
              <a:spcAft>
                <a:spcPts val="0"/>
              </a:spcAft>
              <a:defRPr sz="1200" b="1">
                <a:solidFill>
                  <a:srgbClr val="5B6470"/>
                </a:solidFill>
                <a:latin typeface="IBM Plex Sans"/>
              </a:defRPr>
            </a:pPr>
            <a:r>
              <a:rPr>
                <a:latin typeface="IBM Plex Sans"/>
              </a:rPr>
              <a:t>Dogfood</a:t>
            </a:r>
          </a:p>
        </p:txBody>
      </p:sp>
      <p:cxnSp>
        <p:nvCxnSpPr>
          <p:cNvPr id="8" name="Connector 7"/>
          <p:cNvCxnSpPr/>
          <p:nvPr/>
        </p:nvCxnSpPr>
        <p:spPr>
          <a:xfrm>
            <a:off x="640080" y="1719072"/>
            <a:ext cx="8229600" cy="0"/>
          </a:xfrm>
          <a:prstGeom prst="line">
            <a:avLst/>
          </a:prstGeom>
          <a:ln w="12700">
            <a:solidFill>
              <a:srgbClr val="D9D7D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1737360"/>
            <a:ext cx="4114800" cy="347472"/>
          </a:xfrm>
          <a:prstGeom prst="rect">
            <a:avLst/>
          </a:prstGeom>
          <a:noFill/>
        </p:spPr>
        <p:txBody>
          <a:bodyPr wrap="square"/>
          <a:lstStyle/>
          <a:p>
            <a:pPr algn="l">
              <a:spcBef>
                <a:spcPts val="0"/>
              </a:spcBef>
              <a:spcAft>
                <a:spcPts val="0"/>
              </a:spcAft>
              <a:defRPr sz="1400" b="0">
                <a:solidFill>
                  <a:srgbClr val="0E1116"/>
                </a:solidFill>
                <a:latin typeface="IBM Plex Sans"/>
              </a:defRPr>
            </a:pPr>
            <a:r>
              <a:rPr>
                <a:latin typeface="IBM Plex Sans"/>
              </a:rPr>
              <a:t>Weighted rubric criteria</a:t>
            </a:r>
          </a:p>
        </p:txBody>
      </p:sp>
      <p:sp>
        <p:nvSpPr>
          <p:cNvPr id="10" name="TextBox 9"/>
          <p:cNvSpPr txBox="1"/>
          <p:nvPr/>
        </p:nvSpPr>
        <p:spPr>
          <a:xfrm>
            <a:off x="4754880" y="1737360"/>
            <a:ext cx="2286000" cy="347472"/>
          </a:xfrm>
          <a:prstGeom prst="rect">
            <a:avLst/>
          </a:prstGeom>
          <a:noFill/>
        </p:spPr>
        <p:txBody>
          <a:bodyPr wrap="square"/>
          <a:lstStyle/>
          <a:p>
            <a:pPr algn="l">
              <a:spcBef>
                <a:spcPts val="0"/>
              </a:spcBef>
              <a:spcAft>
                <a:spcPts val="0"/>
              </a:spcAft>
              <a:defRPr sz="1400" b="0">
                <a:solidFill>
                  <a:srgbClr val="0E1116"/>
                </a:solidFill>
                <a:latin typeface="IBM Plex Sans"/>
              </a:defRPr>
            </a:pPr>
            <a:r>
              <a:rPr>
                <a:latin typeface="IBM Plex Sans"/>
              </a:rPr>
              <a:t>Partial</a:t>
            </a:r>
          </a:p>
        </p:txBody>
      </p:sp>
      <p:sp>
        <p:nvSpPr>
          <p:cNvPr id="11" name="TextBox 10"/>
          <p:cNvSpPr txBox="1"/>
          <p:nvPr/>
        </p:nvSpPr>
        <p:spPr>
          <a:xfrm>
            <a:off x="7040880" y="1737360"/>
            <a:ext cx="1828800" cy="347472"/>
          </a:xfrm>
          <a:prstGeom prst="rect">
            <a:avLst/>
          </a:prstGeom>
          <a:noFill/>
        </p:spPr>
        <p:txBody>
          <a:bodyPr wrap="square"/>
          <a:lstStyle/>
          <a:p>
            <a:pPr algn="l">
              <a:spcBef>
                <a:spcPts val="0"/>
              </a:spcBef>
              <a:spcAft>
                <a:spcPts val="0"/>
              </a:spcAft>
              <a:defRPr sz="1400" b="0">
                <a:solidFill>
                  <a:srgbClr val="1F7A5A"/>
                </a:solidFill>
                <a:latin typeface="IBM Plex Sans"/>
              </a:defRPr>
            </a:pPr>
            <a:r>
              <a:rPr>
                <a:latin typeface="IBM Plex Sans"/>
              </a:rPr>
              <a:t>✓</a:t>
            </a:r>
          </a:p>
        </p:txBody>
      </p:sp>
      <p:sp>
        <p:nvSpPr>
          <p:cNvPr id="12" name="TextBox 11"/>
          <p:cNvSpPr txBox="1"/>
          <p:nvPr/>
        </p:nvSpPr>
        <p:spPr>
          <a:xfrm>
            <a:off x="640080" y="2084832"/>
            <a:ext cx="4114800" cy="347472"/>
          </a:xfrm>
          <a:prstGeom prst="rect">
            <a:avLst/>
          </a:prstGeom>
          <a:noFill/>
        </p:spPr>
        <p:txBody>
          <a:bodyPr wrap="square"/>
          <a:lstStyle/>
          <a:p>
            <a:pPr algn="l">
              <a:spcBef>
                <a:spcPts val="0"/>
              </a:spcBef>
              <a:spcAft>
                <a:spcPts val="0"/>
              </a:spcAft>
              <a:defRPr sz="1400" b="0">
                <a:solidFill>
                  <a:srgbClr val="0E1116"/>
                </a:solidFill>
                <a:latin typeface="IBM Plex Sans"/>
              </a:defRPr>
            </a:pPr>
            <a:r>
              <a:rPr>
                <a:latin typeface="IBM Plex Sans"/>
              </a:rPr>
              <a:t>Documented z-score normalization</a:t>
            </a:r>
          </a:p>
        </p:txBody>
      </p:sp>
      <p:sp>
        <p:nvSpPr>
          <p:cNvPr id="13" name="TextBox 12"/>
          <p:cNvSpPr txBox="1"/>
          <p:nvPr/>
        </p:nvSpPr>
        <p:spPr>
          <a:xfrm>
            <a:off x="4754880" y="2084832"/>
            <a:ext cx="2286000" cy="347472"/>
          </a:xfrm>
          <a:prstGeom prst="rect">
            <a:avLst/>
          </a:prstGeom>
          <a:noFill/>
        </p:spPr>
        <p:txBody>
          <a:bodyPr wrap="square"/>
          <a:lstStyle/>
          <a:p>
            <a:pPr algn="l">
              <a:spcBef>
                <a:spcPts val="0"/>
              </a:spcBef>
              <a:spcAft>
                <a:spcPts val="0"/>
              </a:spcAft>
              <a:defRPr sz="1400" b="0">
                <a:solidFill>
                  <a:srgbClr val="B45309"/>
                </a:solidFill>
                <a:latin typeface="IBM Plex Sans"/>
              </a:defRPr>
            </a:pPr>
            <a:r>
              <a:rPr>
                <a:latin typeface="IBM Plex Sans"/>
              </a:rPr>
              <a:t>—</a:t>
            </a:r>
          </a:p>
        </p:txBody>
      </p:sp>
      <p:sp>
        <p:nvSpPr>
          <p:cNvPr id="14" name="TextBox 13"/>
          <p:cNvSpPr txBox="1"/>
          <p:nvPr/>
        </p:nvSpPr>
        <p:spPr>
          <a:xfrm>
            <a:off x="7040880" y="2084832"/>
            <a:ext cx="1828800" cy="347472"/>
          </a:xfrm>
          <a:prstGeom prst="rect">
            <a:avLst/>
          </a:prstGeom>
          <a:noFill/>
        </p:spPr>
        <p:txBody>
          <a:bodyPr wrap="square"/>
          <a:lstStyle/>
          <a:p>
            <a:pPr algn="l">
              <a:spcBef>
                <a:spcPts val="0"/>
              </a:spcBef>
              <a:spcAft>
                <a:spcPts val="0"/>
              </a:spcAft>
              <a:defRPr sz="1400" b="0">
                <a:solidFill>
                  <a:srgbClr val="1F7A5A"/>
                </a:solidFill>
                <a:latin typeface="IBM Plex Sans"/>
              </a:defRPr>
            </a:pPr>
            <a:r>
              <a:rPr>
                <a:latin typeface="IBM Plex Sans"/>
              </a:rPr>
              <a:t>✓</a:t>
            </a:r>
          </a:p>
        </p:txBody>
      </p:sp>
      <p:sp>
        <p:nvSpPr>
          <p:cNvPr id="15" name="TextBox 14"/>
          <p:cNvSpPr txBox="1"/>
          <p:nvPr/>
        </p:nvSpPr>
        <p:spPr>
          <a:xfrm>
            <a:off x="640080" y="2432304"/>
            <a:ext cx="4114800" cy="347472"/>
          </a:xfrm>
          <a:prstGeom prst="rect">
            <a:avLst/>
          </a:prstGeom>
          <a:noFill/>
        </p:spPr>
        <p:txBody>
          <a:bodyPr wrap="square"/>
          <a:lstStyle/>
          <a:p>
            <a:pPr algn="l">
              <a:spcBef>
                <a:spcPts val="0"/>
              </a:spcBef>
              <a:spcAft>
                <a:spcPts val="0"/>
              </a:spcAft>
              <a:defRPr sz="1400" b="0">
                <a:solidFill>
                  <a:srgbClr val="0E1116"/>
                </a:solidFill>
                <a:latin typeface="IBM Plex Sans"/>
              </a:defRPr>
            </a:pPr>
            <a:r>
              <a:rPr>
                <a:latin typeface="IBM Plex Sans"/>
              </a:rPr>
              <a:t>Bayesian shrinkage for few-review judges</a:t>
            </a:r>
          </a:p>
        </p:txBody>
      </p:sp>
      <p:sp>
        <p:nvSpPr>
          <p:cNvPr id="16" name="TextBox 15"/>
          <p:cNvSpPr txBox="1"/>
          <p:nvPr/>
        </p:nvSpPr>
        <p:spPr>
          <a:xfrm>
            <a:off x="4754880" y="2432304"/>
            <a:ext cx="2286000" cy="347472"/>
          </a:xfrm>
          <a:prstGeom prst="rect">
            <a:avLst/>
          </a:prstGeom>
          <a:noFill/>
        </p:spPr>
        <p:txBody>
          <a:bodyPr wrap="square"/>
          <a:lstStyle/>
          <a:p>
            <a:pPr algn="l">
              <a:spcBef>
                <a:spcPts val="0"/>
              </a:spcBef>
              <a:spcAft>
                <a:spcPts val="0"/>
              </a:spcAft>
              <a:defRPr sz="1400" b="0">
                <a:solidFill>
                  <a:srgbClr val="B45309"/>
                </a:solidFill>
                <a:latin typeface="IBM Plex Sans"/>
              </a:defRPr>
            </a:pPr>
            <a:r>
              <a:rPr>
                <a:latin typeface="IBM Plex Sans"/>
              </a:rPr>
              <a:t>—</a:t>
            </a:r>
          </a:p>
        </p:txBody>
      </p:sp>
      <p:sp>
        <p:nvSpPr>
          <p:cNvPr id="17" name="TextBox 16"/>
          <p:cNvSpPr txBox="1"/>
          <p:nvPr/>
        </p:nvSpPr>
        <p:spPr>
          <a:xfrm>
            <a:off x="7040880" y="2432304"/>
            <a:ext cx="1828800" cy="347472"/>
          </a:xfrm>
          <a:prstGeom prst="rect">
            <a:avLst/>
          </a:prstGeom>
          <a:noFill/>
        </p:spPr>
        <p:txBody>
          <a:bodyPr wrap="square"/>
          <a:lstStyle/>
          <a:p>
            <a:pPr algn="l">
              <a:spcBef>
                <a:spcPts val="0"/>
              </a:spcBef>
              <a:spcAft>
                <a:spcPts val="0"/>
              </a:spcAft>
              <a:defRPr sz="1400" b="0">
                <a:solidFill>
                  <a:srgbClr val="1F7A5A"/>
                </a:solidFill>
                <a:latin typeface="IBM Plex Sans"/>
              </a:defRPr>
            </a:pPr>
            <a:r>
              <a:rPr>
                <a:latin typeface="IBM Plex Sans"/>
              </a:rPr>
              <a:t>✓</a:t>
            </a:r>
          </a:p>
        </p:txBody>
      </p:sp>
      <p:sp>
        <p:nvSpPr>
          <p:cNvPr id="18" name="TextBox 17"/>
          <p:cNvSpPr txBox="1"/>
          <p:nvPr/>
        </p:nvSpPr>
        <p:spPr>
          <a:xfrm>
            <a:off x="640080" y="2779776"/>
            <a:ext cx="4114800" cy="347472"/>
          </a:xfrm>
          <a:prstGeom prst="rect">
            <a:avLst/>
          </a:prstGeom>
          <a:noFill/>
        </p:spPr>
        <p:txBody>
          <a:bodyPr wrap="square"/>
          <a:lstStyle/>
          <a:p>
            <a:pPr algn="l">
              <a:spcBef>
                <a:spcPts val="0"/>
              </a:spcBef>
              <a:spcAft>
                <a:spcPts val="0"/>
              </a:spcAft>
              <a:defRPr sz="1400" b="0">
                <a:solidFill>
                  <a:srgbClr val="0E1116"/>
                </a:solidFill>
                <a:latin typeface="IBM Plex Sans"/>
              </a:defRPr>
            </a:pPr>
            <a:r>
              <a:rPr>
                <a:latin typeface="IBM Plex Sans"/>
              </a:rPr>
              <a:t>Calibration round</a:t>
            </a:r>
          </a:p>
        </p:txBody>
      </p:sp>
      <p:sp>
        <p:nvSpPr>
          <p:cNvPr id="19" name="TextBox 18"/>
          <p:cNvSpPr txBox="1"/>
          <p:nvPr/>
        </p:nvSpPr>
        <p:spPr>
          <a:xfrm>
            <a:off x="4754880" y="2779776"/>
            <a:ext cx="2286000" cy="347472"/>
          </a:xfrm>
          <a:prstGeom prst="rect">
            <a:avLst/>
          </a:prstGeom>
          <a:noFill/>
        </p:spPr>
        <p:txBody>
          <a:bodyPr wrap="square"/>
          <a:lstStyle/>
          <a:p>
            <a:pPr algn="l">
              <a:spcBef>
                <a:spcPts val="0"/>
              </a:spcBef>
              <a:spcAft>
                <a:spcPts val="0"/>
              </a:spcAft>
              <a:defRPr sz="1400" b="0">
                <a:solidFill>
                  <a:srgbClr val="B45309"/>
                </a:solidFill>
                <a:latin typeface="IBM Plex Sans"/>
              </a:defRPr>
            </a:pPr>
            <a:r>
              <a:rPr>
                <a:latin typeface="IBM Plex Sans"/>
              </a:rPr>
              <a:t>—</a:t>
            </a:r>
          </a:p>
        </p:txBody>
      </p:sp>
      <p:sp>
        <p:nvSpPr>
          <p:cNvPr id="20" name="TextBox 19"/>
          <p:cNvSpPr txBox="1"/>
          <p:nvPr/>
        </p:nvSpPr>
        <p:spPr>
          <a:xfrm>
            <a:off x="7040880" y="2779776"/>
            <a:ext cx="1828800" cy="347472"/>
          </a:xfrm>
          <a:prstGeom prst="rect">
            <a:avLst/>
          </a:prstGeom>
          <a:noFill/>
        </p:spPr>
        <p:txBody>
          <a:bodyPr wrap="square"/>
          <a:lstStyle/>
          <a:p>
            <a:pPr algn="l">
              <a:spcBef>
                <a:spcPts val="0"/>
              </a:spcBef>
              <a:spcAft>
                <a:spcPts val="0"/>
              </a:spcAft>
              <a:defRPr sz="1400" b="0">
                <a:solidFill>
                  <a:srgbClr val="1F7A5A"/>
                </a:solidFill>
                <a:latin typeface="IBM Plex Sans"/>
              </a:defRPr>
            </a:pPr>
            <a:r>
              <a:rPr>
                <a:latin typeface="IBM Plex Sans"/>
              </a:rPr>
              <a:t>✓</a:t>
            </a:r>
          </a:p>
        </p:txBody>
      </p:sp>
      <p:sp>
        <p:nvSpPr>
          <p:cNvPr id="21" name="TextBox 20"/>
          <p:cNvSpPr txBox="1"/>
          <p:nvPr/>
        </p:nvSpPr>
        <p:spPr>
          <a:xfrm>
            <a:off x="640080" y="3127248"/>
            <a:ext cx="4114800" cy="347472"/>
          </a:xfrm>
          <a:prstGeom prst="rect">
            <a:avLst/>
          </a:prstGeom>
          <a:noFill/>
        </p:spPr>
        <p:txBody>
          <a:bodyPr wrap="square"/>
          <a:lstStyle/>
          <a:p>
            <a:pPr algn="l">
              <a:spcBef>
                <a:spcPts val="0"/>
              </a:spcBef>
              <a:spcAft>
                <a:spcPts val="0"/>
              </a:spcAft>
              <a:defRPr sz="1400" b="0">
                <a:solidFill>
                  <a:srgbClr val="0E1116"/>
                </a:solidFill>
                <a:latin typeface="IBM Plex Sans"/>
              </a:defRPr>
            </a:pPr>
            <a:r>
              <a:rPr>
                <a:latin typeface="IBM Plex Sans"/>
              </a:rPr>
              <a:t>COI self-declaration + audit</a:t>
            </a:r>
          </a:p>
        </p:txBody>
      </p:sp>
      <p:sp>
        <p:nvSpPr>
          <p:cNvPr id="22" name="TextBox 21"/>
          <p:cNvSpPr txBox="1"/>
          <p:nvPr/>
        </p:nvSpPr>
        <p:spPr>
          <a:xfrm>
            <a:off x="4754880" y="3127248"/>
            <a:ext cx="2286000" cy="347472"/>
          </a:xfrm>
          <a:prstGeom prst="rect">
            <a:avLst/>
          </a:prstGeom>
          <a:noFill/>
        </p:spPr>
        <p:txBody>
          <a:bodyPr wrap="square"/>
          <a:lstStyle/>
          <a:p>
            <a:pPr algn="l">
              <a:spcBef>
                <a:spcPts val="0"/>
              </a:spcBef>
              <a:spcAft>
                <a:spcPts val="0"/>
              </a:spcAft>
              <a:defRPr sz="1400" b="0">
                <a:solidFill>
                  <a:srgbClr val="B45309"/>
                </a:solidFill>
                <a:latin typeface="IBM Plex Sans"/>
              </a:defRPr>
            </a:pPr>
            <a:r>
              <a:rPr>
                <a:latin typeface="IBM Plex Sans"/>
              </a:rPr>
              <a:t>—</a:t>
            </a:r>
          </a:p>
        </p:txBody>
      </p:sp>
      <p:sp>
        <p:nvSpPr>
          <p:cNvPr id="23" name="TextBox 22"/>
          <p:cNvSpPr txBox="1"/>
          <p:nvPr/>
        </p:nvSpPr>
        <p:spPr>
          <a:xfrm>
            <a:off x="7040880" y="3127248"/>
            <a:ext cx="1828800" cy="347472"/>
          </a:xfrm>
          <a:prstGeom prst="rect">
            <a:avLst/>
          </a:prstGeom>
          <a:noFill/>
        </p:spPr>
        <p:txBody>
          <a:bodyPr wrap="square"/>
          <a:lstStyle/>
          <a:p>
            <a:pPr algn="l">
              <a:spcBef>
                <a:spcPts val="0"/>
              </a:spcBef>
              <a:spcAft>
                <a:spcPts val="0"/>
              </a:spcAft>
              <a:defRPr sz="1400" b="0">
                <a:solidFill>
                  <a:srgbClr val="1F7A5A"/>
                </a:solidFill>
                <a:latin typeface="IBM Plex Sans"/>
              </a:defRPr>
            </a:pPr>
            <a:r>
              <a:rPr>
                <a:latin typeface="IBM Plex Sans"/>
              </a:rPr>
              <a:t>✓</a:t>
            </a:r>
          </a:p>
        </p:txBody>
      </p:sp>
      <p:sp>
        <p:nvSpPr>
          <p:cNvPr id="24" name="TextBox 23"/>
          <p:cNvSpPr txBox="1"/>
          <p:nvPr/>
        </p:nvSpPr>
        <p:spPr>
          <a:xfrm>
            <a:off x="640080" y="3474720"/>
            <a:ext cx="4114800" cy="347472"/>
          </a:xfrm>
          <a:prstGeom prst="rect">
            <a:avLst/>
          </a:prstGeom>
          <a:noFill/>
        </p:spPr>
        <p:txBody>
          <a:bodyPr wrap="square"/>
          <a:lstStyle/>
          <a:p>
            <a:pPr algn="l">
              <a:spcBef>
                <a:spcPts val="0"/>
              </a:spcBef>
              <a:spcAft>
                <a:spcPts val="0"/>
              </a:spcAft>
              <a:defRPr sz="1400" b="0">
                <a:solidFill>
                  <a:srgbClr val="0E1116"/>
                </a:solidFill>
                <a:latin typeface="IBM Plex Sans"/>
              </a:defRPr>
            </a:pPr>
            <a:r>
              <a:rPr>
                <a:latin typeface="IBM Plex Sans"/>
              </a:rPr>
              <a:t>Forensic repo scan</a:t>
            </a:r>
          </a:p>
        </p:txBody>
      </p:sp>
      <p:sp>
        <p:nvSpPr>
          <p:cNvPr id="25" name="TextBox 24"/>
          <p:cNvSpPr txBox="1"/>
          <p:nvPr/>
        </p:nvSpPr>
        <p:spPr>
          <a:xfrm>
            <a:off x="4754880" y="3474720"/>
            <a:ext cx="2286000" cy="347472"/>
          </a:xfrm>
          <a:prstGeom prst="rect">
            <a:avLst/>
          </a:prstGeom>
          <a:noFill/>
        </p:spPr>
        <p:txBody>
          <a:bodyPr wrap="square"/>
          <a:lstStyle/>
          <a:p>
            <a:pPr algn="l">
              <a:spcBef>
                <a:spcPts val="0"/>
              </a:spcBef>
              <a:spcAft>
                <a:spcPts val="0"/>
              </a:spcAft>
              <a:defRPr sz="1400" b="0">
                <a:solidFill>
                  <a:srgbClr val="B45309"/>
                </a:solidFill>
                <a:latin typeface="IBM Plex Sans"/>
              </a:defRPr>
            </a:pPr>
            <a:r>
              <a:rPr>
                <a:latin typeface="IBM Plex Sans"/>
              </a:rPr>
              <a:t>—</a:t>
            </a:r>
          </a:p>
        </p:txBody>
      </p:sp>
      <p:sp>
        <p:nvSpPr>
          <p:cNvPr id="26" name="TextBox 25"/>
          <p:cNvSpPr txBox="1"/>
          <p:nvPr/>
        </p:nvSpPr>
        <p:spPr>
          <a:xfrm>
            <a:off x="7040880" y="3474720"/>
            <a:ext cx="1828800" cy="347472"/>
          </a:xfrm>
          <a:prstGeom prst="rect">
            <a:avLst/>
          </a:prstGeom>
          <a:noFill/>
        </p:spPr>
        <p:txBody>
          <a:bodyPr wrap="square"/>
          <a:lstStyle/>
          <a:p>
            <a:pPr algn="l">
              <a:spcBef>
                <a:spcPts val="0"/>
              </a:spcBef>
              <a:spcAft>
                <a:spcPts val="0"/>
              </a:spcAft>
              <a:defRPr sz="1400" b="0">
                <a:solidFill>
                  <a:srgbClr val="1F7A5A"/>
                </a:solidFill>
                <a:latin typeface="IBM Plex Sans"/>
              </a:defRPr>
            </a:pPr>
            <a:r>
              <a:rPr>
                <a:latin typeface="IBM Plex Sans"/>
              </a:rPr>
              <a:t>✓</a:t>
            </a:r>
          </a:p>
        </p:txBody>
      </p:sp>
      <p:sp>
        <p:nvSpPr>
          <p:cNvPr id="27" name="TextBox 26"/>
          <p:cNvSpPr txBox="1"/>
          <p:nvPr/>
        </p:nvSpPr>
        <p:spPr>
          <a:xfrm>
            <a:off x="640080" y="3822192"/>
            <a:ext cx="4114800" cy="347472"/>
          </a:xfrm>
          <a:prstGeom prst="rect">
            <a:avLst/>
          </a:prstGeom>
          <a:noFill/>
        </p:spPr>
        <p:txBody>
          <a:bodyPr wrap="square"/>
          <a:lstStyle/>
          <a:p>
            <a:pPr algn="l">
              <a:spcBef>
                <a:spcPts val="0"/>
              </a:spcBef>
              <a:spcAft>
                <a:spcPts val="0"/>
              </a:spcAft>
              <a:defRPr sz="1400" b="0">
                <a:solidFill>
                  <a:srgbClr val="0E1116"/>
                </a:solidFill>
                <a:latin typeface="IBM Plex Sans"/>
              </a:defRPr>
            </a:pPr>
            <a:r>
              <a:rPr>
                <a:latin typeface="IBM Plex Sans"/>
              </a:rPr>
              <a:t>Integrity report export</a:t>
            </a:r>
          </a:p>
        </p:txBody>
      </p:sp>
      <p:sp>
        <p:nvSpPr>
          <p:cNvPr id="28" name="TextBox 27"/>
          <p:cNvSpPr txBox="1"/>
          <p:nvPr/>
        </p:nvSpPr>
        <p:spPr>
          <a:xfrm>
            <a:off x="4754880" y="3822192"/>
            <a:ext cx="2286000" cy="347472"/>
          </a:xfrm>
          <a:prstGeom prst="rect">
            <a:avLst/>
          </a:prstGeom>
          <a:noFill/>
        </p:spPr>
        <p:txBody>
          <a:bodyPr wrap="square"/>
          <a:lstStyle/>
          <a:p>
            <a:pPr algn="l">
              <a:spcBef>
                <a:spcPts val="0"/>
              </a:spcBef>
              <a:spcAft>
                <a:spcPts val="0"/>
              </a:spcAft>
              <a:defRPr sz="1400" b="0">
                <a:solidFill>
                  <a:srgbClr val="B45309"/>
                </a:solidFill>
                <a:latin typeface="IBM Plex Sans"/>
              </a:defRPr>
            </a:pPr>
            <a:r>
              <a:rPr>
                <a:latin typeface="IBM Plex Sans"/>
              </a:rPr>
              <a:t>—</a:t>
            </a:r>
          </a:p>
        </p:txBody>
      </p:sp>
      <p:sp>
        <p:nvSpPr>
          <p:cNvPr id="29" name="TextBox 28"/>
          <p:cNvSpPr txBox="1"/>
          <p:nvPr/>
        </p:nvSpPr>
        <p:spPr>
          <a:xfrm>
            <a:off x="7040880" y="3822192"/>
            <a:ext cx="1828800" cy="347472"/>
          </a:xfrm>
          <a:prstGeom prst="rect">
            <a:avLst/>
          </a:prstGeom>
          <a:noFill/>
        </p:spPr>
        <p:txBody>
          <a:bodyPr wrap="square"/>
          <a:lstStyle/>
          <a:p>
            <a:pPr algn="l">
              <a:spcBef>
                <a:spcPts val="0"/>
              </a:spcBef>
              <a:spcAft>
                <a:spcPts val="0"/>
              </a:spcAft>
              <a:defRPr sz="1400" b="0">
                <a:solidFill>
                  <a:srgbClr val="1F7A5A"/>
                </a:solidFill>
                <a:latin typeface="IBM Plex Sans"/>
              </a:defRPr>
            </a:pPr>
            <a:r>
              <a:rPr>
                <a:latin typeface="IBM Plex Sans"/>
              </a:rPr>
              <a:t>✓</a:t>
            </a:r>
          </a:p>
        </p:txBody>
      </p:sp>
      <p:sp>
        <p:nvSpPr>
          <p:cNvPr id="30" name="TextBox 29"/>
          <p:cNvSpPr txBox="1"/>
          <p:nvPr/>
        </p:nvSpPr>
        <p:spPr>
          <a:xfrm>
            <a:off x="640080" y="4169664"/>
            <a:ext cx="4114800" cy="347472"/>
          </a:xfrm>
          <a:prstGeom prst="rect">
            <a:avLst/>
          </a:prstGeom>
          <a:noFill/>
        </p:spPr>
        <p:txBody>
          <a:bodyPr wrap="square"/>
          <a:lstStyle/>
          <a:p>
            <a:pPr algn="l">
              <a:spcBef>
                <a:spcPts val="0"/>
              </a:spcBef>
              <a:spcAft>
                <a:spcPts val="0"/>
              </a:spcAft>
              <a:defRPr sz="1400" b="0">
                <a:solidFill>
                  <a:srgbClr val="0E1116"/>
                </a:solidFill>
                <a:latin typeface="IBM Plex Sans"/>
              </a:defRPr>
            </a:pPr>
            <a:r>
              <a:rPr>
                <a:latin typeface="IBM Plex Sans"/>
              </a:rPr>
              <a:t>Self-hostable, offline-capable</a:t>
            </a:r>
          </a:p>
        </p:txBody>
      </p:sp>
      <p:sp>
        <p:nvSpPr>
          <p:cNvPr id="31" name="TextBox 30"/>
          <p:cNvSpPr txBox="1"/>
          <p:nvPr/>
        </p:nvSpPr>
        <p:spPr>
          <a:xfrm>
            <a:off x="4754880" y="4169664"/>
            <a:ext cx="2286000" cy="347472"/>
          </a:xfrm>
          <a:prstGeom prst="rect">
            <a:avLst/>
          </a:prstGeom>
          <a:noFill/>
        </p:spPr>
        <p:txBody>
          <a:bodyPr wrap="square"/>
          <a:lstStyle/>
          <a:p>
            <a:pPr algn="l">
              <a:spcBef>
                <a:spcPts val="0"/>
              </a:spcBef>
              <a:spcAft>
                <a:spcPts val="0"/>
              </a:spcAft>
              <a:defRPr sz="1400" b="0">
                <a:solidFill>
                  <a:srgbClr val="B45309"/>
                </a:solidFill>
                <a:latin typeface="IBM Plex Sans"/>
              </a:defRPr>
            </a:pPr>
            <a:r>
              <a:rPr>
                <a:latin typeface="IBM Plex Sans"/>
              </a:rPr>
              <a:t>—</a:t>
            </a:r>
          </a:p>
        </p:txBody>
      </p:sp>
      <p:sp>
        <p:nvSpPr>
          <p:cNvPr id="32" name="TextBox 31"/>
          <p:cNvSpPr txBox="1"/>
          <p:nvPr/>
        </p:nvSpPr>
        <p:spPr>
          <a:xfrm>
            <a:off x="7040880" y="4169664"/>
            <a:ext cx="1828800" cy="347472"/>
          </a:xfrm>
          <a:prstGeom prst="rect">
            <a:avLst/>
          </a:prstGeom>
          <a:noFill/>
        </p:spPr>
        <p:txBody>
          <a:bodyPr wrap="square"/>
          <a:lstStyle/>
          <a:p>
            <a:pPr algn="l">
              <a:spcBef>
                <a:spcPts val="0"/>
              </a:spcBef>
              <a:spcAft>
                <a:spcPts val="0"/>
              </a:spcAft>
              <a:defRPr sz="1400" b="0">
                <a:solidFill>
                  <a:srgbClr val="1F7A5A"/>
                </a:solidFill>
                <a:latin typeface="IBM Plex Sans"/>
              </a:defRPr>
            </a:pPr>
            <a:r>
              <a:rPr>
                <a:latin typeface="IBM Plex Sans"/>
              </a:rPr>
              <a:t>✓</a:t>
            </a:r>
          </a:p>
        </p:txBody>
      </p:sp>
      <p:sp>
        <p:nvSpPr>
          <p:cNvPr id="33" name="TextBox 32"/>
          <p:cNvSpPr txBox="1"/>
          <p:nvPr/>
        </p:nvSpPr>
        <p:spPr>
          <a:xfrm>
            <a:off x="640080" y="4517136"/>
            <a:ext cx="4114800" cy="347472"/>
          </a:xfrm>
          <a:prstGeom prst="rect">
            <a:avLst/>
          </a:prstGeom>
          <a:noFill/>
        </p:spPr>
        <p:txBody>
          <a:bodyPr wrap="square"/>
          <a:lstStyle/>
          <a:p>
            <a:pPr algn="l">
              <a:spcBef>
                <a:spcPts val="0"/>
              </a:spcBef>
              <a:spcAft>
                <a:spcPts val="0"/>
              </a:spcAft>
              <a:defRPr sz="1400" b="0">
                <a:solidFill>
                  <a:srgbClr val="0E1116"/>
                </a:solidFill>
                <a:latin typeface="IBM Plex Sans"/>
              </a:defRPr>
            </a:pPr>
            <a:r>
              <a:rPr>
                <a:latin typeface="IBM Plex Sans"/>
              </a:rPr>
              <a:t>Public API (OpenAPI)</a:t>
            </a:r>
          </a:p>
        </p:txBody>
      </p:sp>
      <p:sp>
        <p:nvSpPr>
          <p:cNvPr id="34" name="TextBox 33"/>
          <p:cNvSpPr txBox="1"/>
          <p:nvPr/>
        </p:nvSpPr>
        <p:spPr>
          <a:xfrm>
            <a:off x="4754880" y="4517136"/>
            <a:ext cx="2286000" cy="347472"/>
          </a:xfrm>
          <a:prstGeom prst="rect">
            <a:avLst/>
          </a:prstGeom>
          <a:noFill/>
        </p:spPr>
        <p:txBody>
          <a:bodyPr wrap="square"/>
          <a:lstStyle/>
          <a:p>
            <a:pPr algn="l">
              <a:spcBef>
                <a:spcPts val="0"/>
              </a:spcBef>
              <a:spcAft>
                <a:spcPts val="0"/>
              </a:spcAft>
              <a:defRPr sz="1400" b="0">
                <a:solidFill>
                  <a:srgbClr val="0E1116"/>
                </a:solidFill>
                <a:latin typeface="IBM Plex Sans"/>
              </a:defRPr>
            </a:pPr>
            <a:r>
              <a:rPr>
                <a:latin typeface="IBM Plex Sans"/>
              </a:rPr>
              <a:t>Rare / undocumented</a:t>
            </a:r>
          </a:p>
        </p:txBody>
      </p:sp>
      <p:sp>
        <p:nvSpPr>
          <p:cNvPr id="35" name="TextBox 34"/>
          <p:cNvSpPr txBox="1"/>
          <p:nvPr/>
        </p:nvSpPr>
        <p:spPr>
          <a:xfrm>
            <a:off x="7040880" y="4517136"/>
            <a:ext cx="1828800" cy="347472"/>
          </a:xfrm>
          <a:prstGeom prst="rect">
            <a:avLst/>
          </a:prstGeom>
          <a:noFill/>
        </p:spPr>
        <p:txBody>
          <a:bodyPr wrap="square"/>
          <a:lstStyle/>
          <a:p>
            <a:pPr algn="l">
              <a:spcBef>
                <a:spcPts val="0"/>
              </a:spcBef>
              <a:spcAft>
                <a:spcPts val="0"/>
              </a:spcAft>
              <a:defRPr sz="1400" b="0">
                <a:solidFill>
                  <a:srgbClr val="1F7A5A"/>
                </a:solidFill>
                <a:latin typeface="IBM Plex Sans"/>
              </a:defRPr>
            </a:pPr>
            <a:r>
              <a:rPr>
                <a:latin typeface="IBM Plex Sans"/>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640080" y="548640"/>
            <a:ext cx="10911535" cy="457200"/>
          </a:xfrm>
          <a:prstGeom prst="rect">
            <a:avLst/>
          </a:prstGeom>
          <a:noFill/>
        </p:spPr>
        <p:txBody>
          <a:bodyPr wrap="square"/>
          <a:lstStyle/>
          <a:p>
            <a:pPr algn="l">
              <a:spcBef>
                <a:spcPts val="0"/>
              </a:spcBef>
              <a:spcAft>
                <a:spcPts val="0"/>
              </a:spcAft>
              <a:defRPr sz="2800" b="1">
                <a:solidFill>
                  <a:srgbClr val="0E1116"/>
                </a:solidFill>
                <a:latin typeface="IBM Plex Sans"/>
              </a:defRPr>
            </a:pPr>
            <a:r>
              <a:rPr>
                <a:latin typeface="IBM Plex Sans"/>
              </a:rPr>
              <a:t>Nine steps from event creation to certified results</a:t>
            </a:r>
          </a:p>
        </p:txBody>
      </p:sp>
      <p:sp>
        <p:nvSpPr>
          <p:cNvPr id="3" name="TextBox 2"/>
          <p:cNvSpPr txBox="1"/>
          <p:nvPr/>
        </p:nvSpPr>
        <p:spPr>
          <a:xfrm>
            <a:off x="11430000" y="6400800"/>
            <a:ext cx="548640" cy="274320"/>
          </a:xfrm>
          <a:prstGeom prst="rect">
            <a:avLst/>
          </a:prstGeom>
          <a:noFill/>
        </p:spPr>
        <p:txBody>
          <a:bodyPr wrap="square"/>
          <a:lstStyle/>
          <a:p>
            <a:pPr algn="r">
              <a:spcBef>
                <a:spcPts val="0"/>
              </a:spcBef>
              <a:spcAft>
                <a:spcPts val="0"/>
              </a:spcAft>
              <a:defRPr sz="1000" b="0">
                <a:solidFill>
                  <a:srgbClr val="5B6470"/>
                </a:solidFill>
                <a:latin typeface="IBM Plex Sans"/>
              </a:defRPr>
            </a:pPr>
            <a:r>
              <a:rPr>
                <a:latin typeface="IBM Plex Sans"/>
              </a:rPr>
              <a:t>4</a:t>
            </a:r>
          </a:p>
        </p:txBody>
      </p:sp>
      <p:sp>
        <p:nvSpPr>
          <p:cNvPr id="4" name="TextBox 3"/>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
        <p:nvSpPr>
          <p:cNvPr id="5" name="Rounded Rectangle 4"/>
          <p:cNvSpPr/>
          <p:nvPr/>
        </p:nvSpPr>
        <p:spPr>
          <a:xfrm>
            <a:off x="640080" y="2286000"/>
            <a:ext cx="1005840" cy="59436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359152"/>
            <a:ext cx="1005840" cy="594360"/>
          </a:xfrm>
          <a:prstGeom prst="rect">
            <a:avLst/>
          </a:prstGeom>
          <a:noFill/>
        </p:spPr>
        <p:txBody>
          <a:bodyPr wrap="square"/>
          <a:lstStyle/>
          <a:p>
            <a:pPr algn="ctr">
              <a:spcBef>
                <a:spcPts val="0"/>
              </a:spcBef>
              <a:spcAft>
                <a:spcPts val="0"/>
              </a:spcAft>
              <a:defRPr sz="1100" b="1">
                <a:solidFill>
                  <a:srgbClr val="0E1116"/>
                </a:solidFill>
                <a:latin typeface="IBM Plex Mono"/>
              </a:defRPr>
            </a:pPr>
            <a:r>
              <a:rPr>
                <a:latin typeface="IBM Plex Mono"/>
              </a:rPr>
              <a:t>Create</a:t>
            </a:r>
            <a:br/>
            <a:r>
              <a:t>event</a:t>
            </a:r>
          </a:p>
        </p:txBody>
      </p:sp>
      <p:cxnSp>
        <p:nvCxnSpPr>
          <p:cNvPr id="7" name="Connector 6"/>
          <p:cNvCxnSpPr/>
          <p:nvPr/>
        </p:nvCxnSpPr>
        <p:spPr>
          <a:xfrm>
            <a:off x="1645920" y="2583180.0"/>
            <a:ext cx="182880" cy="0.0"/>
          </a:xfrm>
          <a:prstGeom prst="line">
            <a:avLst/>
          </a:prstGeom>
          <a:ln w="19050">
            <a:solidFill>
              <a:srgbClr val="D9D7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828800" y="2286000"/>
            <a:ext cx="1005840" cy="59436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0" y="2359152"/>
            <a:ext cx="1005840" cy="594360"/>
          </a:xfrm>
          <a:prstGeom prst="rect">
            <a:avLst/>
          </a:prstGeom>
          <a:noFill/>
        </p:spPr>
        <p:txBody>
          <a:bodyPr wrap="square"/>
          <a:lstStyle/>
          <a:p>
            <a:pPr algn="ctr">
              <a:spcBef>
                <a:spcPts val="0"/>
              </a:spcBef>
              <a:spcAft>
                <a:spcPts val="0"/>
              </a:spcAft>
              <a:defRPr sz="1100" b="1">
                <a:solidFill>
                  <a:srgbClr val="0E1116"/>
                </a:solidFill>
                <a:latin typeface="IBM Plex Mono"/>
              </a:defRPr>
            </a:pPr>
            <a:r>
              <a:rPr>
                <a:latin typeface="IBM Plex Mono"/>
              </a:rPr>
              <a:t>Register</a:t>
            </a:r>
          </a:p>
        </p:txBody>
      </p:sp>
      <p:cxnSp>
        <p:nvCxnSpPr>
          <p:cNvPr id="10" name="Connector 9"/>
          <p:cNvCxnSpPr/>
          <p:nvPr/>
        </p:nvCxnSpPr>
        <p:spPr>
          <a:xfrm>
            <a:off x="2834640" y="2583180.0"/>
            <a:ext cx="182880" cy="0.0"/>
          </a:xfrm>
          <a:prstGeom prst="line">
            <a:avLst/>
          </a:prstGeom>
          <a:ln w="19050">
            <a:solidFill>
              <a:srgbClr val="D9D7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017520" y="2286000"/>
            <a:ext cx="1005840" cy="59436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17520" y="2359152"/>
            <a:ext cx="1005840" cy="594360"/>
          </a:xfrm>
          <a:prstGeom prst="rect">
            <a:avLst/>
          </a:prstGeom>
          <a:noFill/>
        </p:spPr>
        <p:txBody>
          <a:bodyPr wrap="square"/>
          <a:lstStyle/>
          <a:p>
            <a:pPr algn="ctr">
              <a:spcBef>
                <a:spcPts val="0"/>
              </a:spcBef>
              <a:spcAft>
                <a:spcPts val="0"/>
              </a:spcAft>
              <a:defRPr sz="1100" b="1">
                <a:solidFill>
                  <a:srgbClr val="0E1116"/>
                </a:solidFill>
                <a:latin typeface="IBM Plex Mono"/>
              </a:defRPr>
            </a:pPr>
            <a:r>
              <a:rPr>
                <a:latin typeface="IBM Plex Mono"/>
              </a:rPr>
              <a:t>Form</a:t>
            </a:r>
            <a:br/>
            <a:r>
              <a:t>team</a:t>
            </a:r>
          </a:p>
        </p:txBody>
      </p:sp>
      <p:cxnSp>
        <p:nvCxnSpPr>
          <p:cNvPr id="13" name="Connector 12"/>
          <p:cNvCxnSpPr/>
          <p:nvPr/>
        </p:nvCxnSpPr>
        <p:spPr>
          <a:xfrm>
            <a:off x="4023360" y="2583180.0"/>
            <a:ext cx="182880" cy="0.0"/>
          </a:xfrm>
          <a:prstGeom prst="line">
            <a:avLst/>
          </a:prstGeom>
          <a:ln w="19050">
            <a:solidFill>
              <a:srgbClr val="D9D7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206240" y="2286000"/>
            <a:ext cx="1005840" cy="59436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359152"/>
            <a:ext cx="1005840" cy="594360"/>
          </a:xfrm>
          <a:prstGeom prst="rect">
            <a:avLst/>
          </a:prstGeom>
          <a:noFill/>
        </p:spPr>
        <p:txBody>
          <a:bodyPr wrap="square"/>
          <a:lstStyle/>
          <a:p>
            <a:pPr algn="ctr">
              <a:spcBef>
                <a:spcPts val="0"/>
              </a:spcBef>
              <a:spcAft>
                <a:spcPts val="0"/>
              </a:spcAft>
              <a:defRPr sz="1100" b="1">
                <a:solidFill>
                  <a:srgbClr val="0E1116"/>
                </a:solidFill>
                <a:latin typeface="IBM Plex Mono"/>
              </a:defRPr>
            </a:pPr>
            <a:r>
              <a:rPr>
                <a:latin typeface="IBM Plex Mono"/>
              </a:rPr>
              <a:t>Submit</a:t>
            </a:r>
          </a:p>
        </p:txBody>
      </p:sp>
      <p:cxnSp>
        <p:nvCxnSpPr>
          <p:cNvPr id="16" name="Connector 15"/>
          <p:cNvCxnSpPr/>
          <p:nvPr/>
        </p:nvCxnSpPr>
        <p:spPr>
          <a:xfrm>
            <a:off x="5212080" y="2583180.0"/>
            <a:ext cx="182880" cy="0.0"/>
          </a:xfrm>
          <a:prstGeom prst="line">
            <a:avLst/>
          </a:prstGeom>
          <a:ln w="19050">
            <a:solidFill>
              <a:srgbClr val="D9D7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394960" y="2286000"/>
            <a:ext cx="1005840" cy="59436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94960" y="2359152"/>
            <a:ext cx="1005840" cy="594360"/>
          </a:xfrm>
          <a:prstGeom prst="rect">
            <a:avLst/>
          </a:prstGeom>
          <a:noFill/>
        </p:spPr>
        <p:txBody>
          <a:bodyPr wrap="square"/>
          <a:lstStyle/>
          <a:p>
            <a:pPr algn="ctr">
              <a:spcBef>
                <a:spcPts val="0"/>
              </a:spcBef>
              <a:spcAft>
                <a:spcPts val="0"/>
              </a:spcAft>
              <a:defRPr sz="1100" b="1">
                <a:solidFill>
                  <a:srgbClr val="0E1116"/>
                </a:solidFill>
                <a:latin typeface="IBM Plex Mono"/>
              </a:defRPr>
            </a:pPr>
            <a:r>
              <a:rPr>
                <a:latin typeface="IBM Plex Mono"/>
              </a:rPr>
              <a:t>Assign</a:t>
            </a:r>
            <a:br/>
            <a:r>
              <a:t>judges</a:t>
            </a:r>
          </a:p>
        </p:txBody>
      </p:sp>
      <p:cxnSp>
        <p:nvCxnSpPr>
          <p:cNvPr id="19" name="Connector 18"/>
          <p:cNvCxnSpPr/>
          <p:nvPr/>
        </p:nvCxnSpPr>
        <p:spPr>
          <a:xfrm>
            <a:off x="6400800" y="2583180.0"/>
            <a:ext cx="182880" cy="0.0"/>
          </a:xfrm>
          <a:prstGeom prst="line">
            <a:avLst/>
          </a:prstGeom>
          <a:ln w="19050">
            <a:solidFill>
              <a:srgbClr val="D9D7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583680" y="2286000"/>
            <a:ext cx="1005840" cy="594360"/>
          </a:xfrm>
          <a:prstGeom prst="roundRect">
            <a:avLst>
              <a:gd name="adj" fmla="val 2000"/>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2359152"/>
            <a:ext cx="1005840" cy="594360"/>
          </a:xfrm>
          <a:prstGeom prst="rect">
            <a:avLst/>
          </a:prstGeom>
          <a:noFill/>
        </p:spPr>
        <p:txBody>
          <a:bodyPr wrap="square"/>
          <a:lstStyle/>
          <a:p>
            <a:pPr algn="ctr">
              <a:spcBef>
                <a:spcPts val="0"/>
              </a:spcBef>
              <a:spcAft>
                <a:spcPts val="0"/>
              </a:spcAft>
              <a:defRPr sz="1100" b="1">
                <a:solidFill>
                  <a:srgbClr val="FFFFFF"/>
                </a:solidFill>
                <a:latin typeface="IBM Plex Mono"/>
              </a:defRPr>
            </a:pPr>
            <a:r>
              <a:rPr>
                <a:latin typeface="IBM Plex Mono"/>
              </a:rPr>
              <a:t>Score</a:t>
            </a:r>
          </a:p>
        </p:txBody>
      </p:sp>
      <p:cxnSp>
        <p:nvCxnSpPr>
          <p:cNvPr id="22" name="Connector 21"/>
          <p:cNvCxnSpPr/>
          <p:nvPr/>
        </p:nvCxnSpPr>
        <p:spPr>
          <a:xfrm>
            <a:off x="7589520" y="2583180.0"/>
            <a:ext cx="182880" cy="0.0"/>
          </a:xfrm>
          <a:prstGeom prst="line">
            <a:avLst/>
          </a:prstGeom>
          <a:ln w="19050">
            <a:solidFill>
              <a:srgbClr val="D9D7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772400" y="2286000"/>
            <a:ext cx="1005840" cy="594360"/>
          </a:xfrm>
          <a:prstGeom prst="roundRect">
            <a:avLst>
              <a:gd name="adj" fmla="val 2000"/>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0" y="2359152"/>
            <a:ext cx="1005840" cy="594360"/>
          </a:xfrm>
          <a:prstGeom prst="rect">
            <a:avLst/>
          </a:prstGeom>
          <a:noFill/>
        </p:spPr>
        <p:txBody>
          <a:bodyPr wrap="square"/>
          <a:lstStyle/>
          <a:p>
            <a:pPr algn="ctr">
              <a:spcBef>
                <a:spcPts val="0"/>
              </a:spcBef>
              <a:spcAft>
                <a:spcPts val="0"/>
              </a:spcAft>
              <a:defRPr sz="1100" b="1">
                <a:solidFill>
                  <a:srgbClr val="FFFFFF"/>
                </a:solidFill>
                <a:latin typeface="IBM Plex Mono"/>
              </a:defRPr>
            </a:pPr>
            <a:r>
              <a:rPr>
                <a:latin typeface="IBM Plex Mono"/>
              </a:rPr>
              <a:t>Normalize</a:t>
            </a:r>
          </a:p>
        </p:txBody>
      </p:sp>
      <p:cxnSp>
        <p:nvCxnSpPr>
          <p:cNvPr id="25" name="Connector 24"/>
          <p:cNvCxnSpPr/>
          <p:nvPr/>
        </p:nvCxnSpPr>
        <p:spPr>
          <a:xfrm>
            <a:off x="8778240" y="2583180.0"/>
            <a:ext cx="182880" cy="0.0"/>
          </a:xfrm>
          <a:prstGeom prst="line">
            <a:avLst/>
          </a:prstGeom>
          <a:ln w="19050">
            <a:solidFill>
              <a:srgbClr val="D9D7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961120" y="2286000"/>
            <a:ext cx="1005840" cy="59436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0" y="2359152"/>
            <a:ext cx="1005840" cy="594360"/>
          </a:xfrm>
          <a:prstGeom prst="rect">
            <a:avLst/>
          </a:prstGeom>
          <a:noFill/>
        </p:spPr>
        <p:txBody>
          <a:bodyPr wrap="square"/>
          <a:lstStyle/>
          <a:p>
            <a:pPr algn="ctr">
              <a:spcBef>
                <a:spcPts val="0"/>
              </a:spcBef>
              <a:spcAft>
                <a:spcPts val="0"/>
              </a:spcAft>
              <a:defRPr sz="1100" b="1">
                <a:solidFill>
                  <a:srgbClr val="0E1116"/>
                </a:solidFill>
                <a:latin typeface="IBM Plex Mono"/>
              </a:defRPr>
            </a:pPr>
            <a:r>
              <a:rPr>
                <a:latin typeface="IBM Plex Mono"/>
              </a:rPr>
              <a:t>Publish</a:t>
            </a:r>
          </a:p>
        </p:txBody>
      </p:sp>
      <p:cxnSp>
        <p:nvCxnSpPr>
          <p:cNvPr id="28" name="Connector 27"/>
          <p:cNvCxnSpPr/>
          <p:nvPr/>
        </p:nvCxnSpPr>
        <p:spPr>
          <a:xfrm>
            <a:off x="9966960" y="2583180.0"/>
            <a:ext cx="182880" cy="0.0"/>
          </a:xfrm>
          <a:prstGeom prst="line">
            <a:avLst/>
          </a:prstGeom>
          <a:ln w="19050">
            <a:solidFill>
              <a:srgbClr val="D9D7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0149840" y="2286000"/>
            <a:ext cx="1005840" cy="59436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0" y="2359152"/>
            <a:ext cx="1005840" cy="594360"/>
          </a:xfrm>
          <a:prstGeom prst="rect">
            <a:avLst/>
          </a:prstGeom>
          <a:noFill/>
        </p:spPr>
        <p:txBody>
          <a:bodyPr wrap="square"/>
          <a:lstStyle/>
          <a:p>
            <a:pPr algn="ctr">
              <a:spcBef>
                <a:spcPts val="0"/>
              </a:spcBef>
              <a:spcAft>
                <a:spcPts val="0"/>
              </a:spcAft>
              <a:defRPr sz="1100" b="1">
                <a:solidFill>
                  <a:srgbClr val="0E1116"/>
                </a:solidFill>
                <a:latin typeface="IBM Plex Mono"/>
              </a:defRPr>
            </a:pPr>
            <a:r>
              <a:rPr>
                <a:latin typeface="IBM Plex Mono"/>
              </a:rPr>
              <a:t>Certify</a:t>
            </a:r>
          </a:p>
        </p:txBody>
      </p:sp>
      <p:sp>
        <p:nvSpPr>
          <p:cNvPr id="31" name="TextBox 30"/>
          <p:cNvSpPr txBox="1"/>
          <p:nvPr/>
        </p:nvSpPr>
        <p:spPr>
          <a:xfrm>
            <a:off x="640080" y="3291840"/>
            <a:ext cx="10911535" cy="365760"/>
          </a:xfrm>
          <a:prstGeom prst="rect">
            <a:avLst/>
          </a:prstGeom>
          <a:noFill/>
        </p:spPr>
        <p:txBody>
          <a:bodyPr wrap="square"/>
          <a:lstStyle/>
          <a:p>
            <a:pPr algn="l">
              <a:spcBef>
                <a:spcPts val="0"/>
              </a:spcBef>
              <a:spcAft>
                <a:spcPts val="0"/>
              </a:spcAft>
              <a:defRPr sz="1200" b="0">
                <a:solidFill>
                  <a:srgbClr val="0F766E"/>
                </a:solidFill>
                <a:latin typeface="IBM Plex Mono"/>
              </a:defRPr>
            </a:pPr>
            <a:r>
              <a:rPr>
                <a:latin typeface="IBM Plex Mono"/>
              </a:rPr>
              <a:t>▲ Integrity controls attach at Submit, Assign, Score, and Normalize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640080" y="548640"/>
            <a:ext cx="10911535" cy="457200"/>
          </a:xfrm>
          <a:prstGeom prst="rect">
            <a:avLst/>
          </a:prstGeom>
          <a:noFill/>
        </p:spPr>
        <p:txBody>
          <a:bodyPr wrap="square"/>
          <a:lstStyle/>
          <a:p>
            <a:pPr algn="l">
              <a:spcBef>
                <a:spcPts val="0"/>
              </a:spcBef>
              <a:spcAft>
                <a:spcPts val="0"/>
              </a:spcAft>
              <a:defRPr sz="2800" b="1">
                <a:solidFill>
                  <a:srgbClr val="0E1116"/>
                </a:solidFill>
                <a:latin typeface="IBM Plex Sans"/>
              </a:defRPr>
            </a:pPr>
            <a:r>
              <a:rPr>
                <a:latin typeface="IBM Plex Sans"/>
              </a:rPr>
              <a:t>One portal, five server-enforced roles</a:t>
            </a:r>
          </a:p>
        </p:txBody>
      </p:sp>
      <p:sp>
        <p:nvSpPr>
          <p:cNvPr id="3" name="TextBox 2"/>
          <p:cNvSpPr txBox="1"/>
          <p:nvPr/>
        </p:nvSpPr>
        <p:spPr>
          <a:xfrm>
            <a:off x="11430000" y="6400800"/>
            <a:ext cx="548640" cy="274320"/>
          </a:xfrm>
          <a:prstGeom prst="rect">
            <a:avLst/>
          </a:prstGeom>
          <a:noFill/>
        </p:spPr>
        <p:txBody>
          <a:bodyPr wrap="square"/>
          <a:lstStyle/>
          <a:p>
            <a:pPr algn="r">
              <a:spcBef>
                <a:spcPts val="0"/>
              </a:spcBef>
              <a:spcAft>
                <a:spcPts val="0"/>
              </a:spcAft>
              <a:defRPr sz="1000" b="0">
                <a:solidFill>
                  <a:srgbClr val="5B6470"/>
                </a:solidFill>
                <a:latin typeface="IBM Plex Sans"/>
              </a:defRPr>
            </a:pPr>
            <a:r>
              <a:rPr>
                <a:latin typeface="IBM Plex Sans"/>
              </a:rPr>
              <a:t>5</a:t>
            </a:r>
          </a:p>
        </p:txBody>
      </p:sp>
      <p:sp>
        <p:nvSpPr>
          <p:cNvPr id="4" name="TextBox 3"/>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
        <p:nvSpPr>
          <p:cNvPr id="5" name="TextBox 4"/>
          <p:cNvSpPr txBox="1"/>
          <p:nvPr/>
        </p:nvSpPr>
        <p:spPr>
          <a:xfrm>
            <a:off x="640080" y="1371600"/>
            <a:ext cx="2926080" cy="329184"/>
          </a:xfrm>
          <a:prstGeom prst="rect">
            <a:avLst/>
          </a:prstGeom>
          <a:noFill/>
        </p:spPr>
        <p:txBody>
          <a:bodyPr wrap="square"/>
          <a:lstStyle/>
          <a:p>
            <a:pPr algn="l">
              <a:spcBef>
                <a:spcPts val="0"/>
              </a:spcBef>
              <a:spcAft>
                <a:spcPts val="0"/>
              </a:spcAft>
              <a:defRPr sz="1100" b="1">
                <a:solidFill>
                  <a:srgbClr val="5B6470"/>
                </a:solidFill>
                <a:latin typeface="IBM Plex Sans"/>
              </a:defRPr>
            </a:pPr>
            <a:r>
              <a:rPr>
                <a:latin typeface="IBM Plex Sans"/>
              </a:rPr>
              <a:t/>
            </a:r>
          </a:p>
        </p:txBody>
      </p:sp>
      <p:sp>
        <p:nvSpPr>
          <p:cNvPr id="6" name="TextBox 5"/>
          <p:cNvSpPr txBox="1"/>
          <p:nvPr/>
        </p:nvSpPr>
        <p:spPr>
          <a:xfrm>
            <a:off x="3566160" y="1371600"/>
            <a:ext cx="1371600" cy="329184"/>
          </a:xfrm>
          <a:prstGeom prst="rect">
            <a:avLst/>
          </a:prstGeom>
          <a:noFill/>
        </p:spPr>
        <p:txBody>
          <a:bodyPr wrap="square"/>
          <a:lstStyle/>
          <a:p>
            <a:pPr algn="l">
              <a:spcBef>
                <a:spcPts val="0"/>
              </a:spcBef>
              <a:spcAft>
                <a:spcPts val="0"/>
              </a:spcAft>
              <a:defRPr sz="1100" b="1">
                <a:solidFill>
                  <a:srgbClr val="5B6470"/>
                </a:solidFill>
                <a:latin typeface="IBM Plex Sans"/>
              </a:defRPr>
            </a:pPr>
            <a:r>
              <a:rPr>
                <a:latin typeface="IBM Plex Sans"/>
              </a:rPr>
              <a:t>Visitor</a:t>
            </a:r>
          </a:p>
        </p:txBody>
      </p:sp>
      <p:sp>
        <p:nvSpPr>
          <p:cNvPr id="7" name="TextBox 6"/>
          <p:cNvSpPr txBox="1"/>
          <p:nvPr/>
        </p:nvSpPr>
        <p:spPr>
          <a:xfrm>
            <a:off x="4937760" y="1371600"/>
            <a:ext cx="1371600" cy="329184"/>
          </a:xfrm>
          <a:prstGeom prst="rect">
            <a:avLst/>
          </a:prstGeom>
          <a:noFill/>
        </p:spPr>
        <p:txBody>
          <a:bodyPr wrap="square"/>
          <a:lstStyle/>
          <a:p>
            <a:pPr algn="l">
              <a:spcBef>
                <a:spcPts val="0"/>
              </a:spcBef>
              <a:spcAft>
                <a:spcPts val="0"/>
              </a:spcAft>
              <a:defRPr sz="1100" b="1">
                <a:solidFill>
                  <a:srgbClr val="5B6470"/>
                </a:solidFill>
                <a:latin typeface="IBM Plex Sans"/>
              </a:defRPr>
            </a:pPr>
            <a:r>
              <a:rPr>
                <a:latin typeface="IBM Plex Sans"/>
              </a:rPr>
              <a:t>Participant</a:t>
            </a:r>
          </a:p>
        </p:txBody>
      </p:sp>
      <p:sp>
        <p:nvSpPr>
          <p:cNvPr id="8" name="TextBox 7"/>
          <p:cNvSpPr txBox="1"/>
          <p:nvPr/>
        </p:nvSpPr>
        <p:spPr>
          <a:xfrm>
            <a:off x="6309360" y="1371600"/>
            <a:ext cx="1371600" cy="329184"/>
          </a:xfrm>
          <a:prstGeom prst="rect">
            <a:avLst/>
          </a:prstGeom>
          <a:noFill/>
        </p:spPr>
        <p:txBody>
          <a:bodyPr wrap="square"/>
          <a:lstStyle/>
          <a:p>
            <a:pPr algn="l">
              <a:spcBef>
                <a:spcPts val="0"/>
              </a:spcBef>
              <a:spcAft>
                <a:spcPts val="0"/>
              </a:spcAft>
              <a:defRPr sz="1100" b="1">
                <a:solidFill>
                  <a:srgbClr val="5B6470"/>
                </a:solidFill>
                <a:latin typeface="IBM Plex Sans"/>
              </a:defRPr>
            </a:pPr>
            <a:r>
              <a:rPr>
                <a:latin typeface="IBM Plex Sans"/>
              </a:rPr>
              <a:t>Judge</a:t>
            </a:r>
          </a:p>
        </p:txBody>
      </p:sp>
      <p:sp>
        <p:nvSpPr>
          <p:cNvPr id="9" name="TextBox 8"/>
          <p:cNvSpPr txBox="1"/>
          <p:nvPr/>
        </p:nvSpPr>
        <p:spPr>
          <a:xfrm>
            <a:off x="7680960" y="1371600"/>
            <a:ext cx="1371600" cy="329184"/>
          </a:xfrm>
          <a:prstGeom prst="rect">
            <a:avLst/>
          </a:prstGeom>
          <a:noFill/>
        </p:spPr>
        <p:txBody>
          <a:bodyPr wrap="square"/>
          <a:lstStyle/>
          <a:p>
            <a:pPr algn="l">
              <a:spcBef>
                <a:spcPts val="0"/>
              </a:spcBef>
              <a:spcAft>
                <a:spcPts val="0"/>
              </a:spcAft>
              <a:defRPr sz="1100" b="1">
                <a:solidFill>
                  <a:srgbClr val="5B6470"/>
                </a:solidFill>
                <a:latin typeface="IBM Plex Sans"/>
              </a:defRPr>
            </a:pPr>
            <a:r>
              <a:rPr>
                <a:latin typeface="IBM Plex Sans"/>
              </a:rPr>
              <a:t>Organizer</a:t>
            </a:r>
          </a:p>
        </p:txBody>
      </p:sp>
      <p:sp>
        <p:nvSpPr>
          <p:cNvPr id="10" name="TextBox 9"/>
          <p:cNvSpPr txBox="1"/>
          <p:nvPr/>
        </p:nvSpPr>
        <p:spPr>
          <a:xfrm>
            <a:off x="9052560" y="1371600"/>
            <a:ext cx="1371600" cy="329184"/>
          </a:xfrm>
          <a:prstGeom prst="rect">
            <a:avLst/>
          </a:prstGeom>
          <a:noFill/>
        </p:spPr>
        <p:txBody>
          <a:bodyPr wrap="square"/>
          <a:lstStyle/>
          <a:p>
            <a:pPr algn="l">
              <a:spcBef>
                <a:spcPts val="0"/>
              </a:spcBef>
              <a:spcAft>
                <a:spcPts val="0"/>
              </a:spcAft>
              <a:defRPr sz="1100" b="1">
                <a:solidFill>
                  <a:srgbClr val="5B6470"/>
                </a:solidFill>
                <a:latin typeface="IBM Plex Sans"/>
              </a:defRPr>
            </a:pPr>
            <a:r>
              <a:rPr>
                <a:latin typeface="IBM Plex Sans"/>
              </a:rPr>
              <a:t>Admin</a:t>
            </a:r>
          </a:p>
        </p:txBody>
      </p:sp>
      <p:cxnSp>
        <p:nvCxnSpPr>
          <p:cNvPr id="11" name="Connector 10"/>
          <p:cNvCxnSpPr/>
          <p:nvPr/>
        </p:nvCxnSpPr>
        <p:spPr>
          <a:xfrm>
            <a:off x="640080" y="1700784"/>
            <a:ext cx="9784080" cy="0"/>
          </a:xfrm>
          <a:prstGeom prst="line">
            <a:avLst/>
          </a:prstGeom>
          <a:ln w="12700">
            <a:solidFill>
              <a:srgbClr val="D9D7D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1700784"/>
            <a:ext cx="2926080" cy="329184"/>
          </a:xfrm>
          <a:prstGeom prst="rect">
            <a:avLst/>
          </a:prstGeom>
          <a:noFill/>
        </p:spPr>
        <p:txBody>
          <a:bodyPr wrap="square"/>
          <a:lstStyle/>
          <a:p>
            <a:pPr algn="l">
              <a:spcBef>
                <a:spcPts val="0"/>
              </a:spcBef>
              <a:spcAft>
                <a:spcPts val="0"/>
              </a:spcAft>
              <a:defRPr sz="1300" b="0">
                <a:solidFill>
                  <a:srgbClr val="0E1116"/>
                </a:solidFill>
                <a:latin typeface="IBM Plex Sans"/>
              </a:defRPr>
            </a:pPr>
            <a:r>
              <a:rPr>
                <a:latin typeface="IBM Plex Sans"/>
              </a:rPr>
              <a:t>Browse gallery &amp; vote</a:t>
            </a:r>
          </a:p>
        </p:txBody>
      </p:sp>
      <p:sp>
        <p:nvSpPr>
          <p:cNvPr id="13" name="TextBox 12"/>
          <p:cNvSpPr txBox="1"/>
          <p:nvPr/>
        </p:nvSpPr>
        <p:spPr>
          <a:xfrm>
            <a:off x="3566160" y="1700784"/>
            <a:ext cx="1371600" cy="329184"/>
          </a:xfrm>
          <a:prstGeom prst="rect">
            <a:avLst/>
          </a:prstGeom>
          <a:noFill/>
        </p:spPr>
        <p:txBody>
          <a:bodyPr wrap="square"/>
          <a:lstStyle/>
          <a:p>
            <a:pPr algn="ctr">
              <a:spcBef>
                <a:spcPts val="0"/>
              </a:spcBef>
              <a:spcAft>
                <a:spcPts val="0"/>
              </a:spcAft>
              <a:defRPr sz="1300" b="0">
                <a:solidFill>
                  <a:srgbClr val="1F7A5A"/>
                </a:solidFill>
                <a:latin typeface="IBM Plex Sans"/>
              </a:defRPr>
            </a:pPr>
            <a:r>
              <a:rPr>
                <a:latin typeface="IBM Plex Sans"/>
              </a:rPr>
              <a:t>✓</a:t>
            </a:r>
          </a:p>
        </p:txBody>
      </p:sp>
      <p:sp>
        <p:nvSpPr>
          <p:cNvPr id="14" name="TextBox 13"/>
          <p:cNvSpPr txBox="1"/>
          <p:nvPr/>
        </p:nvSpPr>
        <p:spPr>
          <a:xfrm>
            <a:off x="4937760" y="1700784"/>
            <a:ext cx="1371600" cy="329184"/>
          </a:xfrm>
          <a:prstGeom prst="rect">
            <a:avLst/>
          </a:prstGeom>
          <a:noFill/>
        </p:spPr>
        <p:txBody>
          <a:bodyPr wrap="square"/>
          <a:lstStyle/>
          <a:p>
            <a:pPr algn="ctr">
              <a:spcBef>
                <a:spcPts val="0"/>
              </a:spcBef>
              <a:spcAft>
                <a:spcPts val="0"/>
              </a:spcAft>
              <a:defRPr sz="1300" b="0">
                <a:solidFill>
                  <a:srgbClr val="1F7A5A"/>
                </a:solidFill>
                <a:latin typeface="IBM Plex Sans"/>
              </a:defRPr>
            </a:pPr>
            <a:r>
              <a:rPr>
                <a:latin typeface="IBM Plex Sans"/>
              </a:rPr>
              <a:t>✓</a:t>
            </a:r>
          </a:p>
        </p:txBody>
      </p:sp>
      <p:sp>
        <p:nvSpPr>
          <p:cNvPr id="15" name="TextBox 14"/>
          <p:cNvSpPr txBox="1"/>
          <p:nvPr/>
        </p:nvSpPr>
        <p:spPr>
          <a:xfrm>
            <a:off x="6309360" y="1700784"/>
            <a:ext cx="1371600" cy="329184"/>
          </a:xfrm>
          <a:prstGeom prst="rect">
            <a:avLst/>
          </a:prstGeom>
          <a:noFill/>
        </p:spPr>
        <p:txBody>
          <a:bodyPr wrap="square"/>
          <a:lstStyle/>
          <a:p>
            <a:pPr algn="ctr">
              <a:spcBef>
                <a:spcPts val="0"/>
              </a:spcBef>
              <a:spcAft>
                <a:spcPts val="0"/>
              </a:spcAft>
              <a:defRPr sz="1300" b="0">
                <a:solidFill>
                  <a:srgbClr val="D9D7D0"/>
                </a:solidFill>
                <a:latin typeface="IBM Plex Sans"/>
              </a:defRPr>
            </a:pPr>
            <a:r>
              <a:rPr>
                <a:latin typeface="IBM Plex Sans"/>
              </a:rPr>
              <a:t>—</a:t>
            </a:r>
          </a:p>
        </p:txBody>
      </p:sp>
      <p:sp>
        <p:nvSpPr>
          <p:cNvPr id="16" name="TextBox 15"/>
          <p:cNvSpPr txBox="1"/>
          <p:nvPr/>
        </p:nvSpPr>
        <p:spPr>
          <a:xfrm>
            <a:off x="7680960" y="1700784"/>
            <a:ext cx="1371600" cy="329184"/>
          </a:xfrm>
          <a:prstGeom prst="rect">
            <a:avLst/>
          </a:prstGeom>
          <a:noFill/>
        </p:spPr>
        <p:txBody>
          <a:bodyPr wrap="square"/>
          <a:lstStyle/>
          <a:p>
            <a:pPr algn="ctr">
              <a:spcBef>
                <a:spcPts val="0"/>
              </a:spcBef>
              <a:spcAft>
                <a:spcPts val="0"/>
              </a:spcAft>
              <a:defRPr sz="1300" b="0">
                <a:solidFill>
                  <a:srgbClr val="1F7A5A"/>
                </a:solidFill>
                <a:latin typeface="IBM Plex Sans"/>
              </a:defRPr>
            </a:pPr>
            <a:r>
              <a:rPr>
                <a:latin typeface="IBM Plex Sans"/>
              </a:rPr>
              <a:t>✓</a:t>
            </a:r>
          </a:p>
        </p:txBody>
      </p:sp>
      <p:sp>
        <p:nvSpPr>
          <p:cNvPr id="17" name="TextBox 16"/>
          <p:cNvSpPr txBox="1"/>
          <p:nvPr/>
        </p:nvSpPr>
        <p:spPr>
          <a:xfrm>
            <a:off x="9052560" y="1700784"/>
            <a:ext cx="1371600" cy="329184"/>
          </a:xfrm>
          <a:prstGeom prst="rect">
            <a:avLst/>
          </a:prstGeom>
          <a:noFill/>
        </p:spPr>
        <p:txBody>
          <a:bodyPr wrap="square"/>
          <a:lstStyle/>
          <a:p>
            <a:pPr algn="ctr">
              <a:spcBef>
                <a:spcPts val="0"/>
              </a:spcBef>
              <a:spcAft>
                <a:spcPts val="0"/>
              </a:spcAft>
              <a:defRPr sz="1300" b="0">
                <a:solidFill>
                  <a:srgbClr val="1F7A5A"/>
                </a:solidFill>
                <a:latin typeface="IBM Plex Sans"/>
              </a:defRPr>
            </a:pPr>
            <a:r>
              <a:rPr>
                <a:latin typeface="IBM Plex Sans"/>
              </a:rPr>
              <a:t>✓</a:t>
            </a:r>
          </a:p>
        </p:txBody>
      </p:sp>
      <p:sp>
        <p:nvSpPr>
          <p:cNvPr id="18" name="TextBox 17"/>
          <p:cNvSpPr txBox="1"/>
          <p:nvPr/>
        </p:nvSpPr>
        <p:spPr>
          <a:xfrm>
            <a:off x="640080" y="2029968"/>
            <a:ext cx="2926080" cy="329184"/>
          </a:xfrm>
          <a:prstGeom prst="rect">
            <a:avLst/>
          </a:prstGeom>
          <a:noFill/>
        </p:spPr>
        <p:txBody>
          <a:bodyPr wrap="square"/>
          <a:lstStyle/>
          <a:p>
            <a:pPr algn="l">
              <a:spcBef>
                <a:spcPts val="0"/>
              </a:spcBef>
              <a:spcAft>
                <a:spcPts val="0"/>
              </a:spcAft>
              <a:defRPr sz="1300" b="0">
                <a:solidFill>
                  <a:srgbClr val="0E1116"/>
                </a:solidFill>
                <a:latin typeface="IBM Plex Sans"/>
              </a:defRPr>
            </a:pPr>
            <a:r>
              <a:rPr>
                <a:latin typeface="IBM Plex Sans"/>
              </a:rPr>
              <a:t>Submit project</a:t>
            </a:r>
          </a:p>
        </p:txBody>
      </p:sp>
      <p:sp>
        <p:nvSpPr>
          <p:cNvPr id="19" name="TextBox 18"/>
          <p:cNvSpPr txBox="1"/>
          <p:nvPr/>
        </p:nvSpPr>
        <p:spPr>
          <a:xfrm>
            <a:off x="3566160" y="2029968"/>
            <a:ext cx="1371600" cy="329184"/>
          </a:xfrm>
          <a:prstGeom prst="rect">
            <a:avLst/>
          </a:prstGeom>
          <a:noFill/>
        </p:spPr>
        <p:txBody>
          <a:bodyPr wrap="square"/>
          <a:lstStyle/>
          <a:p>
            <a:pPr algn="ctr">
              <a:spcBef>
                <a:spcPts val="0"/>
              </a:spcBef>
              <a:spcAft>
                <a:spcPts val="0"/>
              </a:spcAft>
              <a:defRPr sz="1300" b="0">
                <a:solidFill>
                  <a:srgbClr val="D9D7D0"/>
                </a:solidFill>
                <a:latin typeface="IBM Plex Sans"/>
              </a:defRPr>
            </a:pPr>
            <a:r>
              <a:rPr>
                <a:latin typeface="IBM Plex Sans"/>
              </a:rPr>
              <a:t>—</a:t>
            </a:r>
          </a:p>
        </p:txBody>
      </p:sp>
      <p:sp>
        <p:nvSpPr>
          <p:cNvPr id="20" name="TextBox 19"/>
          <p:cNvSpPr txBox="1"/>
          <p:nvPr/>
        </p:nvSpPr>
        <p:spPr>
          <a:xfrm>
            <a:off x="4937760" y="2029968"/>
            <a:ext cx="1371600" cy="329184"/>
          </a:xfrm>
          <a:prstGeom prst="rect">
            <a:avLst/>
          </a:prstGeom>
          <a:noFill/>
        </p:spPr>
        <p:txBody>
          <a:bodyPr wrap="square"/>
          <a:lstStyle/>
          <a:p>
            <a:pPr algn="ctr">
              <a:spcBef>
                <a:spcPts val="0"/>
              </a:spcBef>
              <a:spcAft>
                <a:spcPts val="0"/>
              </a:spcAft>
              <a:defRPr sz="1300" b="0">
                <a:solidFill>
                  <a:srgbClr val="1F7A5A"/>
                </a:solidFill>
                <a:latin typeface="IBM Plex Sans"/>
              </a:defRPr>
            </a:pPr>
            <a:r>
              <a:rPr>
                <a:latin typeface="IBM Plex Sans"/>
              </a:rPr>
              <a:t>✓</a:t>
            </a:r>
          </a:p>
        </p:txBody>
      </p:sp>
      <p:sp>
        <p:nvSpPr>
          <p:cNvPr id="21" name="TextBox 20"/>
          <p:cNvSpPr txBox="1"/>
          <p:nvPr/>
        </p:nvSpPr>
        <p:spPr>
          <a:xfrm>
            <a:off x="6309360" y="2029968"/>
            <a:ext cx="1371600" cy="329184"/>
          </a:xfrm>
          <a:prstGeom prst="rect">
            <a:avLst/>
          </a:prstGeom>
          <a:noFill/>
        </p:spPr>
        <p:txBody>
          <a:bodyPr wrap="square"/>
          <a:lstStyle/>
          <a:p>
            <a:pPr algn="ctr">
              <a:spcBef>
                <a:spcPts val="0"/>
              </a:spcBef>
              <a:spcAft>
                <a:spcPts val="0"/>
              </a:spcAft>
              <a:defRPr sz="1300" b="0">
                <a:solidFill>
                  <a:srgbClr val="D9D7D0"/>
                </a:solidFill>
                <a:latin typeface="IBM Plex Sans"/>
              </a:defRPr>
            </a:pPr>
            <a:r>
              <a:rPr>
                <a:latin typeface="IBM Plex Sans"/>
              </a:rPr>
              <a:t>—</a:t>
            </a:r>
          </a:p>
        </p:txBody>
      </p:sp>
      <p:sp>
        <p:nvSpPr>
          <p:cNvPr id="22" name="TextBox 21"/>
          <p:cNvSpPr txBox="1"/>
          <p:nvPr/>
        </p:nvSpPr>
        <p:spPr>
          <a:xfrm>
            <a:off x="7680960" y="2029968"/>
            <a:ext cx="1371600" cy="329184"/>
          </a:xfrm>
          <a:prstGeom prst="rect">
            <a:avLst/>
          </a:prstGeom>
          <a:noFill/>
        </p:spPr>
        <p:txBody>
          <a:bodyPr wrap="square"/>
          <a:lstStyle/>
          <a:p>
            <a:pPr algn="ctr">
              <a:spcBef>
                <a:spcPts val="0"/>
              </a:spcBef>
              <a:spcAft>
                <a:spcPts val="0"/>
              </a:spcAft>
              <a:defRPr sz="1300" b="0">
                <a:solidFill>
                  <a:srgbClr val="D9D7D0"/>
                </a:solidFill>
                <a:latin typeface="IBM Plex Sans"/>
              </a:defRPr>
            </a:pPr>
            <a:r>
              <a:rPr>
                <a:latin typeface="IBM Plex Sans"/>
              </a:rPr>
              <a:t>—</a:t>
            </a:r>
          </a:p>
        </p:txBody>
      </p:sp>
      <p:sp>
        <p:nvSpPr>
          <p:cNvPr id="23" name="TextBox 22"/>
          <p:cNvSpPr txBox="1"/>
          <p:nvPr/>
        </p:nvSpPr>
        <p:spPr>
          <a:xfrm>
            <a:off x="9052560" y="2029968"/>
            <a:ext cx="1371600" cy="329184"/>
          </a:xfrm>
          <a:prstGeom prst="rect">
            <a:avLst/>
          </a:prstGeom>
          <a:noFill/>
        </p:spPr>
        <p:txBody>
          <a:bodyPr wrap="square"/>
          <a:lstStyle/>
          <a:p>
            <a:pPr algn="ctr">
              <a:spcBef>
                <a:spcPts val="0"/>
              </a:spcBef>
              <a:spcAft>
                <a:spcPts val="0"/>
              </a:spcAft>
              <a:defRPr sz="1300" b="0">
                <a:solidFill>
                  <a:srgbClr val="1F7A5A"/>
                </a:solidFill>
                <a:latin typeface="IBM Plex Sans"/>
              </a:defRPr>
            </a:pPr>
            <a:r>
              <a:rPr>
                <a:latin typeface="IBM Plex Sans"/>
              </a:rPr>
              <a:t>✓</a:t>
            </a:r>
          </a:p>
        </p:txBody>
      </p:sp>
      <p:sp>
        <p:nvSpPr>
          <p:cNvPr id="24" name="TextBox 23"/>
          <p:cNvSpPr txBox="1"/>
          <p:nvPr/>
        </p:nvSpPr>
        <p:spPr>
          <a:xfrm>
            <a:off x="640080" y="2359152"/>
            <a:ext cx="2926080" cy="329184"/>
          </a:xfrm>
          <a:prstGeom prst="rect">
            <a:avLst/>
          </a:prstGeom>
          <a:noFill/>
        </p:spPr>
        <p:txBody>
          <a:bodyPr wrap="square"/>
          <a:lstStyle/>
          <a:p>
            <a:pPr algn="l">
              <a:spcBef>
                <a:spcPts val="0"/>
              </a:spcBef>
              <a:spcAft>
                <a:spcPts val="0"/>
              </a:spcAft>
              <a:defRPr sz="1300" b="0">
                <a:solidFill>
                  <a:srgbClr val="0E1116"/>
                </a:solidFill>
                <a:latin typeface="IBM Plex Sans"/>
              </a:defRPr>
            </a:pPr>
            <a:r>
              <a:rPr>
                <a:latin typeface="IBM Plex Sans"/>
              </a:rPr>
              <a:t>Score assigned projects</a:t>
            </a:r>
          </a:p>
        </p:txBody>
      </p:sp>
      <p:sp>
        <p:nvSpPr>
          <p:cNvPr id="25" name="TextBox 24"/>
          <p:cNvSpPr txBox="1"/>
          <p:nvPr/>
        </p:nvSpPr>
        <p:spPr>
          <a:xfrm>
            <a:off x="3566160" y="2359152"/>
            <a:ext cx="1371600" cy="329184"/>
          </a:xfrm>
          <a:prstGeom prst="rect">
            <a:avLst/>
          </a:prstGeom>
          <a:noFill/>
        </p:spPr>
        <p:txBody>
          <a:bodyPr wrap="square"/>
          <a:lstStyle/>
          <a:p>
            <a:pPr algn="ctr">
              <a:spcBef>
                <a:spcPts val="0"/>
              </a:spcBef>
              <a:spcAft>
                <a:spcPts val="0"/>
              </a:spcAft>
              <a:defRPr sz="1300" b="0">
                <a:solidFill>
                  <a:srgbClr val="D9D7D0"/>
                </a:solidFill>
                <a:latin typeface="IBM Plex Sans"/>
              </a:defRPr>
            </a:pPr>
            <a:r>
              <a:rPr>
                <a:latin typeface="IBM Plex Sans"/>
              </a:rPr>
              <a:t>—</a:t>
            </a:r>
          </a:p>
        </p:txBody>
      </p:sp>
      <p:sp>
        <p:nvSpPr>
          <p:cNvPr id="26" name="TextBox 25"/>
          <p:cNvSpPr txBox="1"/>
          <p:nvPr/>
        </p:nvSpPr>
        <p:spPr>
          <a:xfrm>
            <a:off x="4937760" y="2359152"/>
            <a:ext cx="1371600" cy="329184"/>
          </a:xfrm>
          <a:prstGeom prst="rect">
            <a:avLst/>
          </a:prstGeom>
          <a:noFill/>
        </p:spPr>
        <p:txBody>
          <a:bodyPr wrap="square"/>
          <a:lstStyle/>
          <a:p>
            <a:pPr algn="ctr">
              <a:spcBef>
                <a:spcPts val="0"/>
              </a:spcBef>
              <a:spcAft>
                <a:spcPts val="0"/>
              </a:spcAft>
              <a:defRPr sz="1300" b="0">
                <a:solidFill>
                  <a:srgbClr val="D9D7D0"/>
                </a:solidFill>
                <a:latin typeface="IBM Plex Sans"/>
              </a:defRPr>
            </a:pPr>
            <a:r>
              <a:rPr>
                <a:latin typeface="IBM Plex Sans"/>
              </a:rPr>
              <a:t>—</a:t>
            </a:r>
          </a:p>
        </p:txBody>
      </p:sp>
      <p:sp>
        <p:nvSpPr>
          <p:cNvPr id="27" name="TextBox 26"/>
          <p:cNvSpPr txBox="1"/>
          <p:nvPr/>
        </p:nvSpPr>
        <p:spPr>
          <a:xfrm>
            <a:off x="6309360" y="2359152"/>
            <a:ext cx="1371600" cy="329184"/>
          </a:xfrm>
          <a:prstGeom prst="rect">
            <a:avLst/>
          </a:prstGeom>
          <a:noFill/>
        </p:spPr>
        <p:txBody>
          <a:bodyPr wrap="square"/>
          <a:lstStyle/>
          <a:p>
            <a:pPr algn="ctr">
              <a:spcBef>
                <a:spcPts val="0"/>
              </a:spcBef>
              <a:spcAft>
                <a:spcPts val="0"/>
              </a:spcAft>
              <a:defRPr sz="1300" b="0">
                <a:solidFill>
                  <a:srgbClr val="1F7A5A"/>
                </a:solidFill>
                <a:latin typeface="IBM Plex Sans"/>
              </a:defRPr>
            </a:pPr>
            <a:r>
              <a:rPr>
                <a:latin typeface="IBM Plex Sans"/>
              </a:rPr>
              <a:t>✓</a:t>
            </a:r>
          </a:p>
        </p:txBody>
      </p:sp>
      <p:sp>
        <p:nvSpPr>
          <p:cNvPr id="28" name="TextBox 27"/>
          <p:cNvSpPr txBox="1"/>
          <p:nvPr/>
        </p:nvSpPr>
        <p:spPr>
          <a:xfrm>
            <a:off x="7680960" y="2359152"/>
            <a:ext cx="1371600" cy="329184"/>
          </a:xfrm>
          <a:prstGeom prst="rect">
            <a:avLst/>
          </a:prstGeom>
          <a:noFill/>
        </p:spPr>
        <p:txBody>
          <a:bodyPr wrap="square"/>
          <a:lstStyle/>
          <a:p>
            <a:pPr algn="ctr">
              <a:spcBef>
                <a:spcPts val="0"/>
              </a:spcBef>
              <a:spcAft>
                <a:spcPts val="0"/>
              </a:spcAft>
              <a:defRPr sz="1300" b="0">
                <a:solidFill>
                  <a:srgbClr val="D9D7D0"/>
                </a:solidFill>
                <a:latin typeface="IBM Plex Sans"/>
              </a:defRPr>
            </a:pPr>
            <a:r>
              <a:rPr>
                <a:latin typeface="IBM Plex Sans"/>
              </a:rPr>
              <a:t>—</a:t>
            </a:r>
          </a:p>
        </p:txBody>
      </p:sp>
      <p:sp>
        <p:nvSpPr>
          <p:cNvPr id="29" name="TextBox 28"/>
          <p:cNvSpPr txBox="1"/>
          <p:nvPr/>
        </p:nvSpPr>
        <p:spPr>
          <a:xfrm>
            <a:off x="9052560" y="2359152"/>
            <a:ext cx="1371600" cy="329184"/>
          </a:xfrm>
          <a:prstGeom prst="rect">
            <a:avLst/>
          </a:prstGeom>
          <a:noFill/>
        </p:spPr>
        <p:txBody>
          <a:bodyPr wrap="square"/>
          <a:lstStyle/>
          <a:p>
            <a:pPr algn="ctr">
              <a:spcBef>
                <a:spcPts val="0"/>
              </a:spcBef>
              <a:spcAft>
                <a:spcPts val="0"/>
              </a:spcAft>
              <a:defRPr sz="1300" b="0">
                <a:solidFill>
                  <a:srgbClr val="1F7A5A"/>
                </a:solidFill>
                <a:latin typeface="IBM Plex Sans"/>
              </a:defRPr>
            </a:pPr>
            <a:r>
              <a:rPr>
                <a:latin typeface="IBM Plex Sans"/>
              </a:rPr>
              <a:t>✓</a:t>
            </a:r>
          </a:p>
        </p:txBody>
      </p:sp>
      <p:sp>
        <p:nvSpPr>
          <p:cNvPr id="30" name="TextBox 29"/>
          <p:cNvSpPr txBox="1"/>
          <p:nvPr/>
        </p:nvSpPr>
        <p:spPr>
          <a:xfrm>
            <a:off x="640080" y="2688336"/>
            <a:ext cx="2926080" cy="329184"/>
          </a:xfrm>
          <a:prstGeom prst="rect">
            <a:avLst/>
          </a:prstGeom>
          <a:noFill/>
        </p:spPr>
        <p:txBody>
          <a:bodyPr wrap="square"/>
          <a:lstStyle/>
          <a:p>
            <a:pPr algn="l">
              <a:spcBef>
                <a:spcPts val="0"/>
              </a:spcBef>
              <a:spcAft>
                <a:spcPts val="0"/>
              </a:spcAft>
              <a:defRPr sz="1300" b="0">
                <a:solidFill>
                  <a:srgbClr val="0E1116"/>
                </a:solidFill>
                <a:latin typeface="IBM Plex Sans"/>
              </a:defRPr>
            </a:pPr>
            <a:r>
              <a:rPr>
                <a:latin typeface="IBM Plex Sans"/>
              </a:rPr>
              <a:t>Configure event &amp; rubric</a:t>
            </a:r>
          </a:p>
        </p:txBody>
      </p:sp>
      <p:sp>
        <p:nvSpPr>
          <p:cNvPr id="31" name="TextBox 30"/>
          <p:cNvSpPr txBox="1"/>
          <p:nvPr/>
        </p:nvSpPr>
        <p:spPr>
          <a:xfrm>
            <a:off x="3566160" y="2688336"/>
            <a:ext cx="1371600" cy="329184"/>
          </a:xfrm>
          <a:prstGeom prst="rect">
            <a:avLst/>
          </a:prstGeom>
          <a:noFill/>
        </p:spPr>
        <p:txBody>
          <a:bodyPr wrap="square"/>
          <a:lstStyle/>
          <a:p>
            <a:pPr algn="ctr">
              <a:spcBef>
                <a:spcPts val="0"/>
              </a:spcBef>
              <a:spcAft>
                <a:spcPts val="0"/>
              </a:spcAft>
              <a:defRPr sz="1300" b="0">
                <a:solidFill>
                  <a:srgbClr val="D9D7D0"/>
                </a:solidFill>
                <a:latin typeface="IBM Plex Sans"/>
              </a:defRPr>
            </a:pPr>
            <a:r>
              <a:rPr>
                <a:latin typeface="IBM Plex Sans"/>
              </a:rPr>
              <a:t>—</a:t>
            </a:r>
          </a:p>
        </p:txBody>
      </p:sp>
      <p:sp>
        <p:nvSpPr>
          <p:cNvPr id="32" name="TextBox 31"/>
          <p:cNvSpPr txBox="1"/>
          <p:nvPr/>
        </p:nvSpPr>
        <p:spPr>
          <a:xfrm>
            <a:off x="4937760" y="2688336"/>
            <a:ext cx="1371600" cy="329184"/>
          </a:xfrm>
          <a:prstGeom prst="rect">
            <a:avLst/>
          </a:prstGeom>
          <a:noFill/>
        </p:spPr>
        <p:txBody>
          <a:bodyPr wrap="square"/>
          <a:lstStyle/>
          <a:p>
            <a:pPr algn="ctr">
              <a:spcBef>
                <a:spcPts val="0"/>
              </a:spcBef>
              <a:spcAft>
                <a:spcPts val="0"/>
              </a:spcAft>
              <a:defRPr sz="1300" b="0">
                <a:solidFill>
                  <a:srgbClr val="D9D7D0"/>
                </a:solidFill>
                <a:latin typeface="IBM Plex Sans"/>
              </a:defRPr>
            </a:pPr>
            <a:r>
              <a:rPr>
                <a:latin typeface="IBM Plex Sans"/>
              </a:rPr>
              <a:t>—</a:t>
            </a:r>
          </a:p>
        </p:txBody>
      </p:sp>
      <p:sp>
        <p:nvSpPr>
          <p:cNvPr id="33" name="TextBox 32"/>
          <p:cNvSpPr txBox="1"/>
          <p:nvPr/>
        </p:nvSpPr>
        <p:spPr>
          <a:xfrm>
            <a:off x="6309360" y="2688336"/>
            <a:ext cx="1371600" cy="329184"/>
          </a:xfrm>
          <a:prstGeom prst="rect">
            <a:avLst/>
          </a:prstGeom>
          <a:noFill/>
        </p:spPr>
        <p:txBody>
          <a:bodyPr wrap="square"/>
          <a:lstStyle/>
          <a:p>
            <a:pPr algn="ctr">
              <a:spcBef>
                <a:spcPts val="0"/>
              </a:spcBef>
              <a:spcAft>
                <a:spcPts val="0"/>
              </a:spcAft>
              <a:defRPr sz="1300" b="0">
                <a:solidFill>
                  <a:srgbClr val="D9D7D0"/>
                </a:solidFill>
                <a:latin typeface="IBM Plex Sans"/>
              </a:defRPr>
            </a:pPr>
            <a:r>
              <a:rPr>
                <a:latin typeface="IBM Plex Sans"/>
              </a:rPr>
              <a:t>—</a:t>
            </a:r>
          </a:p>
        </p:txBody>
      </p:sp>
      <p:sp>
        <p:nvSpPr>
          <p:cNvPr id="34" name="TextBox 33"/>
          <p:cNvSpPr txBox="1"/>
          <p:nvPr/>
        </p:nvSpPr>
        <p:spPr>
          <a:xfrm>
            <a:off x="7680960" y="2688336"/>
            <a:ext cx="1371600" cy="329184"/>
          </a:xfrm>
          <a:prstGeom prst="rect">
            <a:avLst/>
          </a:prstGeom>
          <a:noFill/>
        </p:spPr>
        <p:txBody>
          <a:bodyPr wrap="square"/>
          <a:lstStyle/>
          <a:p>
            <a:pPr algn="ctr">
              <a:spcBef>
                <a:spcPts val="0"/>
              </a:spcBef>
              <a:spcAft>
                <a:spcPts val="0"/>
              </a:spcAft>
              <a:defRPr sz="1300" b="0">
                <a:solidFill>
                  <a:srgbClr val="1F7A5A"/>
                </a:solidFill>
                <a:latin typeface="IBM Plex Sans"/>
              </a:defRPr>
            </a:pPr>
            <a:r>
              <a:rPr>
                <a:latin typeface="IBM Plex Sans"/>
              </a:rPr>
              <a:t>✓</a:t>
            </a:r>
          </a:p>
        </p:txBody>
      </p:sp>
      <p:sp>
        <p:nvSpPr>
          <p:cNvPr id="35" name="TextBox 34"/>
          <p:cNvSpPr txBox="1"/>
          <p:nvPr/>
        </p:nvSpPr>
        <p:spPr>
          <a:xfrm>
            <a:off x="9052560" y="2688336"/>
            <a:ext cx="1371600" cy="329184"/>
          </a:xfrm>
          <a:prstGeom prst="rect">
            <a:avLst/>
          </a:prstGeom>
          <a:noFill/>
        </p:spPr>
        <p:txBody>
          <a:bodyPr wrap="square"/>
          <a:lstStyle/>
          <a:p>
            <a:pPr algn="ctr">
              <a:spcBef>
                <a:spcPts val="0"/>
              </a:spcBef>
              <a:spcAft>
                <a:spcPts val="0"/>
              </a:spcAft>
              <a:defRPr sz="1300" b="0">
                <a:solidFill>
                  <a:srgbClr val="1F7A5A"/>
                </a:solidFill>
                <a:latin typeface="IBM Plex Sans"/>
              </a:defRPr>
            </a:pPr>
            <a:r>
              <a:rPr>
                <a:latin typeface="IBM Plex Sans"/>
              </a:rPr>
              <a:t>✓</a:t>
            </a:r>
          </a:p>
        </p:txBody>
      </p:sp>
      <p:sp>
        <p:nvSpPr>
          <p:cNvPr id="36" name="TextBox 35"/>
          <p:cNvSpPr txBox="1"/>
          <p:nvPr/>
        </p:nvSpPr>
        <p:spPr>
          <a:xfrm>
            <a:off x="640080" y="3017520"/>
            <a:ext cx="2926080" cy="329184"/>
          </a:xfrm>
          <a:prstGeom prst="rect">
            <a:avLst/>
          </a:prstGeom>
          <a:noFill/>
        </p:spPr>
        <p:txBody>
          <a:bodyPr wrap="square"/>
          <a:lstStyle/>
          <a:p>
            <a:pPr algn="l">
              <a:spcBef>
                <a:spcPts val="0"/>
              </a:spcBef>
              <a:spcAft>
                <a:spcPts val="0"/>
              </a:spcAft>
              <a:defRPr sz="1300" b="0">
                <a:solidFill>
                  <a:srgbClr val="0E1116"/>
                </a:solidFill>
                <a:latin typeface="IBM Plex Sans"/>
              </a:defRPr>
            </a:pPr>
            <a:r>
              <a:rPr>
                <a:latin typeface="IBM Plex Sans"/>
              </a:rPr>
              <a:t>View audit log &amp; forensics</a:t>
            </a:r>
          </a:p>
        </p:txBody>
      </p:sp>
      <p:sp>
        <p:nvSpPr>
          <p:cNvPr id="37" name="TextBox 36"/>
          <p:cNvSpPr txBox="1"/>
          <p:nvPr/>
        </p:nvSpPr>
        <p:spPr>
          <a:xfrm>
            <a:off x="3566160" y="3017520"/>
            <a:ext cx="1371600" cy="329184"/>
          </a:xfrm>
          <a:prstGeom prst="rect">
            <a:avLst/>
          </a:prstGeom>
          <a:noFill/>
        </p:spPr>
        <p:txBody>
          <a:bodyPr wrap="square"/>
          <a:lstStyle/>
          <a:p>
            <a:pPr algn="ctr">
              <a:spcBef>
                <a:spcPts val="0"/>
              </a:spcBef>
              <a:spcAft>
                <a:spcPts val="0"/>
              </a:spcAft>
              <a:defRPr sz="1300" b="0">
                <a:solidFill>
                  <a:srgbClr val="D9D7D0"/>
                </a:solidFill>
                <a:latin typeface="IBM Plex Sans"/>
              </a:defRPr>
            </a:pPr>
            <a:r>
              <a:rPr>
                <a:latin typeface="IBM Plex Sans"/>
              </a:rPr>
              <a:t>—</a:t>
            </a:r>
          </a:p>
        </p:txBody>
      </p:sp>
      <p:sp>
        <p:nvSpPr>
          <p:cNvPr id="38" name="TextBox 37"/>
          <p:cNvSpPr txBox="1"/>
          <p:nvPr/>
        </p:nvSpPr>
        <p:spPr>
          <a:xfrm>
            <a:off x="4937760" y="3017520"/>
            <a:ext cx="1371600" cy="329184"/>
          </a:xfrm>
          <a:prstGeom prst="rect">
            <a:avLst/>
          </a:prstGeom>
          <a:noFill/>
        </p:spPr>
        <p:txBody>
          <a:bodyPr wrap="square"/>
          <a:lstStyle/>
          <a:p>
            <a:pPr algn="ctr">
              <a:spcBef>
                <a:spcPts val="0"/>
              </a:spcBef>
              <a:spcAft>
                <a:spcPts val="0"/>
              </a:spcAft>
              <a:defRPr sz="1300" b="0">
                <a:solidFill>
                  <a:srgbClr val="D9D7D0"/>
                </a:solidFill>
                <a:latin typeface="IBM Plex Sans"/>
              </a:defRPr>
            </a:pPr>
            <a:r>
              <a:rPr>
                <a:latin typeface="IBM Plex Sans"/>
              </a:rPr>
              <a:t>—</a:t>
            </a:r>
          </a:p>
        </p:txBody>
      </p:sp>
      <p:sp>
        <p:nvSpPr>
          <p:cNvPr id="39" name="TextBox 38"/>
          <p:cNvSpPr txBox="1"/>
          <p:nvPr/>
        </p:nvSpPr>
        <p:spPr>
          <a:xfrm>
            <a:off x="6309360" y="3017520"/>
            <a:ext cx="1371600" cy="329184"/>
          </a:xfrm>
          <a:prstGeom prst="rect">
            <a:avLst/>
          </a:prstGeom>
          <a:noFill/>
        </p:spPr>
        <p:txBody>
          <a:bodyPr wrap="square"/>
          <a:lstStyle/>
          <a:p>
            <a:pPr algn="ctr">
              <a:spcBef>
                <a:spcPts val="0"/>
              </a:spcBef>
              <a:spcAft>
                <a:spcPts val="0"/>
              </a:spcAft>
              <a:defRPr sz="1300" b="0">
                <a:solidFill>
                  <a:srgbClr val="D9D7D0"/>
                </a:solidFill>
                <a:latin typeface="IBM Plex Sans"/>
              </a:defRPr>
            </a:pPr>
            <a:r>
              <a:rPr>
                <a:latin typeface="IBM Plex Sans"/>
              </a:rPr>
              <a:t>—</a:t>
            </a:r>
          </a:p>
        </p:txBody>
      </p:sp>
      <p:sp>
        <p:nvSpPr>
          <p:cNvPr id="40" name="TextBox 39"/>
          <p:cNvSpPr txBox="1"/>
          <p:nvPr/>
        </p:nvSpPr>
        <p:spPr>
          <a:xfrm>
            <a:off x="7680960" y="3017520"/>
            <a:ext cx="1371600" cy="329184"/>
          </a:xfrm>
          <a:prstGeom prst="rect">
            <a:avLst/>
          </a:prstGeom>
          <a:noFill/>
        </p:spPr>
        <p:txBody>
          <a:bodyPr wrap="square"/>
          <a:lstStyle/>
          <a:p>
            <a:pPr algn="ctr">
              <a:spcBef>
                <a:spcPts val="0"/>
              </a:spcBef>
              <a:spcAft>
                <a:spcPts val="0"/>
              </a:spcAft>
              <a:defRPr sz="1300" b="0">
                <a:solidFill>
                  <a:srgbClr val="1F7A5A"/>
                </a:solidFill>
                <a:latin typeface="IBM Plex Sans"/>
              </a:defRPr>
            </a:pPr>
            <a:r>
              <a:rPr>
                <a:latin typeface="IBM Plex Sans"/>
              </a:rPr>
              <a:t>✓</a:t>
            </a:r>
          </a:p>
        </p:txBody>
      </p:sp>
      <p:sp>
        <p:nvSpPr>
          <p:cNvPr id="41" name="TextBox 40"/>
          <p:cNvSpPr txBox="1"/>
          <p:nvPr/>
        </p:nvSpPr>
        <p:spPr>
          <a:xfrm>
            <a:off x="9052560" y="3017520"/>
            <a:ext cx="1371600" cy="329184"/>
          </a:xfrm>
          <a:prstGeom prst="rect">
            <a:avLst/>
          </a:prstGeom>
          <a:noFill/>
        </p:spPr>
        <p:txBody>
          <a:bodyPr wrap="square"/>
          <a:lstStyle/>
          <a:p>
            <a:pPr algn="ctr">
              <a:spcBef>
                <a:spcPts val="0"/>
              </a:spcBef>
              <a:spcAft>
                <a:spcPts val="0"/>
              </a:spcAft>
              <a:defRPr sz="1300" b="0">
                <a:solidFill>
                  <a:srgbClr val="1F7A5A"/>
                </a:solidFill>
                <a:latin typeface="IBM Plex Sans"/>
              </a:defRPr>
            </a:pPr>
            <a:r>
              <a:rPr>
                <a:latin typeface="IBM Plex Sans"/>
              </a:rPr>
              <a:t>✓</a:t>
            </a:r>
          </a:p>
        </p:txBody>
      </p:sp>
      <p:sp>
        <p:nvSpPr>
          <p:cNvPr id="42" name="TextBox 41"/>
          <p:cNvSpPr txBox="1"/>
          <p:nvPr/>
        </p:nvSpPr>
        <p:spPr>
          <a:xfrm>
            <a:off x="640080" y="3346704"/>
            <a:ext cx="2926080" cy="329184"/>
          </a:xfrm>
          <a:prstGeom prst="rect">
            <a:avLst/>
          </a:prstGeom>
          <a:noFill/>
        </p:spPr>
        <p:txBody>
          <a:bodyPr wrap="square"/>
          <a:lstStyle/>
          <a:p>
            <a:pPr algn="l">
              <a:spcBef>
                <a:spcPts val="0"/>
              </a:spcBef>
              <a:spcAft>
                <a:spcPts val="0"/>
              </a:spcAft>
              <a:defRPr sz="1300" b="0">
                <a:solidFill>
                  <a:srgbClr val="0E1116"/>
                </a:solidFill>
                <a:latin typeface="IBM Plex Sans"/>
              </a:defRPr>
            </a:pPr>
            <a:r>
              <a:rPr>
                <a:latin typeface="IBM Plex Sans"/>
              </a:rPr>
              <a:t>Manage users &amp; roles</a:t>
            </a:r>
          </a:p>
        </p:txBody>
      </p:sp>
      <p:sp>
        <p:nvSpPr>
          <p:cNvPr id="43" name="TextBox 42"/>
          <p:cNvSpPr txBox="1"/>
          <p:nvPr/>
        </p:nvSpPr>
        <p:spPr>
          <a:xfrm>
            <a:off x="3566160" y="3346704"/>
            <a:ext cx="1371600" cy="329184"/>
          </a:xfrm>
          <a:prstGeom prst="rect">
            <a:avLst/>
          </a:prstGeom>
          <a:noFill/>
        </p:spPr>
        <p:txBody>
          <a:bodyPr wrap="square"/>
          <a:lstStyle/>
          <a:p>
            <a:pPr algn="ctr">
              <a:spcBef>
                <a:spcPts val="0"/>
              </a:spcBef>
              <a:spcAft>
                <a:spcPts val="0"/>
              </a:spcAft>
              <a:defRPr sz="1300" b="0">
                <a:solidFill>
                  <a:srgbClr val="D9D7D0"/>
                </a:solidFill>
                <a:latin typeface="IBM Plex Sans"/>
              </a:defRPr>
            </a:pPr>
            <a:r>
              <a:rPr>
                <a:latin typeface="IBM Plex Sans"/>
              </a:rPr>
              <a:t>—</a:t>
            </a:r>
          </a:p>
        </p:txBody>
      </p:sp>
      <p:sp>
        <p:nvSpPr>
          <p:cNvPr id="44" name="TextBox 43"/>
          <p:cNvSpPr txBox="1"/>
          <p:nvPr/>
        </p:nvSpPr>
        <p:spPr>
          <a:xfrm>
            <a:off x="4937760" y="3346704"/>
            <a:ext cx="1371600" cy="329184"/>
          </a:xfrm>
          <a:prstGeom prst="rect">
            <a:avLst/>
          </a:prstGeom>
          <a:noFill/>
        </p:spPr>
        <p:txBody>
          <a:bodyPr wrap="square"/>
          <a:lstStyle/>
          <a:p>
            <a:pPr algn="ctr">
              <a:spcBef>
                <a:spcPts val="0"/>
              </a:spcBef>
              <a:spcAft>
                <a:spcPts val="0"/>
              </a:spcAft>
              <a:defRPr sz="1300" b="0">
                <a:solidFill>
                  <a:srgbClr val="D9D7D0"/>
                </a:solidFill>
                <a:latin typeface="IBM Plex Sans"/>
              </a:defRPr>
            </a:pPr>
            <a:r>
              <a:rPr>
                <a:latin typeface="IBM Plex Sans"/>
              </a:rPr>
              <a:t>—</a:t>
            </a:r>
          </a:p>
        </p:txBody>
      </p:sp>
      <p:sp>
        <p:nvSpPr>
          <p:cNvPr id="45" name="TextBox 44"/>
          <p:cNvSpPr txBox="1"/>
          <p:nvPr/>
        </p:nvSpPr>
        <p:spPr>
          <a:xfrm>
            <a:off x="6309360" y="3346704"/>
            <a:ext cx="1371600" cy="329184"/>
          </a:xfrm>
          <a:prstGeom prst="rect">
            <a:avLst/>
          </a:prstGeom>
          <a:noFill/>
        </p:spPr>
        <p:txBody>
          <a:bodyPr wrap="square"/>
          <a:lstStyle/>
          <a:p>
            <a:pPr algn="ctr">
              <a:spcBef>
                <a:spcPts val="0"/>
              </a:spcBef>
              <a:spcAft>
                <a:spcPts val="0"/>
              </a:spcAft>
              <a:defRPr sz="1300" b="0">
                <a:solidFill>
                  <a:srgbClr val="D9D7D0"/>
                </a:solidFill>
                <a:latin typeface="IBM Plex Sans"/>
              </a:defRPr>
            </a:pPr>
            <a:r>
              <a:rPr>
                <a:latin typeface="IBM Plex Sans"/>
              </a:rPr>
              <a:t>—</a:t>
            </a:r>
          </a:p>
        </p:txBody>
      </p:sp>
      <p:sp>
        <p:nvSpPr>
          <p:cNvPr id="46" name="TextBox 45"/>
          <p:cNvSpPr txBox="1"/>
          <p:nvPr/>
        </p:nvSpPr>
        <p:spPr>
          <a:xfrm>
            <a:off x="7680960" y="3346704"/>
            <a:ext cx="1371600" cy="329184"/>
          </a:xfrm>
          <a:prstGeom prst="rect">
            <a:avLst/>
          </a:prstGeom>
          <a:noFill/>
        </p:spPr>
        <p:txBody>
          <a:bodyPr wrap="square"/>
          <a:lstStyle/>
          <a:p>
            <a:pPr algn="ctr">
              <a:spcBef>
                <a:spcPts val="0"/>
              </a:spcBef>
              <a:spcAft>
                <a:spcPts val="0"/>
              </a:spcAft>
              <a:defRPr sz="1300" b="0">
                <a:solidFill>
                  <a:srgbClr val="D9D7D0"/>
                </a:solidFill>
                <a:latin typeface="IBM Plex Sans"/>
              </a:defRPr>
            </a:pPr>
            <a:r>
              <a:rPr>
                <a:latin typeface="IBM Plex Sans"/>
              </a:rPr>
              <a:t>—</a:t>
            </a:r>
          </a:p>
        </p:txBody>
      </p:sp>
      <p:sp>
        <p:nvSpPr>
          <p:cNvPr id="47" name="TextBox 46"/>
          <p:cNvSpPr txBox="1"/>
          <p:nvPr/>
        </p:nvSpPr>
        <p:spPr>
          <a:xfrm>
            <a:off x="9052560" y="3346704"/>
            <a:ext cx="1371600" cy="329184"/>
          </a:xfrm>
          <a:prstGeom prst="rect">
            <a:avLst/>
          </a:prstGeom>
          <a:noFill/>
        </p:spPr>
        <p:txBody>
          <a:bodyPr wrap="square"/>
          <a:lstStyle/>
          <a:p>
            <a:pPr algn="ctr">
              <a:spcBef>
                <a:spcPts val="0"/>
              </a:spcBef>
              <a:spcAft>
                <a:spcPts val="0"/>
              </a:spcAft>
              <a:defRPr sz="1300" b="0">
                <a:solidFill>
                  <a:srgbClr val="1F7A5A"/>
                </a:solidFill>
                <a:latin typeface="IBM Plex Sans"/>
              </a:defRPr>
            </a:pPr>
            <a:r>
              <a:rPr>
                <a:latin typeface="IBM Plex Sans"/>
              </a:rPr>
              <a:t>✓</a:t>
            </a:r>
          </a:p>
        </p:txBody>
      </p:sp>
      <p:sp>
        <p:nvSpPr>
          <p:cNvPr id="48" name="TextBox 47"/>
          <p:cNvSpPr txBox="1"/>
          <p:nvPr/>
        </p:nvSpPr>
        <p:spPr>
          <a:xfrm>
            <a:off x="640080" y="4572000"/>
            <a:ext cx="10911535" cy="457200"/>
          </a:xfrm>
          <a:prstGeom prst="rect">
            <a:avLst/>
          </a:prstGeom>
          <a:noFill/>
        </p:spPr>
        <p:txBody>
          <a:bodyPr wrap="square"/>
          <a:lstStyle/>
          <a:p>
            <a:pPr algn="l">
              <a:spcBef>
                <a:spcPts val="0"/>
              </a:spcBef>
              <a:spcAft>
                <a:spcPts val="0"/>
              </a:spcAft>
              <a:defRPr sz="1300" b="0">
                <a:solidFill>
                  <a:srgbClr val="5B6470"/>
                </a:solidFill>
                <a:latin typeface="IBM Plex Sans"/>
              </a:defRPr>
            </a:pPr>
            <a:r>
              <a:rPr>
                <a:latin typeface="IBM Plex Sans"/>
              </a:rPr>
              <a:t>Every permission is enforced server-side via JWT claims. The frontend hides UI elements; the backend rejects unauthorized requests.</a:t>
            </a:r>
          </a:p>
        </p:txBody>
      </p:sp>
      <p:sp>
        <p:nvSpPr>
          <p:cNvPr id="49" name="Rounded Rectangle 48"/>
          <p:cNvSpPr/>
          <p:nvPr/>
        </p:nvSpPr>
        <p:spPr>
          <a:xfrm>
            <a:off x="8686800" y="1371600"/>
            <a:ext cx="3200400" cy="228600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86800" y="2286000"/>
            <a:ext cx="3200400" cy="274320"/>
          </a:xfrm>
          <a:prstGeom prst="rect">
            <a:avLst/>
          </a:prstGeom>
          <a:noFill/>
        </p:spPr>
        <p:txBody>
          <a:bodyPr wrap="square"/>
          <a:lstStyle/>
          <a:p>
            <a:pPr algn="ctr">
              <a:spcBef>
                <a:spcPts val="0"/>
              </a:spcBef>
              <a:spcAft>
                <a:spcPts val="0"/>
              </a:spcAft>
              <a:defRPr sz="1100" b="0">
                <a:solidFill>
                  <a:srgbClr val="B45309"/>
                </a:solidFill>
                <a:latin typeface="IBM Plex Mono"/>
              </a:defRPr>
            </a:pPr>
            <a:r>
              <a:rPr>
                <a:latin typeface="IBM Plex Mono"/>
              </a:rPr>
              <a:t>[SCREENSHOT: 01-portal-home.png]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640080" y="548640"/>
            <a:ext cx="10911535" cy="457200"/>
          </a:xfrm>
          <a:prstGeom prst="rect">
            <a:avLst/>
          </a:prstGeom>
          <a:noFill/>
        </p:spPr>
        <p:txBody>
          <a:bodyPr wrap="square"/>
          <a:lstStyle/>
          <a:p>
            <a:pPr algn="l">
              <a:spcBef>
                <a:spcPts val="0"/>
              </a:spcBef>
              <a:spcAft>
                <a:spcPts val="0"/>
              </a:spcAft>
              <a:defRPr sz="2800" b="1">
                <a:solidFill>
                  <a:srgbClr val="0E1116"/>
                </a:solidFill>
                <a:latin typeface="IBM Plex Sans"/>
              </a:defRPr>
            </a:pPr>
            <a:r>
              <a:rPr>
                <a:latin typeface="IBM Plex Sans"/>
              </a:rPr>
              <a:t>Nine services, one compose file, offline after image pull</a:t>
            </a:r>
          </a:p>
        </p:txBody>
      </p:sp>
      <p:sp>
        <p:nvSpPr>
          <p:cNvPr id="3" name="TextBox 2"/>
          <p:cNvSpPr txBox="1"/>
          <p:nvPr/>
        </p:nvSpPr>
        <p:spPr>
          <a:xfrm>
            <a:off x="11430000" y="6400800"/>
            <a:ext cx="548640" cy="274320"/>
          </a:xfrm>
          <a:prstGeom prst="rect">
            <a:avLst/>
          </a:prstGeom>
          <a:noFill/>
        </p:spPr>
        <p:txBody>
          <a:bodyPr wrap="square"/>
          <a:lstStyle/>
          <a:p>
            <a:pPr algn="r">
              <a:spcBef>
                <a:spcPts val="0"/>
              </a:spcBef>
              <a:spcAft>
                <a:spcPts val="0"/>
              </a:spcAft>
              <a:defRPr sz="1000" b="0">
                <a:solidFill>
                  <a:srgbClr val="5B6470"/>
                </a:solidFill>
                <a:latin typeface="IBM Plex Sans"/>
              </a:defRPr>
            </a:pPr>
            <a:r>
              <a:rPr>
                <a:latin typeface="IBM Plex Sans"/>
              </a:rPr>
              <a:t>6</a:t>
            </a:r>
          </a:p>
        </p:txBody>
      </p:sp>
      <p:sp>
        <p:nvSpPr>
          <p:cNvPr id="4" name="TextBox 3"/>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
        <p:nvSpPr>
          <p:cNvPr id="5" name="Rounded Rectangle 4"/>
          <p:cNvSpPr/>
          <p:nvPr/>
        </p:nvSpPr>
        <p:spPr>
          <a:xfrm>
            <a:off x="365760" y="1097280"/>
            <a:ext cx="11430000" cy="5303520"/>
          </a:xfrm>
          <a:prstGeom prst="roundRect">
            <a:avLst>
              <a:gd name="adj" fmla="val 2000"/>
            </a:avLst>
          </a:prstGeom>
          <a:noFill/>
          <a:ln w="1905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3657600" cy="274320"/>
          </a:xfrm>
          <a:prstGeom prst="rect">
            <a:avLst/>
          </a:prstGeom>
          <a:noFill/>
        </p:spPr>
        <p:txBody>
          <a:bodyPr wrap="square"/>
          <a:lstStyle/>
          <a:p>
            <a:pPr algn="l">
              <a:spcBef>
                <a:spcPts val="0"/>
              </a:spcBef>
              <a:spcAft>
                <a:spcPts val="0"/>
              </a:spcAft>
              <a:defRPr sz="1000" b="0">
                <a:solidFill>
                  <a:srgbClr val="5B6470"/>
                </a:solidFill>
                <a:latin typeface="IBM Plex Mono"/>
              </a:defRPr>
            </a:pPr>
            <a:r>
              <a:rPr>
                <a:latin typeface="IBM Plex Mono"/>
              </a:rPr>
              <a:t>docker compose · single host · offline</a:t>
            </a:r>
          </a:p>
        </p:txBody>
      </p:sp>
      <p:sp>
        <p:nvSpPr>
          <p:cNvPr id="7" name="Rounded Rectangle 6"/>
          <p:cNvSpPr/>
          <p:nvPr/>
        </p:nvSpPr>
        <p:spPr>
          <a:xfrm>
            <a:off x="731520" y="1828800"/>
            <a:ext cx="1371600" cy="548640"/>
          </a:xfrm>
          <a:prstGeom prst="roundRect">
            <a:avLst>
              <a:gd name="adj" fmla="val 2000"/>
            </a:avLst>
          </a:prstGeom>
          <a:solidFill>
            <a:srgbClr val="0E1116"/>
          </a:solidFill>
          <a:ln w="12700">
            <a:solidFill>
              <a:srgbClr val="0E11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01952"/>
            <a:ext cx="1371600" cy="457200"/>
          </a:xfrm>
          <a:prstGeom prst="rect">
            <a:avLst/>
          </a:prstGeom>
          <a:noFill/>
        </p:spPr>
        <p:txBody>
          <a:bodyPr wrap="square"/>
          <a:lstStyle/>
          <a:p>
            <a:pPr algn="ctr">
              <a:spcBef>
                <a:spcPts val="0"/>
              </a:spcBef>
              <a:spcAft>
                <a:spcPts val="0"/>
              </a:spcAft>
              <a:defRPr sz="1000" b="0">
                <a:solidFill>
                  <a:srgbClr val="FFFFFF"/>
                </a:solidFill>
                <a:latin typeface="IBM Plex Mono"/>
              </a:defRPr>
            </a:pPr>
            <a:r>
              <a:rPr>
                <a:latin typeface="IBM Plex Mono"/>
              </a:rPr>
              <a:t>React App</a:t>
            </a:r>
            <a:br/>
            <a:r>
              <a:t>5 role views</a:t>
            </a:r>
          </a:p>
        </p:txBody>
      </p:sp>
      <p:sp>
        <p:nvSpPr>
          <p:cNvPr id="9" name="Rounded Rectangle 8"/>
          <p:cNvSpPr/>
          <p:nvPr/>
        </p:nvSpPr>
        <p:spPr>
          <a:xfrm>
            <a:off x="2560320" y="1828800"/>
            <a:ext cx="1645920" cy="548640"/>
          </a:xfrm>
          <a:prstGeom prst="roundRect">
            <a:avLst>
              <a:gd name="adj" fmla="val 2000"/>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0" y="1901952"/>
            <a:ext cx="1645920" cy="457200"/>
          </a:xfrm>
          <a:prstGeom prst="rect">
            <a:avLst/>
          </a:prstGeom>
          <a:noFill/>
        </p:spPr>
        <p:txBody>
          <a:bodyPr wrap="square"/>
          <a:lstStyle/>
          <a:p>
            <a:pPr algn="ctr">
              <a:spcBef>
                <a:spcPts val="0"/>
              </a:spcBef>
              <a:spcAft>
                <a:spcPts val="0"/>
              </a:spcAft>
              <a:defRPr sz="1000" b="0">
                <a:solidFill>
                  <a:srgbClr val="FFFFFF"/>
                </a:solidFill>
                <a:latin typeface="IBM Plex Mono"/>
              </a:defRPr>
            </a:pPr>
            <a:r>
              <a:rPr>
                <a:latin typeface="IBM Plex Mono"/>
              </a:rPr>
              <a:t>API Gateway</a:t>
            </a:r>
            <a:br/>
            <a:r>
              <a:t>JWT + Rate Limit</a:t>
            </a:r>
          </a:p>
        </p:txBody>
      </p:sp>
      <p:cxnSp>
        <p:nvCxnSpPr>
          <p:cNvPr id="11" name="Connector 10"/>
          <p:cNvCxnSpPr/>
          <p:nvPr/>
        </p:nvCxnSpPr>
        <p:spPr>
          <a:xfrm>
            <a:off x="2103120" y="2103120"/>
            <a:ext cx="457200" cy="0"/>
          </a:xfrm>
          <a:prstGeom prst="line">
            <a:avLst/>
          </a:prstGeom>
          <a:ln w="19050">
            <a:solidFill>
              <a:srgbClr val="5B64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572000" y="1554480"/>
            <a:ext cx="1280160" cy="64008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600200"/>
            <a:ext cx="1280160" cy="54864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Identity</a:t>
            </a:r>
            <a:br/>
            <a:r>
              <a:t>RS256 JWT</a:t>
            </a:r>
          </a:p>
        </p:txBody>
      </p:sp>
      <p:sp>
        <p:nvSpPr>
          <p:cNvPr id="14" name="Rounded Rectangle 13"/>
          <p:cNvSpPr/>
          <p:nvPr/>
        </p:nvSpPr>
        <p:spPr>
          <a:xfrm>
            <a:off x="5989320" y="1554480"/>
            <a:ext cx="1280160" cy="64008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89320" y="1600200"/>
            <a:ext cx="1280160" cy="54864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Event</a:t>
            </a:r>
            <a:br/>
            <a:r>
              <a:t>Rules engine</a:t>
            </a:r>
          </a:p>
        </p:txBody>
      </p:sp>
      <p:sp>
        <p:nvSpPr>
          <p:cNvPr id="16" name="Rounded Rectangle 15"/>
          <p:cNvSpPr/>
          <p:nvPr/>
        </p:nvSpPr>
        <p:spPr>
          <a:xfrm>
            <a:off x="7406640" y="1554480"/>
            <a:ext cx="1280160" cy="64008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0" y="1600200"/>
            <a:ext cx="1280160" cy="54864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Submission</a:t>
            </a:r>
            <a:br/>
            <a:r>
              <a:t>JGit scan</a:t>
            </a:r>
          </a:p>
        </p:txBody>
      </p:sp>
      <p:sp>
        <p:nvSpPr>
          <p:cNvPr id="18" name="Rounded Rectangle 17"/>
          <p:cNvSpPr/>
          <p:nvPr/>
        </p:nvSpPr>
        <p:spPr>
          <a:xfrm>
            <a:off x="8823960" y="1554480"/>
            <a:ext cx="1280160" cy="640080"/>
          </a:xfrm>
          <a:prstGeom prst="roundRect">
            <a:avLst>
              <a:gd name="adj" fmla="val 2000"/>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23960" y="1600200"/>
            <a:ext cx="1280160" cy="548640"/>
          </a:xfrm>
          <a:prstGeom prst="rect">
            <a:avLst/>
          </a:prstGeom>
          <a:noFill/>
        </p:spPr>
        <p:txBody>
          <a:bodyPr wrap="square"/>
          <a:lstStyle/>
          <a:p>
            <a:pPr algn="ctr">
              <a:spcBef>
                <a:spcPts val="0"/>
              </a:spcBef>
              <a:spcAft>
                <a:spcPts val="0"/>
              </a:spcAft>
              <a:defRPr sz="900" b="0">
                <a:solidFill>
                  <a:srgbClr val="FFFFFF"/>
                </a:solidFill>
                <a:latin typeface="IBM Plex Mono"/>
              </a:defRPr>
            </a:pPr>
            <a:r>
              <a:rPr>
                <a:latin typeface="IBM Plex Mono"/>
              </a:rPr>
              <a:t>Judging</a:t>
            </a:r>
            <a:br/>
            <a:r>
              <a:t>Bayesian</a:t>
            </a:r>
          </a:p>
        </p:txBody>
      </p:sp>
      <p:sp>
        <p:nvSpPr>
          <p:cNvPr id="20" name="Rounded Rectangle 19"/>
          <p:cNvSpPr/>
          <p:nvPr/>
        </p:nvSpPr>
        <p:spPr>
          <a:xfrm>
            <a:off x="10241280" y="1554480"/>
            <a:ext cx="1280160" cy="64008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0" y="1600200"/>
            <a:ext cx="1280160" cy="54864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Voting</a:t>
            </a:r>
            <a:br/>
            <a:r>
              <a:t>Quadratic</a:t>
            </a:r>
          </a:p>
        </p:txBody>
      </p:sp>
      <p:cxnSp>
        <p:nvCxnSpPr>
          <p:cNvPr id="22" name="Connector 21"/>
          <p:cNvCxnSpPr/>
          <p:nvPr/>
        </p:nvCxnSpPr>
        <p:spPr>
          <a:xfrm flipV="1">
            <a:off x="4206240" y="1920240"/>
            <a:ext cx="365760" cy="182880"/>
          </a:xfrm>
          <a:prstGeom prst="line">
            <a:avLst/>
          </a:prstGeom>
          <a:ln w="19050">
            <a:solidFill>
              <a:srgbClr val="5B64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572000" y="2560320"/>
            <a:ext cx="1280160" cy="64008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2606040"/>
            <a:ext cx="1280160" cy="54864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Notification</a:t>
            </a:r>
            <a:br/>
            <a:r>
              <a:t>Email/In-app</a:t>
            </a:r>
          </a:p>
        </p:txBody>
      </p:sp>
      <p:sp>
        <p:nvSpPr>
          <p:cNvPr id="25" name="Rounded Rectangle 24"/>
          <p:cNvSpPr/>
          <p:nvPr/>
        </p:nvSpPr>
        <p:spPr>
          <a:xfrm>
            <a:off x="5989320" y="2560320"/>
            <a:ext cx="1280160" cy="64008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9320" y="2606040"/>
            <a:ext cx="1280160" cy="54864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Webhook</a:t>
            </a:r>
            <a:br/>
            <a:r>
              <a:t>HMAC-SHA256</a:t>
            </a:r>
          </a:p>
        </p:txBody>
      </p:sp>
      <p:sp>
        <p:nvSpPr>
          <p:cNvPr id="27" name="Rounded Rectangle 26"/>
          <p:cNvSpPr/>
          <p:nvPr/>
        </p:nvSpPr>
        <p:spPr>
          <a:xfrm>
            <a:off x="7406640" y="2560320"/>
            <a:ext cx="1280160" cy="64008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6640" y="2606040"/>
            <a:ext cx="1280160" cy="54864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Certificate</a:t>
            </a:r>
            <a:br/>
            <a:r>
              <a:t>Ed25519</a:t>
            </a:r>
          </a:p>
        </p:txBody>
      </p:sp>
      <p:sp>
        <p:nvSpPr>
          <p:cNvPr id="29" name="Rounded Rectangle 28"/>
          <p:cNvSpPr/>
          <p:nvPr/>
        </p:nvSpPr>
        <p:spPr>
          <a:xfrm>
            <a:off x="8823960" y="2560320"/>
            <a:ext cx="1280160" cy="64008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23960" y="2606040"/>
            <a:ext cx="1280160" cy="54864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Observability</a:t>
            </a:r>
            <a:br/>
            <a:r>
              <a:t>Audit log</a:t>
            </a:r>
          </a:p>
        </p:txBody>
      </p:sp>
      <p:sp>
        <p:nvSpPr>
          <p:cNvPr id="31" name="TextBox 30"/>
          <p:cNvSpPr txBox="1"/>
          <p:nvPr/>
        </p:nvSpPr>
        <p:spPr>
          <a:xfrm>
            <a:off x="4572000" y="1234440"/>
            <a:ext cx="2743200" cy="274320"/>
          </a:xfrm>
          <a:prstGeom prst="rect">
            <a:avLst/>
          </a:prstGeom>
          <a:noFill/>
        </p:spPr>
        <p:txBody>
          <a:bodyPr wrap="square"/>
          <a:lstStyle/>
          <a:p>
            <a:pPr algn="l">
              <a:spcBef>
                <a:spcPts val="0"/>
              </a:spcBef>
              <a:spcAft>
                <a:spcPts val="0"/>
              </a:spcAft>
              <a:defRPr sz="900" b="1">
                <a:solidFill>
                  <a:srgbClr val="5B6470"/>
                </a:solidFill>
                <a:latin typeface="IBM Plex Mono"/>
              </a:defRPr>
            </a:pPr>
            <a:r>
              <a:rPr>
                <a:latin typeface="IBM Plex Mono"/>
              </a:rPr>
              <a:t>CORE SERVICES</a:t>
            </a:r>
          </a:p>
        </p:txBody>
      </p:sp>
      <p:sp>
        <p:nvSpPr>
          <p:cNvPr id="32" name="TextBox 31"/>
          <p:cNvSpPr txBox="1"/>
          <p:nvPr/>
        </p:nvSpPr>
        <p:spPr>
          <a:xfrm>
            <a:off x="4572000" y="2331720"/>
            <a:ext cx="2743200" cy="274320"/>
          </a:xfrm>
          <a:prstGeom prst="rect">
            <a:avLst/>
          </a:prstGeom>
          <a:noFill/>
        </p:spPr>
        <p:txBody>
          <a:bodyPr wrap="square"/>
          <a:lstStyle/>
          <a:p>
            <a:pPr algn="l">
              <a:spcBef>
                <a:spcPts val="0"/>
              </a:spcBef>
              <a:spcAft>
                <a:spcPts val="0"/>
              </a:spcAft>
              <a:defRPr sz="900" b="1">
                <a:solidFill>
                  <a:srgbClr val="5B6470"/>
                </a:solidFill>
                <a:latin typeface="IBM Plex Mono"/>
              </a:defRPr>
            </a:pPr>
            <a:r>
              <a:rPr>
                <a:latin typeface="IBM Plex Mono"/>
              </a:rPr>
              <a:t>ASYNC WORKERS</a:t>
            </a:r>
          </a:p>
        </p:txBody>
      </p:sp>
      <p:sp>
        <p:nvSpPr>
          <p:cNvPr id="33" name="Rounded Rectangle 32"/>
          <p:cNvSpPr/>
          <p:nvPr/>
        </p:nvSpPr>
        <p:spPr>
          <a:xfrm>
            <a:off x="1828800" y="3931920"/>
            <a:ext cx="2194560" cy="64008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828800" y="3977640"/>
            <a:ext cx="2194560" cy="548640"/>
          </a:xfrm>
          <a:prstGeom prst="rect">
            <a:avLst/>
          </a:prstGeom>
          <a:noFill/>
        </p:spPr>
        <p:txBody>
          <a:bodyPr wrap="square"/>
          <a:lstStyle/>
          <a:p>
            <a:pPr algn="ctr">
              <a:spcBef>
                <a:spcPts val="0"/>
              </a:spcBef>
              <a:spcAft>
                <a:spcPts val="0"/>
              </a:spcAft>
              <a:defRPr sz="1000" b="0">
                <a:solidFill>
                  <a:srgbClr val="0E1116"/>
                </a:solidFill>
                <a:latin typeface="IBM Plex Mono"/>
              </a:defRPr>
            </a:pPr>
            <a:r>
              <a:rPr>
                <a:latin typeface="IBM Plex Mono"/>
              </a:rPr>
              <a:t>PostgreSQL 15</a:t>
            </a:r>
            <a:br/>
            <a:r>
              <a:t>Multi-schema + RLS</a:t>
            </a:r>
          </a:p>
        </p:txBody>
      </p:sp>
      <p:sp>
        <p:nvSpPr>
          <p:cNvPr id="35" name="Rounded Rectangle 34"/>
          <p:cNvSpPr/>
          <p:nvPr/>
        </p:nvSpPr>
        <p:spPr>
          <a:xfrm>
            <a:off x="4297680" y="3931920"/>
            <a:ext cx="2194560" cy="64008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97680" y="3977640"/>
            <a:ext cx="2194560" cy="548640"/>
          </a:xfrm>
          <a:prstGeom prst="rect">
            <a:avLst/>
          </a:prstGeom>
          <a:noFill/>
        </p:spPr>
        <p:txBody>
          <a:bodyPr wrap="square"/>
          <a:lstStyle/>
          <a:p>
            <a:pPr algn="ctr">
              <a:spcBef>
                <a:spcPts val="0"/>
              </a:spcBef>
              <a:spcAft>
                <a:spcPts val="0"/>
              </a:spcAft>
              <a:defRPr sz="1000" b="0">
                <a:solidFill>
                  <a:srgbClr val="0E1116"/>
                </a:solidFill>
                <a:latin typeface="IBM Plex Mono"/>
              </a:defRPr>
            </a:pPr>
            <a:r>
              <a:rPr>
                <a:latin typeface="IBM Plex Mono"/>
              </a:rPr>
              <a:t>Redis 7</a:t>
            </a:r>
            <a:br/>
            <a:r>
              <a:t>Locks &amp; rate limits</a:t>
            </a:r>
          </a:p>
        </p:txBody>
      </p:sp>
      <p:sp>
        <p:nvSpPr>
          <p:cNvPr id="37" name="Rounded Rectangle 36"/>
          <p:cNvSpPr/>
          <p:nvPr/>
        </p:nvSpPr>
        <p:spPr>
          <a:xfrm>
            <a:off x="6766560" y="3931920"/>
            <a:ext cx="2194560" cy="64008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66560" y="3977640"/>
            <a:ext cx="2194560" cy="548640"/>
          </a:xfrm>
          <a:prstGeom prst="rect">
            <a:avLst/>
          </a:prstGeom>
          <a:noFill/>
        </p:spPr>
        <p:txBody>
          <a:bodyPr wrap="square"/>
          <a:lstStyle/>
          <a:p>
            <a:pPr algn="ctr">
              <a:spcBef>
                <a:spcPts val="0"/>
              </a:spcBef>
              <a:spcAft>
                <a:spcPts val="0"/>
              </a:spcAft>
              <a:defRPr sz="1000" b="0">
                <a:solidFill>
                  <a:srgbClr val="0E1116"/>
                </a:solidFill>
                <a:latin typeface="IBM Plex Mono"/>
              </a:defRPr>
            </a:pPr>
            <a:r>
              <a:rPr>
                <a:latin typeface="IBM Plex Mono"/>
              </a:rPr>
              <a:t>RabbitMQ</a:t>
            </a:r>
            <a:br/>
            <a:r>
              <a:t>Topic exchange</a:t>
            </a:r>
          </a:p>
        </p:txBody>
      </p:sp>
      <p:sp>
        <p:nvSpPr>
          <p:cNvPr id="39" name="Rounded Rectangle 38"/>
          <p:cNvSpPr/>
          <p:nvPr/>
        </p:nvSpPr>
        <p:spPr>
          <a:xfrm>
            <a:off x="9235440" y="3931920"/>
            <a:ext cx="2194560" cy="64008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35440" y="3977640"/>
            <a:ext cx="2194560" cy="548640"/>
          </a:xfrm>
          <a:prstGeom prst="rect">
            <a:avLst/>
          </a:prstGeom>
          <a:noFill/>
        </p:spPr>
        <p:txBody>
          <a:bodyPr wrap="square"/>
          <a:lstStyle/>
          <a:p>
            <a:pPr algn="ctr">
              <a:spcBef>
                <a:spcPts val="0"/>
              </a:spcBef>
              <a:spcAft>
                <a:spcPts val="0"/>
              </a:spcAft>
              <a:defRPr sz="1000" b="0">
                <a:solidFill>
                  <a:srgbClr val="0E1116"/>
                </a:solidFill>
                <a:latin typeface="IBM Plex Mono"/>
              </a:defRPr>
            </a:pPr>
            <a:r>
              <a:rPr>
                <a:latin typeface="IBM Plex Mono"/>
              </a:rPr>
              <a:t>MinIO</a:t>
            </a:r>
            <a:br/>
            <a:r>
              <a:t>S3 storage</a:t>
            </a:r>
          </a:p>
        </p:txBody>
      </p:sp>
      <p:sp>
        <p:nvSpPr>
          <p:cNvPr id="41" name="TextBox 40"/>
          <p:cNvSpPr txBox="1"/>
          <p:nvPr/>
        </p:nvSpPr>
        <p:spPr>
          <a:xfrm>
            <a:off x="1828800" y="3657600"/>
            <a:ext cx="2743200" cy="274320"/>
          </a:xfrm>
          <a:prstGeom prst="rect">
            <a:avLst/>
          </a:prstGeom>
          <a:noFill/>
        </p:spPr>
        <p:txBody>
          <a:bodyPr wrap="square"/>
          <a:lstStyle/>
          <a:p>
            <a:pPr algn="l">
              <a:spcBef>
                <a:spcPts val="0"/>
              </a:spcBef>
              <a:spcAft>
                <a:spcPts val="0"/>
              </a:spcAft>
              <a:defRPr sz="900" b="1">
                <a:solidFill>
                  <a:srgbClr val="5B6470"/>
                </a:solidFill>
                <a:latin typeface="IBM Plex Mono"/>
              </a:defRPr>
            </a:pPr>
            <a:r>
              <a:rPr>
                <a:latin typeface="IBM Plex Mono"/>
              </a:rPr>
              <a:t>INFRASTRUCTURE</a:t>
            </a:r>
          </a:p>
        </p:txBody>
      </p:sp>
      <p:cxnSp>
        <p:nvCxnSpPr>
          <p:cNvPr id="42" name="Connector 41"/>
          <p:cNvCxnSpPr/>
          <p:nvPr/>
        </p:nvCxnSpPr>
        <p:spPr>
          <a:xfrm>
            <a:off x="6858000" y="2194560"/>
            <a:ext cx="0" cy="1737360"/>
          </a:xfrm>
          <a:prstGeom prst="line">
            <a:avLst/>
          </a:prstGeom>
          <a:ln w="19050">
            <a:solidFill>
              <a:srgbClr val="D9D7D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772400" y="3200400"/>
            <a:ext cx="0" cy="731520"/>
          </a:xfrm>
          <a:prstGeom prst="line">
            <a:avLst/>
          </a:prstGeom>
          <a:ln w="19050">
            <a:solidFill>
              <a:srgbClr val="D9D7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863840" y="3474720"/>
            <a:ext cx="1371600" cy="274320"/>
          </a:xfrm>
          <a:prstGeom prst="rect">
            <a:avLst/>
          </a:prstGeom>
          <a:noFill/>
        </p:spPr>
        <p:txBody>
          <a:bodyPr wrap="square"/>
          <a:lstStyle/>
          <a:p>
            <a:pPr algn="l">
              <a:spcBef>
                <a:spcPts val="0"/>
              </a:spcBef>
              <a:spcAft>
                <a:spcPts val="0"/>
              </a:spcAft>
              <a:defRPr sz="800" b="0">
                <a:solidFill>
                  <a:srgbClr val="5B6470"/>
                </a:solidFill>
                <a:latin typeface="IBM Plex Mono"/>
              </a:defRPr>
            </a:pPr>
            <a:r>
              <a:rPr>
                <a:latin typeface="IBM Plex Mono"/>
              </a:rPr>
              <a:t>consume</a:t>
            </a:r>
          </a:p>
        </p:txBody>
      </p:sp>
      <p:sp>
        <p:nvSpPr>
          <p:cNvPr id="45" name="TextBox 44"/>
          <p:cNvSpPr txBox="1"/>
          <p:nvPr/>
        </p:nvSpPr>
        <p:spPr>
          <a:xfrm>
            <a:off x="8229600" y="4846320"/>
            <a:ext cx="3200400" cy="457200"/>
          </a:xfrm>
          <a:prstGeom prst="rect">
            <a:avLst/>
          </a:prstGeom>
          <a:noFill/>
        </p:spPr>
        <p:txBody>
          <a:bodyPr wrap="square"/>
          <a:lstStyle/>
          <a:p>
            <a:pPr algn="l">
              <a:spcBef>
                <a:spcPts val="0"/>
              </a:spcBef>
              <a:spcAft>
                <a:spcPts val="0"/>
              </a:spcAft>
              <a:defRPr sz="1000" b="0">
                <a:solidFill>
                  <a:srgbClr val="5B6470"/>
                </a:solidFill>
                <a:latin typeface="IBM Plex Mono"/>
              </a:defRPr>
            </a:pPr>
            <a:r>
              <a:rPr>
                <a:latin typeface="IBM Plex Mono"/>
              </a:rPr>
              <a:t>Resilience4j circuit breakers between Judging ↔ Submission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640080" y="548640"/>
            <a:ext cx="10911535" cy="457200"/>
          </a:xfrm>
          <a:prstGeom prst="rect">
            <a:avLst/>
          </a:prstGeom>
          <a:noFill/>
        </p:spPr>
        <p:txBody>
          <a:bodyPr wrap="square"/>
          <a:lstStyle/>
          <a:p>
            <a:pPr algn="l">
              <a:spcBef>
                <a:spcPts val="0"/>
              </a:spcBef>
              <a:spcAft>
                <a:spcPts val="0"/>
              </a:spcAft>
              <a:defRPr sz="2800" b="1">
                <a:solidFill>
                  <a:srgbClr val="0E1116"/>
                </a:solidFill>
                <a:latin typeface="IBM Plex Sans"/>
              </a:defRPr>
            </a:pPr>
            <a:r>
              <a:rPr>
                <a:latin typeface="IBM Plex Sans"/>
              </a:rPr>
              <a:t>Single Postgres, schema-per-service: simplicity without coupling</a:t>
            </a:r>
          </a:p>
        </p:txBody>
      </p:sp>
      <p:sp>
        <p:nvSpPr>
          <p:cNvPr id="3" name="TextBox 2"/>
          <p:cNvSpPr txBox="1"/>
          <p:nvPr/>
        </p:nvSpPr>
        <p:spPr>
          <a:xfrm>
            <a:off x="11430000" y="6400800"/>
            <a:ext cx="548640" cy="274320"/>
          </a:xfrm>
          <a:prstGeom prst="rect">
            <a:avLst/>
          </a:prstGeom>
          <a:noFill/>
        </p:spPr>
        <p:txBody>
          <a:bodyPr wrap="square"/>
          <a:lstStyle/>
          <a:p>
            <a:pPr algn="r">
              <a:spcBef>
                <a:spcPts val="0"/>
              </a:spcBef>
              <a:spcAft>
                <a:spcPts val="0"/>
              </a:spcAft>
              <a:defRPr sz="1000" b="0">
                <a:solidFill>
                  <a:srgbClr val="5B6470"/>
                </a:solidFill>
                <a:latin typeface="IBM Plex Sans"/>
              </a:defRPr>
            </a:pPr>
            <a:r>
              <a:rPr>
                <a:latin typeface="IBM Plex Sans"/>
              </a:rPr>
              <a:t>7</a:t>
            </a:r>
          </a:p>
        </p:txBody>
      </p:sp>
      <p:sp>
        <p:nvSpPr>
          <p:cNvPr id="4" name="TextBox 3"/>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
        <p:nvSpPr>
          <p:cNvPr id="5" name="TextBox 4"/>
          <p:cNvSpPr txBox="1"/>
          <p:nvPr/>
        </p:nvSpPr>
        <p:spPr>
          <a:xfrm>
            <a:off x="640080" y="1371600"/>
            <a:ext cx="4572000" cy="365760"/>
          </a:xfrm>
          <a:prstGeom prst="rect">
            <a:avLst/>
          </a:prstGeom>
          <a:noFill/>
        </p:spPr>
        <p:txBody>
          <a:bodyPr wrap="square"/>
          <a:lstStyle/>
          <a:p>
            <a:pPr algn="l">
              <a:spcBef>
                <a:spcPts val="0"/>
              </a:spcBef>
              <a:spcAft>
                <a:spcPts val="0"/>
              </a:spcAft>
              <a:defRPr sz="1400" b="1">
                <a:solidFill>
                  <a:srgbClr val="0E1116"/>
                </a:solidFill>
                <a:latin typeface="IBM Plex Sans"/>
              </a:defRPr>
            </a:pPr>
            <a:r>
              <a:rPr>
                <a:latin typeface="IBM Plex Sans"/>
              </a:rPr>
              <a:t>PostgreSQL schemas</a:t>
            </a:r>
          </a:p>
        </p:txBody>
      </p:sp>
      <p:sp>
        <p:nvSpPr>
          <p:cNvPr id="6" name="Rounded Rectangle 5"/>
          <p:cNvSpPr/>
          <p:nvPr/>
        </p:nvSpPr>
        <p:spPr>
          <a:xfrm>
            <a:off x="640080" y="1828800"/>
            <a:ext cx="1645920" cy="347472"/>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74520"/>
            <a:ext cx="1645920" cy="274320"/>
          </a:xfrm>
          <a:prstGeom prst="rect">
            <a:avLst/>
          </a:prstGeom>
          <a:noFill/>
        </p:spPr>
        <p:txBody>
          <a:bodyPr wrap="square"/>
          <a:lstStyle/>
          <a:p>
            <a:pPr algn="ctr">
              <a:spcBef>
                <a:spcPts val="0"/>
              </a:spcBef>
              <a:spcAft>
                <a:spcPts val="0"/>
              </a:spcAft>
              <a:defRPr sz="1200" b="0">
                <a:solidFill>
                  <a:srgbClr val="0E1116"/>
                </a:solidFill>
                <a:latin typeface="IBM Plex Mono"/>
              </a:defRPr>
            </a:pPr>
            <a:r>
              <a:rPr>
                <a:latin typeface="IBM Plex Mono"/>
              </a:rPr>
              <a:t>auth</a:t>
            </a:r>
          </a:p>
        </p:txBody>
      </p:sp>
      <p:sp>
        <p:nvSpPr>
          <p:cNvPr id="8" name="Rounded Rectangle 7"/>
          <p:cNvSpPr/>
          <p:nvPr/>
        </p:nvSpPr>
        <p:spPr>
          <a:xfrm>
            <a:off x="2468880" y="1828800"/>
            <a:ext cx="1645920" cy="347472"/>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68880" y="1874520"/>
            <a:ext cx="1645920" cy="274320"/>
          </a:xfrm>
          <a:prstGeom prst="rect">
            <a:avLst/>
          </a:prstGeom>
          <a:noFill/>
        </p:spPr>
        <p:txBody>
          <a:bodyPr wrap="square"/>
          <a:lstStyle/>
          <a:p>
            <a:pPr algn="ctr">
              <a:spcBef>
                <a:spcPts val="0"/>
              </a:spcBef>
              <a:spcAft>
                <a:spcPts val="0"/>
              </a:spcAft>
              <a:defRPr sz="1200" b="0">
                <a:solidFill>
                  <a:srgbClr val="0E1116"/>
                </a:solidFill>
                <a:latin typeface="IBM Plex Mono"/>
              </a:defRPr>
            </a:pPr>
            <a:r>
              <a:rPr>
                <a:latin typeface="IBM Plex Mono"/>
              </a:rPr>
              <a:t>events</a:t>
            </a:r>
          </a:p>
        </p:txBody>
      </p:sp>
      <p:sp>
        <p:nvSpPr>
          <p:cNvPr id="10" name="Rounded Rectangle 9"/>
          <p:cNvSpPr/>
          <p:nvPr/>
        </p:nvSpPr>
        <p:spPr>
          <a:xfrm>
            <a:off x="4297680" y="1828800"/>
            <a:ext cx="1645920" cy="347472"/>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1874520"/>
            <a:ext cx="1645920" cy="274320"/>
          </a:xfrm>
          <a:prstGeom prst="rect">
            <a:avLst/>
          </a:prstGeom>
          <a:noFill/>
        </p:spPr>
        <p:txBody>
          <a:bodyPr wrap="square"/>
          <a:lstStyle/>
          <a:p>
            <a:pPr algn="ctr">
              <a:spcBef>
                <a:spcPts val="0"/>
              </a:spcBef>
              <a:spcAft>
                <a:spcPts val="0"/>
              </a:spcAft>
              <a:defRPr sz="1200" b="0">
                <a:solidFill>
                  <a:srgbClr val="0E1116"/>
                </a:solidFill>
                <a:latin typeface="IBM Plex Mono"/>
              </a:defRPr>
            </a:pPr>
            <a:r>
              <a:rPr>
                <a:latin typeface="IBM Plex Mono"/>
              </a:rPr>
              <a:t>submissions</a:t>
            </a:r>
          </a:p>
        </p:txBody>
      </p:sp>
      <p:sp>
        <p:nvSpPr>
          <p:cNvPr id="12" name="Rounded Rectangle 11"/>
          <p:cNvSpPr/>
          <p:nvPr/>
        </p:nvSpPr>
        <p:spPr>
          <a:xfrm>
            <a:off x="640080" y="2286000"/>
            <a:ext cx="1645920" cy="347472"/>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31720"/>
            <a:ext cx="1645920" cy="274320"/>
          </a:xfrm>
          <a:prstGeom prst="rect">
            <a:avLst/>
          </a:prstGeom>
          <a:noFill/>
        </p:spPr>
        <p:txBody>
          <a:bodyPr wrap="square"/>
          <a:lstStyle/>
          <a:p>
            <a:pPr algn="ctr">
              <a:spcBef>
                <a:spcPts val="0"/>
              </a:spcBef>
              <a:spcAft>
                <a:spcPts val="0"/>
              </a:spcAft>
              <a:defRPr sz="1200" b="0">
                <a:solidFill>
                  <a:srgbClr val="0E1116"/>
                </a:solidFill>
                <a:latin typeface="IBM Plex Mono"/>
              </a:defRPr>
            </a:pPr>
            <a:r>
              <a:rPr>
                <a:latin typeface="IBM Plex Mono"/>
              </a:rPr>
              <a:t>judging</a:t>
            </a:r>
          </a:p>
        </p:txBody>
      </p:sp>
      <p:sp>
        <p:nvSpPr>
          <p:cNvPr id="14" name="Rounded Rectangle 13"/>
          <p:cNvSpPr/>
          <p:nvPr/>
        </p:nvSpPr>
        <p:spPr>
          <a:xfrm>
            <a:off x="2468880" y="2286000"/>
            <a:ext cx="1645920" cy="347472"/>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68880" y="2331720"/>
            <a:ext cx="1645920" cy="274320"/>
          </a:xfrm>
          <a:prstGeom prst="rect">
            <a:avLst/>
          </a:prstGeom>
          <a:noFill/>
        </p:spPr>
        <p:txBody>
          <a:bodyPr wrap="square"/>
          <a:lstStyle/>
          <a:p>
            <a:pPr algn="ctr">
              <a:spcBef>
                <a:spcPts val="0"/>
              </a:spcBef>
              <a:spcAft>
                <a:spcPts val="0"/>
              </a:spcAft>
              <a:defRPr sz="1200" b="0">
                <a:solidFill>
                  <a:srgbClr val="0E1116"/>
                </a:solidFill>
                <a:latin typeface="IBM Plex Mono"/>
              </a:defRPr>
            </a:pPr>
            <a:r>
              <a:rPr>
                <a:latin typeface="IBM Plex Mono"/>
              </a:rPr>
              <a:t>voting</a:t>
            </a:r>
          </a:p>
        </p:txBody>
      </p:sp>
      <p:sp>
        <p:nvSpPr>
          <p:cNvPr id="16" name="Rounded Rectangle 15"/>
          <p:cNvSpPr/>
          <p:nvPr/>
        </p:nvSpPr>
        <p:spPr>
          <a:xfrm>
            <a:off x="4297680" y="2286000"/>
            <a:ext cx="1645920" cy="347472"/>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0" y="2331720"/>
            <a:ext cx="1645920" cy="274320"/>
          </a:xfrm>
          <a:prstGeom prst="rect">
            <a:avLst/>
          </a:prstGeom>
          <a:noFill/>
        </p:spPr>
        <p:txBody>
          <a:bodyPr wrap="square"/>
          <a:lstStyle/>
          <a:p>
            <a:pPr algn="ctr">
              <a:spcBef>
                <a:spcPts val="0"/>
              </a:spcBef>
              <a:spcAft>
                <a:spcPts val="0"/>
              </a:spcAft>
              <a:defRPr sz="1200" b="0">
                <a:solidFill>
                  <a:srgbClr val="0E1116"/>
                </a:solidFill>
                <a:latin typeface="IBM Plex Mono"/>
              </a:defRPr>
            </a:pPr>
            <a:r>
              <a:rPr>
                <a:latin typeface="IBM Plex Mono"/>
              </a:rPr>
              <a:t>audit</a:t>
            </a:r>
          </a:p>
        </p:txBody>
      </p:sp>
      <p:sp>
        <p:nvSpPr>
          <p:cNvPr id="18" name="TextBox 17"/>
          <p:cNvSpPr txBox="1"/>
          <p:nvPr/>
        </p:nvSpPr>
        <p:spPr>
          <a:xfrm>
            <a:off x="640080" y="2926080"/>
            <a:ext cx="4572000" cy="731520"/>
          </a:xfrm>
          <a:prstGeom prst="rect">
            <a:avLst/>
          </a:prstGeom>
          <a:noFill/>
        </p:spPr>
        <p:txBody>
          <a:bodyPr wrap="square"/>
          <a:lstStyle/>
          <a:p>
            <a:pPr algn="l">
              <a:spcBef>
                <a:spcPts val="0"/>
              </a:spcBef>
              <a:spcAft>
                <a:spcPts val="0"/>
              </a:spcAft>
              <a:defRPr sz="1300" b="0">
                <a:solidFill>
                  <a:srgbClr val="5B6470"/>
                </a:solidFill>
                <a:latin typeface="IBM Plex Sans"/>
              </a:defRPr>
            </a:pPr>
            <a:r>
              <a:rPr>
                <a:latin typeface="IBM Plex Sans"/>
              </a:rPr>
              <a:t>One host, one Postgres instance. Each service owns its schema.</a:t>
            </a:r>
            <a:br/>
            <a:r>
              <a:t>Cross-service joins are impossible by design.</a:t>
            </a:r>
            <a:br/>
            <a:r>
              <a:t>Flyway manages migrations per schema independently.</a:t>
            </a:r>
          </a:p>
        </p:txBody>
      </p:sp>
      <p:sp>
        <p:nvSpPr>
          <p:cNvPr id="19" name="TextBox 18"/>
          <p:cNvSpPr txBox="1"/>
          <p:nvPr/>
        </p:nvSpPr>
        <p:spPr>
          <a:xfrm>
            <a:off x="6400800" y="1371600"/>
            <a:ext cx="4572000" cy="365760"/>
          </a:xfrm>
          <a:prstGeom prst="rect">
            <a:avLst/>
          </a:prstGeom>
          <a:noFill/>
        </p:spPr>
        <p:txBody>
          <a:bodyPr wrap="square"/>
          <a:lstStyle/>
          <a:p>
            <a:pPr algn="l">
              <a:spcBef>
                <a:spcPts val="0"/>
              </a:spcBef>
              <a:spcAft>
                <a:spcPts val="0"/>
              </a:spcAft>
              <a:defRPr sz="1400" b="1">
                <a:solidFill>
                  <a:srgbClr val="0E1116"/>
                </a:solidFill>
                <a:latin typeface="IBM Plex Sans"/>
              </a:defRPr>
            </a:pPr>
            <a:r>
              <a:rPr>
                <a:latin typeface="IBM Plex Sans"/>
              </a:rPr>
              <a:t>RabbitMQ topic exchange</a:t>
            </a:r>
          </a:p>
        </p:txBody>
      </p:sp>
      <p:sp>
        <p:nvSpPr>
          <p:cNvPr id="20" name="Rounded Rectangle 19"/>
          <p:cNvSpPr/>
          <p:nvPr/>
        </p:nvSpPr>
        <p:spPr>
          <a:xfrm>
            <a:off x="6400800" y="1920240"/>
            <a:ext cx="2011680" cy="274320"/>
          </a:xfrm>
          <a:prstGeom prst="roundRect">
            <a:avLst>
              <a:gd name="adj" fmla="val 2000"/>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1947672"/>
            <a:ext cx="2011680" cy="228600"/>
          </a:xfrm>
          <a:prstGeom prst="rect">
            <a:avLst/>
          </a:prstGeom>
          <a:noFill/>
        </p:spPr>
        <p:txBody>
          <a:bodyPr wrap="square"/>
          <a:lstStyle/>
          <a:p>
            <a:pPr algn="ctr">
              <a:spcBef>
                <a:spcPts val="0"/>
              </a:spcBef>
              <a:spcAft>
                <a:spcPts val="0"/>
              </a:spcAft>
              <a:defRPr sz="900" b="0">
                <a:solidFill>
                  <a:srgbClr val="FFFFFF"/>
                </a:solidFill>
                <a:latin typeface="IBM Plex Mono"/>
              </a:defRPr>
            </a:pPr>
            <a:r>
              <a:rPr>
                <a:latin typeface="IBM Plex Mono"/>
              </a:rPr>
              <a:t>dogfood.audit</a:t>
            </a:r>
          </a:p>
        </p:txBody>
      </p:sp>
      <p:sp>
        <p:nvSpPr>
          <p:cNvPr id="22" name="Rounded Rectangle 21"/>
          <p:cNvSpPr/>
          <p:nvPr/>
        </p:nvSpPr>
        <p:spPr>
          <a:xfrm>
            <a:off x="6400800" y="2267712"/>
            <a:ext cx="2011680" cy="274320"/>
          </a:xfrm>
          <a:prstGeom prst="roundRect">
            <a:avLst>
              <a:gd name="adj" fmla="val 2000"/>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295144"/>
            <a:ext cx="2011680" cy="228600"/>
          </a:xfrm>
          <a:prstGeom prst="rect">
            <a:avLst/>
          </a:prstGeom>
          <a:noFill/>
        </p:spPr>
        <p:txBody>
          <a:bodyPr wrap="square"/>
          <a:lstStyle/>
          <a:p>
            <a:pPr algn="ctr">
              <a:spcBef>
                <a:spcPts val="0"/>
              </a:spcBef>
              <a:spcAft>
                <a:spcPts val="0"/>
              </a:spcAft>
              <a:defRPr sz="900" b="0">
                <a:solidFill>
                  <a:srgbClr val="FFFFFF"/>
                </a:solidFill>
                <a:latin typeface="IBM Plex Mono"/>
              </a:defRPr>
            </a:pPr>
            <a:r>
              <a:rPr>
                <a:latin typeface="IBM Plex Mono"/>
              </a:rPr>
              <a:t>dogfood.scores</a:t>
            </a:r>
          </a:p>
        </p:txBody>
      </p:sp>
      <p:sp>
        <p:nvSpPr>
          <p:cNvPr id="24" name="Rounded Rectangle 23"/>
          <p:cNvSpPr/>
          <p:nvPr/>
        </p:nvSpPr>
        <p:spPr>
          <a:xfrm>
            <a:off x="6400800" y="2615184"/>
            <a:ext cx="2011680" cy="274320"/>
          </a:xfrm>
          <a:prstGeom prst="roundRect">
            <a:avLst>
              <a:gd name="adj" fmla="val 2000"/>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2642616"/>
            <a:ext cx="2011680" cy="228600"/>
          </a:xfrm>
          <a:prstGeom prst="rect">
            <a:avLst/>
          </a:prstGeom>
          <a:noFill/>
        </p:spPr>
        <p:txBody>
          <a:bodyPr wrap="square"/>
          <a:lstStyle/>
          <a:p>
            <a:pPr algn="ctr">
              <a:spcBef>
                <a:spcPts val="0"/>
              </a:spcBef>
              <a:spcAft>
                <a:spcPts val="0"/>
              </a:spcAft>
              <a:defRPr sz="900" b="0">
                <a:solidFill>
                  <a:srgbClr val="FFFFFF"/>
                </a:solidFill>
                <a:latin typeface="IBM Plex Mono"/>
              </a:defRPr>
            </a:pPr>
            <a:r>
              <a:rPr>
                <a:latin typeface="IBM Plex Mono"/>
              </a:rPr>
              <a:t>dogfood.webhooks</a:t>
            </a:r>
          </a:p>
        </p:txBody>
      </p:sp>
      <p:sp>
        <p:nvSpPr>
          <p:cNvPr id="26" name="Rounded Rectangle 25"/>
          <p:cNvSpPr/>
          <p:nvPr/>
        </p:nvSpPr>
        <p:spPr>
          <a:xfrm>
            <a:off x="6400800" y="2962656"/>
            <a:ext cx="2011680" cy="274320"/>
          </a:xfrm>
          <a:prstGeom prst="roundRect">
            <a:avLst>
              <a:gd name="adj" fmla="val 2000"/>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2990088"/>
            <a:ext cx="2011680" cy="228600"/>
          </a:xfrm>
          <a:prstGeom prst="rect">
            <a:avLst/>
          </a:prstGeom>
          <a:noFill/>
        </p:spPr>
        <p:txBody>
          <a:bodyPr wrap="square"/>
          <a:lstStyle/>
          <a:p>
            <a:pPr algn="ctr">
              <a:spcBef>
                <a:spcPts val="0"/>
              </a:spcBef>
              <a:spcAft>
                <a:spcPts val="0"/>
              </a:spcAft>
              <a:defRPr sz="900" b="0">
                <a:solidFill>
                  <a:srgbClr val="FFFFFF"/>
                </a:solidFill>
                <a:latin typeface="IBM Plex Mono"/>
              </a:defRPr>
            </a:pPr>
            <a:r>
              <a:rPr>
                <a:latin typeface="IBM Plex Mono"/>
              </a:rPr>
              <a:t>dogfood.notifications</a:t>
            </a:r>
          </a:p>
        </p:txBody>
      </p:sp>
      <p:sp>
        <p:nvSpPr>
          <p:cNvPr id="28" name="Rounded Rectangle 27"/>
          <p:cNvSpPr/>
          <p:nvPr/>
        </p:nvSpPr>
        <p:spPr>
          <a:xfrm>
            <a:off x="6400800" y="3310128"/>
            <a:ext cx="2011680" cy="274320"/>
          </a:xfrm>
          <a:prstGeom prst="roundRect">
            <a:avLst>
              <a:gd name="adj" fmla="val 2000"/>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337560"/>
            <a:ext cx="2011680" cy="228600"/>
          </a:xfrm>
          <a:prstGeom prst="rect">
            <a:avLst/>
          </a:prstGeom>
          <a:noFill/>
        </p:spPr>
        <p:txBody>
          <a:bodyPr wrap="square"/>
          <a:lstStyle/>
          <a:p>
            <a:pPr algn="ctr">
              <a:spcBef>
                <a:spcPts val="0"/>
              </a:spcBef>
              <a:spcAft>
                <a:spcPts val="0"/>
              </a:spcAft>
              <a:defRPr sz="900" b="0">
                <a:solidFill>
                  <a:srgbClr val="FFFFFF"/>
                </a:solidFill>
                <a:latin typeface="IBM Plex Mono"/>
              </a:defRPr>
            </a:pPr>
            <a:r>
              <a:rPr>
                <a:latin typeface="IBM Plex Mono"/>
              </a:rPr>
              <a:t>dogfood.certificates</a:t>
            </a:r>
          </a:p>
        </p:txBody>
      </p:sp>
      <p:sp>
        <p:nvSpPr>
          <p:cNvPr id="30" name="Rounded Rectangle 29"/>
          <p:cNvSpPr/>
          <p:nvPr/>
        </p:nvSpPr>
        <p:spPr>
          <a:xfrm>
            <a:off x="8961120" y="1920240"/>
            <a:ext cx="2560320" cy="27432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0" y="1947672"/>
            <a:ext cx="2560320" cy="22860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score.normalization</a:t>
            </a:r>
          </a:p>
        </p:txBody>
      </p:sp>
      <p:sp>
        <p:nvSpPr>
          <p:cNvPr id="32" name="Rounded Rectangle 31"/>
          <p:cNvSpPr/>
          <p:nvPr/>
        </p:nvSpPr>
        <p:spPr>
          <a:xfrm>
            <a:off x="8961120" y="2267712"/>
            <a:ext cx="2560320" cy="27432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0" y="2295144"/>
            <a:ext cx="2560320" cy="22860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webhook.delivery</a:t>
            </a:r>
          </a:p>
        </p:txBody>
      </p:sp>
      <p:sp>
        <p:nvSpPr>
          <p:cNvPr id="34" name="Rounded Rectangle 33"/>
          <p:cNvSpPr/>
          <p:nvPr/>
        </p:nvSpPr>
        <p:spPr>
          <a:xfrm>
            <a:off x="8961120" y="2615184"/>
            <a:ext cx="2560320" cy="27432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0" y="2642616"/>
            <a:ext cx="2560320" cy="22860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webhook.dlq</a:t>
            </a:r>
          </a:p>
        </p:txBody>
      </p:sp>
      <p:sp>
        <p:nvSpPr>
          <p:cNvPr id="36" name="Rounded Rectangle 35"/>
          <p:cNvSpPr/>
          <p:nvPr/>
        </p:nvSpPr>
        <p:spPr>
          <a:xfrm>
            <a:off x="8961120" y="2962656"/>
            <a:ext cx="2560320" cy="27432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0" y="2990088"/>
            <a:ext cx="2560320" cy="22860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audit.queue</a:t>
            </a:r>
          </a:p>
        </p:txBody>
      </p:sp>
      <p:sp>
        <p:nvSpPr>
          <p:cNvPr id="38" name="Rounded Rectangle 37"/>
          <p:cNvSpPr/>
          <p:nvPr/>
        </p:nvSpPr>
        <p:spPr>
          <a:xfrm>
            <a:off x="8961120" y="3310128"/>
            <a:ext cx="2560320" cy="27432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61120" y="3337560"/>
            <a:ext cx="2560320" cy="22860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certificate.generate</a:t>
            </a:r>
          </a:p>
        </p:txBody>
      </p:sp>
      <p:sp>
        <p:nvSpPr>
          <p:cNvPr id="40" name="Rounded Rectangle 39"/>
          <p:cNvSpPr/>
          <p:nvPr/>
        </p:nvSpPr>
        <p:spPr>
          <a:xfrm>
            <a:off x="8961120" y="3657600"/>
            <a:ext cx="2560320" cy="27432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61120" y="3685032"/>
            <a:ext cx="2560320" cy="22860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notification.events</a:t>
            </a:r>
          </a:p>
        </p:txBody>
      </p:sp>
      <p:sp>
        <p:nvSpPr>
          <p:cNvPr id="42" name="TextBox 41"/>
          <p:cNvSpPr txBox="1"/>
          <p:nvPr/>
        </p:nvSpPr>
        <p:spPr>
          <a:xfrm>
            <a:off x="6400800" y="4754880"/>
            <a:ext cx="5029200" cy="548640"/>
          </a:xfrm>
          <a:prstGeom prst="rect">
            <a:avLst/>
          </a:prstGeom>
          <a:noFill/>
        </p:spPr>
        <p:txBody>
          <a:bodyPr wrap="square"/>
          <a:lstStyle/>
          <a:p>
            <a:pPr algn="l">
              <a:spcBef>
                <a:spcPts val="0"/>
              </a:spcBef>
              <a:spcAft>
                <a:spcPts val="0"/>
              </a:spcAft>
              <a:defRPr sz="1000" b="0">
                <a:solidFill>
                  <a:srgbClr val="5B6470"/>
                </a:solidFill>
                <a:latin typeface="IBM Plex Mono"/>
              </a:defRPr>
            </a:pPr>
            <a:r>
              <a:rPr>
                <a:latin typeface="IBM Plex Mono"/>
              </a:rPr>
              <a:t>Routing keys: score.submitted · webhook.* · notification.*</a:t>
            </a:r>
            <a:br/>
            <a:r>
              <a:t>certificate.generate · # (audit catch-all)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640080" y="548640"/>
            <a:ext cx="10911535" cy="457200"/>
          </a:xfrm>
          <a:prstGeom prst="rect">
            <a:avLst/>
          </a:prstGeom>
          <a:noFill/>
        </p:spPr>
        <p:txBody>
          <a:bodyPr wrap="square"/>
          <a:lstStyle/>
          <a:p>
            <a:pPr algn="l">
              <a:spcBef>
                <a:spcPts val="0"/>
              </a:spcBef>
              <a:spcAft>
                <a:spcPts val="0"/>
              </a:spcAft>
              <a:defRPr sz="2800" b="1">
                <a:solidFill>
                  <a:srgbClr val="0E1116"/>
                </a:solidFill>
                <a:latin typeface="IBM Plex Sans"/>
              </a:defRPr>
            </a:pPr>
            <a:r>
              <a:rPr>
                <a:latin typeface="IBM Plex Sans"/>
              </a:rPr>
              <a:t>Z-score normalization fixes both lenient means and compressed ranges</a:t>
            </a:r>
          </a:p>
        </p:txBody>
      </p:sp>
      <p:sp>
        <p:nvSpPr>
          <p:cNvPr id="3" name="TextBox 2"/>
          <p:cNvSpPr txBox="1"/>
          <p:nvPr/>
        </p:nvSpPr>
        <p:spPr>
          <a:xfrm>
            <a:off x="11430000" y="6400800"/>
            <a:ext cx="548640" cy="274320"/>
          </a:xfrm>
          <a:prstGeom prst="rect">
            <a:avLst/>
          </a:prstGeom>
          <a:noFill/>
        </p:spPr>
        <p:txBody>
          <a:bodyPr wrap="square"/>
          <a:lstStyle/>
          <a:p>
            <a:pPr algn="r">
              <a:spcBef>
                <a:spcPts val="0"/>
              </a:spcBef>
              <a:spcAft>
                <a:spcPts val="0"/>
              </a:spcAft>
              <a:defRPr sz="1000" b="0">
                <a:solidFill>
                  <a:srgbClr val="5B6470"/>
                </a:solidFill>
                <a:latin typeface="IBM Plex Sans"/>
              </a:defRPr>
            </a:pPr>
            <a:r>
              <a:rPr>
                <a:latin typeface="IBM Plex Sans"/>
              </a:rPr>
              <a:t>8</a:t>
            </a:r>
          </a:p>
        </p:txBody>
      </p:sp>
      <p:sp>
        <p:nvSpPr>
          <p:cNvPr id="4" name="TextBox 3"/>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
        <p:nvSpPr>
          <p:cNvPr id="5" name="TextBox 4"/>
          <p:cNvSpPr txBox="1"/>
          <p:nvPr/>
        </p:nvSpPr>
        <p:spPr>
          <a:xfrm>
            <a:off x="640080" y="1371600"/>
            <a:ext cx="5486400" cy="365760"/>
          </a:xfrm>
          <a:prstGeom prst="rect">
            <a:avLst/>
          </a:prstGeom>
          <a:noFill/>
        </p:spPr>
        <p:txBody>
          <a:bodyPr wrap="square"/>
          <a:lstStyle/>
          <a:p>
            <a:pPr algn="l">
              <a:spcBef>
                <a:spcPts val="0"/>
              </a:spcBef>
              <a:spcAft>
                <a:spcPts val="0"/>
              </a:spcAft>
              <a:defRPr sz="2000" b="1">
                <a:solidFill>
                  <a:srgbClr val="0F766E"/>
                </a:solidFill>
                <a:latin typeface="IBM Plex Mono"/>
              </a:defRPr>
            </a:pPr>
            <a:r>
              <a:rPr>
                <a:latin typeface="IBM Plex Mono"/>
              </a:rPr>
              <a:t>z_jc(s) = (raw_score − μ_jc) / σ_jc</a:t>
            </a:r>
          </a:p>
        </p:txBody>
      </p:sp>
      <p:sp>
        <p:nvSpPr>
          <p:cNvPr id="6" name="TextBox 5"/>
          <p:cNvSpPr txBox="1"/>
          <p:nvPr/>
        </p:nvSpPr>
        <p:spPr>
          <a:xfrm>
            <a:off x="640080" y="1920240"/>
            <a:ext cx="5486400" cy="457200"/>
          </a:xfrm>
          <a:prstGeom prst="rect">
            <a:avLst/>
          </a:prstGeom>
          <a:noFill/>
        </p:spPr>
        <p:txBody>
          <a:bodyPr wrap="square"/>
          <a:lstStyle/>
          <a:p>
            <a:pPr algn="l">
              <a:spcBef>
                <a:spcPts val="0"/>
              </a:spcBef>
              <a:spcAft>
                <a:spcPts val="0"/>
              </a:spcAft>
              <a:defRPr sz="1400" b="0">
                <a:solidFill>
                  <a:srgbClr val="5B6470"/>
                </a:solidFill>
                <a:latin typeface="IBM Plex Sans"/>
              </a:defRPr>
            </a:pPr>
            <a:r>
              <a:rPr>
                <a:latin typeface="IBM Plex Sans"/>
              </a:rPr>
              <a:t>Per judge j, per criterion c. Corrects both the judge's center</a:t>
            </a:r>
            <a:br/>
            <a:r>
              <a:t>and their spread. Min-max normalization only fixes range.</a:t>
            </a:r>
          </a:p>
        </p:txBody>
      </p:sp>
      <p:sp>
        <p:nvSpPr>
          <p:cNvPr id="7" name="TextBox 6"/>
          <p:cNvSpPr txBox="1"/>
          <p:nvPr/>
        </p:nvSpPr>
        <p:spPr>
          <a:xfrm>
            <a:off x="640080" y="2743200"/>
            <a:ext cx="5486400" cy="365760"/>
          </a:xfrm>
          <a:prstGeom prst="rect">
            <a:avLst/>
          </a:prstGeom>
          <a:noFill/>
        </p:spPr>
        <p:txBody>
          <a:bodyPr wrap="square"/>
          <a:lstStyle/>
          <a:p>
            <a:pPr algn="l">
              <a:spcBef>
                <a:spcPts val="0"/>
              </a:spcBef>
              <a:spcAft>
                <a:spcPts val="0"/>
              </a:spcAft>
              <a:defRPr sz="1600" b="1">
                <a:solidFill>
                  <a:srgbClr val="0E1116"/>
                </a:solidFill>
                <a:latin typeface="IBM Plex Mono"/>
              </a:defRPr>
            </a:pPr>
            <a:r>
              <a:rPr>
                <a:latin typeface="IBM Plex Mono"/>
              </a:rPr>
              <a:t>Shrinkage: adj_z = (k/(k+k₀))·z + (k₀/(k+k₀))·μ_global</a:t>
            </a:r>
          </a:p>
        </p:txBody>
      </p:sp>
      <p:sp>
        <p:nvSpPr>
          <p:cNvPr id="8" name="TextBox 7"/>
          <p:cNvSpPr txBox="1"/>
          <p:nvPr/>
        </p:nvSpPr>
        <p:spPr>
          <a:xfrm>
            <a:off x="640080" y="3200400"/>
            <a:ext cx="5486400" cy="457200"/>
          </a:xfrm>
          <a:prstGeom prst="rect">
            <a:avLst/>
          </a:prstGeom>
          <a:noFill/>
        </p:spPr>
        <p:txBody>
          <a:bodyPr wrap="square"/>
          <a:lstStyle/>
          <a:p>
            <a:pPr algn="l">
              <a:spcBef>
                <a:spcPts val="0"/>
              </a:spcBef>
              <a:spcAft>
                <a:spcPts val="0"/>
              </a:spcAft>
              <a:defRPr sz="1400" b="0">
                <a:solidFill>
                  <a:srgbClr val="5B6470"/>
                </a:solidFill>
                <a:latin typeface="IBM Plex Sans"/>
              </a:defRPr>
            </a:pPr>
            <a:r>
              <a:rPr>
                <a:latin typeface="IBM Plex Sans"/>
              </a:rPr>
              <a:t>Judges with few reviews (small k) are pulled toward the global</a:t>
            </a:r>
            <a:br/>
            <a:r>
              <a:t>mean. Judges with many reviews keep their scores.</a:t>
            </a:r>
          </a:p>
        </p:txBody>
      </p:sp>
      <p:sp>
        <p:nvSpPr>
          <p:cNvPr id="9" name="TextBox 8"/>
          <p:cNvSpPr txBox="1"/>
          <p:nvPr/>
        </p:nvSpPr>
        <p:spPr>
          <a:xfrm>
            <a:off x="6858000" y="1371600"/>
            <a:ext cx="4572000" cy="365760"/>
          </a:xfrm>
          <a:prstGeom prst="rect">
            <a:avLst/>
          </a:prstGeom>
          <a:noFill/>
        </p:spPr>
        <p:txBody>
          <a:bodyPr wrap="square"/>
          <a:lstStyle/>
          <a:p>
            <a:pPr algn="l">
              <a:spcBef>
                <a:spcPts val="0"/>
              </a:spcBef>
              <a:spcAft>
                <a:spcPts val="0"/>
              </a:spcAft>
              <a:defRPr sz="1300" b="1">
                <a:solidFill>
                  <a:srgbClr val="0E1116"/>
                </a:solidFill>
                <a:latin typeface="IBM Plex Sans"/>
              </a:defRPr>
            </a:pPr>
            <a:r>
              <a:rPr>
                <a:latin typeface="IBM Plex Sans"/>
              </a:rPr>
              <a:t>Worked example: 3 judges, 4 projects</a:t>
            </a:r>
          </a:p>
        </p:txBody>
      </p:sp>
      <p:sp>
        <p:nvSpPr>
          <p:cNvPr id="10" name="TextBox 9"/>
          <p:cNvSpPr txBox="1"/>
          <p:nvPr/>
        </p:nvSpPr>
        <p:spPr>
          <a:xfrm>
            <a:off x="6858000" y="1828800"/>
            <a:ext cx="594360" cy="274320"/>
          </a:xfrm>
          <a:prstGeom prst="rect">
            <a:avLst/>
          </a:prstGeom>
          <a:noFill/>
        </p:spPr>
        <p:txBody>
          <a:bodyPr wrap="square"/>
          <a:lstStyle/>
          <a:p>
            <a:pPr algn="ctr">
              <a:spcBef>
                <a:spcPts val="0"/>
              </a:spcBef>
              <a:spcAft>
                <a:spcPts val="0"/>
              </a:spcAft>
              <a:defRPr sz="900" b="1">
                <a:solidFill>
                  <a:srgbClr val="5B6470"/>
                </a:solidFill>
                <a:latin typeface="IBM Plex Mono"/>
              </a:defRPr>
            </a:pPr>
            <a:r>
              <a:rPr>
                <a:latin typeface="IBM Plex Mono"/>
              </a:rPr>
              <a:t/>
            </a:r>
          </a:p>
        </p:txBody>
      </p:sp>
      <p:sp>
        <p:nvSpPr>
          <p:cNvPr id="11" name="TextBox 10"/>
          <p:cNvSpPr txBox="1"/>
          <p:nvPr/>
        </p:nvSpPr>
        <p:spPr>
          <a:xfrm>
            <a:off x="7452360" y="1828800"/>
            <a:ext cx="594360" cy="274320"/>
          </a:xfrm>
          <a:prstGeom prst="rect">
            <a:avLst/>
          </a:prstGeom>
          <a:noFill/>
        </p:spPr>
        <p:txBody>
          <a:bodyPr wrap="square"/>
          <a:lstStyle/>
          <a:p>
            <a:pPr algn="ctr">
              <a:spcBef>
                <a:spcPts val="0"/>
              </a:spcBef>
              <a:spcAft>
                <a:spcPts val="0"/>
              </a:spcAft>
              <a:defRPr sz="900" b="1">
                <a:solidFill>
                  <a:srgbClr val="5B6470"/>
                </a:solidFill>
                <a:latin typeface="IBM Plex Mono"/>
              </a:defRPr>
            </a:pPr>
            <a:r>
              <a:rPr>
                <a:latin typeface="IBM Plex Mono"/>
              </a:rPr>
              <a:t>J1 raw</a:t>
            </a:r>
          </a:p>
        </p:txBody>
      </p:sp>
      <p:sp>
        <p:nvSpPr>
          <p:cNvPr id="12" name="TextBox 11"/>
          <p:cNvSpPr txBox="1"/>
          <p:nvPr/>
        </p:nvSpPr>
        <p:spPr>
          <a:xfrm>
            <a:off x="8046720" y="1828800"/>
            <a:ext cx="594360" cy="274320"/>
          </a:xfrm>
          <a:prstGeom prst="rect">
            <a:avLst/>
          </a:prstGeom>
          <a:noFill/>
        </p:spPr>
        <p:txBody>
          <a:bodyPr wrap="square"/>
          <a:lstStyle/>
          <a:p>
            <a:pPr algn="ctr">
              <a:spcBef>
                <a:spcPts val="0"/>
              </a:spcBef>
              <a:spcAft>
                <a:spcPts val="0"/>
              </a:spcAft>
              <a:defRPr sz="900" b="1">
                <a:solidFill>
                  <a:srgbClr val="5B6470"/>
                </a:solidFill>
                <a:latin typeface="IBM Plex Mono"/>
              </a:defRPr>
            </a:pPr>
            <a:r>
              <a:rPr>
                <a:latin typeface="IBM Plex Mono"/>
              </a:rPr>
              <a:t>J2 raw</a:t>
            </a:r>
          </a:p>
        </p:txBody>
      </p:sp>
      <p:sp>
        <p:nvSpPr>
          <p:cNvPr id="13" name="TextBox 12"/>
          <p:cNvSpPr txBox="1"/>
          <p:nvPr/>
        </p:nvSpPr>
        <p:spPr>
          <a:xfrm>
            <a:off x="8641080" y="1828800"/>
            <a:ext cx="594360" cy="274320"/>
          </a:xfrm>
          <a:prstGeom prst="rect">
            <a:avLst/>
          </a:prstGeom>
          <a:noFill/>
        </p:spPr>
        <p:txBody>
          <a:bodyPr wrap="square"/>
          <a:lstStyle/>
          <a:p>
            <a:pPr algn="ctr">
              <a:spcBef>
                <a:spcPts val="0"/>
              </a:spcBef>
              <a:spcAft>
                <a:spcPts val="0"/>
              </a:spcAft>
              <a:defRPr sz="900" b="1">
                <a:solidFill>
                  <a:srgbClr val="5B6470"/>
                </a:solidFill>
                <a:latin typeface="IBM Plex Mono"/>
              </a:defRPr>
            </a:pPr>
            <a:r>
              <a:rPr>
                <a:latin typeface="IBM Plex Mono"/>
              </a:rPr>
              <a:t>J3 raw</a:t>
            </a:r>
          </a:p>
        </p:txBody>
      </p:sp>
      <p:sp>
        <p:nvSpPr>
          <p:cNvPr id="14" name="TextBox 13"/>
          <p:cNvSpPr txBox="1"/>
          <p:nvPr/>
        </p:nvSpPr>
        <p:spPr>
          <a:xfrm>
            <a:off x="9235440" y="1828800"/>
            <a:ext cx="594360" cy="274320"/>
          </a:xfrm>
          <a:prstGeom prst="rect">
            <a:avLst/>
          </a:prstGeom>
          <a:noFill/>
        </p:spPr>
        <p:txBody>
          <a:bodyPr wrap="square"/>
          <a:lstStyle/>
          <a:p>
            <a:pPr algn="ctr">
              <a:spcBef>
                <a:spcPts val="0"/>
              </a:spcBef>
              <a:spcAft>
                <a:spcPts val="0"/>
              </a:spcAft>
              <a:defRPr sz="900" b="1">
                <a:solidFill>
                  <a:srgbClr val="5B6470"/>
                </a:solidFill>
                <a:latin typeface="IBM Plex Mono"/>
              </a:defRPr>
            </a:pPr>
            <a:r>
              <a:rPr>
                <a:latin typeface="IBM Plex Mono"/>
              </a:rPr>
              <a:t>J1 z</a:t>
            </a:r>
          </a:p>
        </p:txBody>
      </p:sp>
      <p:sp>
        <p:nvSpPr>
          <p:cNvPr id="15" name="TextBox 14"/>
          <p:cNvSpPr txBox="1"/>
          <p:nvPr/>
        </p:nvSpPr>
        <p:spPr>
          <a:xfrm>
            <a:off x="9829800" y="1828800"/>
            <a:ext cx="594360" cy="274320"/>
          </a:xfrm>
          <a:prstGeom prst="rect">
            <a:avLst/>
          </a:prstGeom>
          <a:noFill/>
        </p:spPr>
        <p:txBody>
          <a:bodyPr wrap="square"/>
          <a:lstStyle/>
          <a:p>
            <a:pPr algn="ctr">
              <a:spcBef>
                <a:spcPts val="0"/>
              </a:spcBef>
              <a:spcAft>
                <a:spcPts val="0"/>
              </a:spcAft>
              <a:defRPr sz="900" b="1">
                <a:solidFill>
                  <a:srgbClr val="5B6470"/>
                </a:solidFill>
                <a:latin typeface="IBM Plex Mono"/>
              </a:defRPr>
            </a:pPr>
            <a:r>
              <a:rPr>
                <a:latin typeface="IBM Plex Mono"/>
              </a:rPr>
              <a:t>J2 z</a:t>
            </a:r>
          </a:p>
        </p:txBody>
      </p:sp>
      <p:sp>
        <p:nvSpPr>
          <p:cNvPr id="16" name="TextBox 15"/>
          <p:cNvSpPr txBox="1"/>
          <p:nvPr/>
        </p:nvSpPr>
        <p:spPr>
          <a:xfrm>
            <a:off x="10424160" y="1828800"/>
            <a:ext cx="594360" cy="274320"/>
          </a:xfrm>
          <a:prstGeom prst="rect">
            <a:avLst/>
          </a:prstGeom>
          <a:noFill/>
        </p:spPr>
        <p:txBody>
          <a:bodyPr wrap="square"/>
          <a:lstStyle/>
          <a:p>
            <a:pPr algn="ctr">
              <a:spcBef>
                <a:spcPts val="0"/>
              </a:spcBef>
              <a:spcAft>
                <a:spcPts val="0"/>
              </a:spcAft>
              <a:defRPr sz="900" b="1">
                <a:solidFill>
                  <a:srgbClr val="5B6470"/>
                </a:solidFill>
                <a:latin typeface="IBM Plex Mono"/>
              </a:defRPr>
            </a:pPr>
            <a:r>
              <a:rPr>
                <a:latin typeface="IBM Plex Mono"/>
              </a:rPr>
              <a:t>J3 z</a:t>
            </a:r>
          </a:p>
        </p:txBody>
      </p:sp>
      <p:sp>
        <p:nvSpPr>
          <p:cNvPr id="17" name="TextBox 16"/>
          <p:cNvSpPr txBox="1"/>
          <p:nvPr/>
        </p:nvSpPr>
        <p:spPr>
          <a:xfrm>
            <a:off x="11018520" y="1828800"/>
            <a:ext cx="594360" cy="274320"/>
          </a:xfrm>
          <a:prstGeom prst="rect">
            <a:avLst/>
          </a:prstGeom>
          <a:noFill/>
        </p:spPr>
        <p:txBody>
          <a:bodyPr wrap="square"/>
          <a:lstStyle/>
          <a:p>
            <a:pPr algn="ctr">
              <a:spcBef>
                <a:spcPts val="0"/>
              </a:spcBef>
              <a:spcAft>
                <a:spcPts val="0"/>
              </a:spcAft>
              <a:defRPr sz="900" b="1">
                <a:solidFill>
                  <a:srgbClr val="5B6470"/>
                </a:solidFill>
                <a:latin typeface="IBM Plex Mono"/>
              </a:defRPr>
            </a:pPr>
            <a:r>
              <a:rPr>
                <a:latin typeface="IBM Plex Mono"/>
              </a:rPr>
              <a:t>Final</a:t>
            </a:r>
          </a:p>
        </p:txBody>
      </p:sp>
      <p:cxnSp>
        <p:nvCxnSpPr>
          <p:cNvPr id="18" name="Connector 17"/>
          <p:cNvCxnSpPr/>
          <p:nvPr/>
        </p:nvCxnSpPr>
        <p:spPr>
          <a:xfrm>
            <a:off x="6858000" y="2103120"/>
            <a:ext cx="4754880" cy="0"/>
          </a:xfrm>
          <a:prstGeom prst="line">
            <a:avLst/>
          </a:prstGeom>
          <a:ln w="12700">
            <a:solidFill>
              <a:srgbClr val="D9D7D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0" y="210312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P1</a:t>
            </a:r>
          </a:p>
        </p:txBody>
      </p:sp>
      <p:sp>
        <p:nvSpPr>
          <p:cNvPr id="20" name="TextBox 19"/>
          <p:cNvSpPr txBox="1"/>
          <p:nvPr/>
        </p:nvSpPr>
        <p:spPr>
          <a:xfrm>
            <a:off x="7452360" y="210312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9</a:t>
            </a:r>
          </a:p>
        </p:txBody>
      </p:sp>
      <p:sp>
        <p:nvSpPr>
          <p:cNvPr id="21" name="TextBox 20"/>
          <p:cNvSpPr txBox="1"/>
          <p:nvPr/>
        </p:nvSpPr>
        <p:spPr>
          <a:xfrm>
            <a:off x="8046720" y="210312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7</a:t>
            </a:r>
          </a:p>
        </p:txBody>
      </p:sp>
      <p:sp>
        <p:nvSpPr>
          <p:cNvPr id="22" name="TextBox 21"/>
          <p:cNvSpPr txBox="1"/>
          <p:nvPr/>
        </p:nvSpPr>
        <p:spPr>
          <a:xfrm>
            <a:off x="8641080" y="210312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8</a:t>
            </a:r>
          </a:p>
        </p:txBody>
      </p:sp>
      <p:sp>
        <p:nvSpPr>
          <p:cNvPr id="23" name="TextBox 22"/>
          <p:cNvSpPr txBox="1"/>
          <p:nvPr/>
        </p:nvSpPr>
        <p:spPr>
          <a:xfrm>
            <a:off x="9235440" y="210312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+1.3</a:t>
            </a:r>
          </a:p>
        </p:txBody>
      </p:sp>
      <p:sp>
        <p:nvSpPr>
          <p:cNvPr id="24" name="TextBox 23"/>
          <p:cNvSpPr txBox="1"/>
          <p:nvPr/>
        </p:nvSpPr>
        <p:spPr>
          <a:xfrm>
            <a:off x="9829800" y="210312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+0.5</a:t>
            </a:r>
          </a:p>
        </p:txBody>
      </p:sp>
      <p:sp>
        <p:nvSpPr>
          <p:cNvPr id="25" name="TextBox 24"/>
          <p:cNvSpPr txBox="1"/>
          <p:nvPr/>
        </p:nvSpPr>
        <p:spPr>
          <a:xfrm>
            <a:off x="10424160" y="210312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+0.9</a:t>
            </a:r>
          </a:p>
        </p:txBody>
      </p:sp>
      <p:sp>
        <p:nvSpPr>
          <p:cNvPr id="26" name="TextBox 25"/>
          <p:cNvSpPr txBox="1"/>
          <p:nvPr/>
        </p:nvSpPr>
        <p:spPr>
          <a:xfrm>
            <a:off x="11018520" y="2103120"/>
            <a:ext cx="594360" cy="274320"/>
          </a:xfrm>
          <a:prstGeom prst="rect">
            <a:avLst/>
          </a:prstGeom>
          <a:noFill/>
        </p:spPr>
        <p:txBody>
          <a:bodyPr wrap="square"/>
          <a:lstStyle/>
          <a:p>
            <a:pPr algn="ctr">
              <a:spcBef>
                <a:spcPts val="0"/>
              </a:spcBef>
              <a:spcAft>
                <a:spcPts val="0"/>
              </a:spcAft>
              <a:defRPr sz="900" b="0">
                <a:solidFill>
                  <a:srgbClr val="0F766E"/>
                </a:solidFill>
                <a:latin typeface="IBM Plex Mono"/>
              </a:defRPr>
            </a:pPr>
            <a:r>
              <a:rPr>
                <a:latin typeface="IBM Plex Mono"/>
              </a:rPr>
              <a:t>0.90</a:t>
            </a:r>
          </a:p>
        </p:txBody>
      </p:sp>
      <p:sp>
        <p:nvSpPr>
          <p:cNvPr id="27" name="TextBox 26"/>
          <p:cNvSpPr txBox="1"/>
          <p:nvPr/>
        </p:nvSpPr>
        <p:spPr>
          <a:xfrm>
            <a:off x="6858000" y="237744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P2</a:t>
            </a:r>
          </a:p>
        </p:txBody>
      </p:sp>
      <p:sp>
        <p:nvSpPr>
          <p:cNvPr id="28" name="TextBox 27"/>
          <p:cNvSpPr txBox="1"/>
          <p:nvPr/>
        </p:nvSpPr>
        <p:spPr>
          <a:xfrm>
            <a:off x="7452360" y="237744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8</a:t>
            </a:r>
          </a:p>
        </p:txBody>
      </p:sp>
      <p:sp>
        <p:nvSpPr>
          <p:cNvPr id="29" name="TextBox 28"/>
          <p:cNvSpPr txBox="1"/>
          <p:nvPr/>
        </p:nvSpPr>
        <p:spPr>
          <a:xfrm>
            <a:off x="8046720" y="237744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6</a:t>
            </a:r>
          </a:p>
        </p:txBody>
      </p:sp>
      <p:sp>
        <p:nvSpPr>
          <p:cNvPr id="30" name="TextBox 29"/>
          <p:cNvSpPr txBox="1"/>
          <p:nvPr/>
        </p:nvSpPr>
        <p:spPr>
          <a:xfrm>
            <a:off x="8641080" y="237744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5</a:t>
            </a:r>
          </a:p>
        </p:txBody>
      </p:sp>
      <p:sp>
        <p:nvSpPr>
          <p:cNvPr id="31" name="TextBox 30"/>
          <p:cNvSpPr txBox="1"/>
          <p:nvPr/>
        </p:nvSpPr>
        <p:spPr>
          <a:xfrm>
            <a:off x="9235440" y="237744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+0.4</a:t>
            </a:r>
          </a:p>
        </p:txBody>
      </p:sp>
      <p:sp>
        <p:nvSpPr>
          <p:cNvPr id="32" name="TextBox 31"/>
          <p:cNvSpPr txBox="1"/>
          <p:nvPr/>
        </p:nvSpPr>
        <p:spPr>
          <a:xfrm>
            <a:off x="9829800" y="237744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−0.5</a:t>
            </a:r>
          </a:p>
        </p:txBody>
      </p:sp>
      <p:sp>
        <p:nvSpPr>
          <p:cNvPr id="33" name="TextBox 32"/>
          <p:cNvSpPr txBox="1"/>
          <p:nvPr/>
        </p:nvSpPr>
        <p:spPr>
          <a:xfrm>
            <a:off x="10424160" y="237744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−1.3</a:t>
            </a:r>
          </a:p>
        </p:txBody>
      </p:sp>
      <p:sp>
        <p:nvSpPr>
          <p:cNvPr id="34" name="TextBox 33"/>
          <p:cNvSpPr txBox="1"/>
          <p:nvPr/>
        </p:nvSpPr>
        <p:spPr>
          <a:xfrm>
            <a:off x="11018520" y="2377440"/>
            <a:ext cx="594360" cy="274320"/>
          </a:xfrm>
          <a:prstGeom prst="rect">
            <a:avLst/>
          </a:prstGeom>
          <a:noFill/>
        </p:spPr>
        <p:txBody>
          <a:bodyPr wrap="square"/>
          <a:lstStyle/>
          <a:p>
            <a:pPr algn="ctr">
              <a:spcBef>
                <a:spcPts val="0"/>
              </a:spcBef>
              <a:spcAft>
                <a:spcPts val="0"/>
              </a:spcAft>
              <a:defRPr sz="900" b="0">
                <a:solidFill>
                  <a:srgbClr val="0F766E"/>
                </a:solidFill>
                <a:latin typeface="IBM Plex Mono"/>
              </a:defRPr>
            </a:pPr>
            <a:r>
              <a:rPr>
                <a:latin typeface="IBM Plex Mono"/>
              </a:rPr>
              <a:t>−0.47</a:t>
            </a:r>
          </a:p>
        </p:txBody>
      </p:sp>
      <p:sp>
        <p:nvSpPr>
          <p:cNvPr id="35" name="TextBox 34"/>
          <p:cNvSpPr txBox="1"/>
          <p:nvPr/>
        </p:nvSpPr>
        <p:spPr>
          <a:xfrm>
            <a:off x="6858000" y="265176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P3</a:t>
            </a:r>
          </a:p>
        </p:txBody>
      </p:sp>
      <p:sp>
        <p:nvSpPr>
          <p:cNvPr id="36" name="TextBox 35"/>
          <p:cNvSpPr txBox="1"/>
          <p:nvPr/>
        </p:nvSpPr>
        <p:spPr>
          <a:xfrm>
            <a:off x="7452360" y="265176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5</a:t>
            </a:r>
          </a:p>
        </p:txBody>
      </p:sp>
      <p:sp>
        <p:nvSpPr>
          <p:cNvPr id="37" name="TextBox 36"/>
          <p:cNvSpPr txBox="1"/>
          <p:nvPr/>
        </p:nvSpPr>
        <p:spPr>
          <a:xfrm>
            <a:off x="8046720" y="265176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8</a:t>
            </a:r>
          </a:p>
        </p:txBody>
      </p:sp>
      <p:sp>
        <p:nvSpPr>
          <p:cNvPr id="38" name="TextBox 37"/>
          <p:cNvSpPr txBox="1"/>
          <p:nvPr/>
        </p:nvSpPr>
        <p:spPr>
          <a:xfrm>
            <a:off x="8641080" y="265176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7</a:t>
            </a:r>
          </a:p>
        </p:txBody>
      </p:sp>
      <p:sp>
        <p:nvSpPr>
          <p:cNvPr id="39" name="TextBox 38"/>
          <p:cNvSpPr txBox="1"/>
          <p:nvPr/>
        </p:nvSpPr>
        <p:spPr>
          <a:xfrm>
            <a:off x="9235440" y="265176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−1.3</a:t>
            </a:r>
          </a:p>
        </p:txBody>
      </p:sp>
      <p:sp>
        <p:nvSpPr>
          <p:cNvPr id="40" name="TextBox 39"/>
          <p:cNvSpPr txBox="1"/>
          <p:nvPr/>
        </p:nvSpPr>
        <p:spPr>
          <a:xfrm>
            <a:off x="9829800" y="265176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+1.5</a:t>
            </a:r>
          </a:p>
        </p:txBody>
      </p:sp>
      <p:sp>
        <p:nvSpPr>
          <p:cNvPr id="41" name="TextBox 40"/>
          <p:cNvSpPr txBox="1"/>
          <p:nvPr/>
        </p:nvSpPr>
        <p:spPr>
          <a:xfrm>
            <a:off x="10424160" y="265176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+0.1</a:t>
            </a:r>
          </a:p>
        </p:txBody>
      </p:sp>
      <p:sp>
        <p:nvSpPr>
          <p:cNvPr id="42" name="TextBox 41"/>
          <p:cNvSpPr txBox="1"/>
          <p:nvPr/>
        </p:nvSpPr>
        <p:spPr>
          <a:xfrm>
            <a:off x="11018520" y="2651760"/>
            <a:ext cx="594360" cy="274320"/>
          </a:xfrm>
          <a:prstGeom prst="rect">
            <a:avLst/>
          </a:prstGeom>
          <a:noFill/>
        </p:spPr>
        <p:txBody>
          <a:bodyPr wrap="square"/>
          <a:lstStyle/>
          <a:p>
            <a:pPr algn="ctr">
              <a:spcBef>
                <a:spcPts val="0"/>
              </a:spcBef>
              <a:spcAft>
                <a:spcPts val="0"/>
              </a:spcAft>
              <a:defRPr sz="900" b="0">
                <a:solidFill>
                  <a:srgbClr val="0F766E"/>
                </a:solidFill>
                <a:latin typeface="IBM Plex Mono"/>
              </a:defRPr>
            </a:pPr>
            <a:r>
              <a:rPr>
                <a:latin typeface="IBM Plex Mono"/>
              </a:rPr>
              <a:t>+0.10</a:t>
            </a:r>
          </a:p>
        </p:txBody>
      </p:sp>
      <p:sp>
        <p:nvSpPr>
          <p:cNvPr id="43" name="TextBox 42"/>
          <p:cNvSpPr txBox="1"/>
          <p:nvPr/>
        </p:nvSpPr>
        <p:spPr>
          <a:xfrm>
            <a:off x="6858000" y="292608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P4</a:t>
            </a:r>
          </a:p>
        </p:txBody>
      </p:sp>
      <p:sp>
        <p:nvSpPr>
          <p:cNvPr id="44" name="TextBox 43"/>
          <p:cNvSpPr txBox="1"/>
          <p:nvPr/>
        </p:nvSpPr>
        <p:spPr>
          <a:xfrm>
            <a:off x="7452360" y="292608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7</a:t>
            </a:r>
          </a:p>
        </p:txBody>
      </p:sp>
      <p:sp>
        <p:nvSpPr>
          <p:cNvPr id="45" name="TextBox 44"/>
          <p:cNvSpPr txBox="1"/>
          <p:nvPr/>
        </p:nvSpPr>
        <p:spPr>
          <a:xfrm>
            <a:off x="8046720" y="292608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5</a:t>
            </a:r>
          </a:p>
        </p:txBody>
      </p:sp>
      <p:sp>
        <p:nvSpPr>
          <p:cNvPr id="46" name="TextBox 45"/>
          <p:cNvSpPr txBox="1"/>
          <p:nvPr/>
        </p:nvSpPr>
        <p:spPr>
          <a:xfrm>
            <a:off x="8641080" y="292608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6</a:t>
            </a:r>
          </a:p>
        </p:txBody>
      </p:sp>
      <p:sp>
        <p:nvSpPr>
          <p:cNvPr id="47" name="TextBox 46"/>
          <p:cNvSpPr txBox="1"/>
          <p:nvPr/>
        </p:nvSpPr>
        <p:spPr>
          <a:xfrm>
            <a:off x="9235440" y="292608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−0.4</a:t>
            </a:r>
          </a:p>
        </p:txBody>
      </p:sp>
      <p:sp>
        <p:nvSpPr>
          <p:cNvPr id="48" name="TextBox 47"/>
          <p:cNvSpPr txBox="1"/>
          <p:nvPr/>
        </p:nvSpPr>
        <p:spPr>
          <a:xfrm>
            <a:off x="9829800" y="292608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−1.5</a:t>
            </a:r>
          </a:p>
        </p:txBody>
      </p:sp>
      <p:sp>
        <p:nvSpPr>
          <p:cNvPr id="49" name="TextBox 48"/>
          <p:cNvSpPr txBox="1"/>
          <p:nvPr/>
        </p:nvSpPr>
        <p:spPr>
          <a:xfrm>
            <a:off x="10424160" y="2926080"/>
            <a:ext cx="594360" cy="274320"/>
          </a:xfrm>
          <a:prstGeom prst="rect">
            <a:avLst/>
          </a:prstGeom>
          <a:noFill/>
        </p:spPr>
        <p:txBody>
          <a:bodyPr wrap="square"/>
          <a:lstStyle/>
          <a:p>
            <a:pPr algn="ctr">
              <a:spcBef>
                <a:spcPts val="0"/>
              </a:spcBef>
              <a:spcAft>
                <a:spcPts val="0"/>
              </a:spcAft>
              <a:defRPr sz="900" b="0">
                <a:solidFill>
                  <a:srgbClr val="0E1116"/>
                </a:solidFill>
                <a:latin typeface="IBM Plex Mono"/>
              </a:defRPr>
            </a:pPr>
            <a:r>
              <a:rPr>
                <a:latin typeface="IBM Plex Mono"/>
              </a:rPr>
              <a:t>−0.5</a:t>
            </a:r>
          </a:p>
        </p:txBody>
      </p:sp>
      <p:sp>
        <p:nvSpPr>
          <p:cNvPr id="50" name="TextBox 49"/>
          <p:cNvSpPr txBox="1"/>
          <p:nvPr/>
        </p:nvSpPr>
        <p:spPr>
          <a:xfrm>
            <a:off x="11018520" y="2926080"/>
            <a:ext cx="594360" cy="274320"/>
          </a:xfrm>
          <a:prstGeom prst="rect">
            <a:avLst/>
          </a:prstGeom>
          <a:noFill/>
        </p:spPr>
        <p:txBody>
          <a:bodyPr wrap="square"/>
          <a:lstStyle/>
          <a:p>
            <a:pPr algn="ctr">
              <a:spcBef>
                <a:spcPts val="0"/>
              </a:spcBef>
              <a:spcAft>
                <a:spcPts val="0"/>
              </a:spcAft>
              <a:defRPr sz="900" b="0">
                <a:solidFill>
                  <a:srgbClr val="0F766E"/>
                </a:solidFill>
                <a:latin typeface="IBM Plex Mono"/>
              </a:defRPr>
            </a:pPr>
            <a:r>
              <a:rPr>
                <a:latin typeface="IBM Plex Mono"/>
              </a:rPr>
              <a:t>−0.80</a:t>
            </a:r>
          </a:p>
        </p:txBody>
      </p:sp>
      <p:sp>
        <p:nvSpPr>
          <p:cNvPr id="51" name="TextBox 50"/>
          <p:cNvSpPr txBox="1"/>
          <p:nvPr/>
        </p:nvSpPr>
        <p:spPr>
          <a:xfrm>
            <a:off x="6858000" y="3200400"/>
            <a:ext cx="4572000" cy="457200"/>
          </a:xfrm>
          <a:prstGeom prst="rect">
            <a:avLst/>
          </a:prstGeom>
          <a:noFill/>
        </p:spPr>
        <p:txBody>
          <a:bodyPr wrap="square"/>
          <a:lstStyle/>
          <a:p>
            <a:pPr algn="l">
              <a:spcBef>
                <a:spcPts val="0"/>
              </a:spcBef>
              <a:spcAft>
                <a:spcPts val="0"/>
              </a:spcAft>
              <a:defRPr sz="1200" b="0">
                <a:solidFill>
                  <a:srgbClr val="5B6470"/>
                </a:solidFill>
                <a:latin typeface="IBM Plex Sans"/>
              </a:defRPr>
            </a:pPr>
            <a:r>
              <a:rPr>
                <a:latin typeface="IBM Plex Sans"/>
              </a:rPr>
              <a:t>J2 is harsh (mean 6.5). J1 is lenient (mean 7.25).</a:t>
            </a:r>
            <a:br/>
            <a:r>
              <a:t>After normalization, rank order reflects true quality, not judge temperament.</a:t>
            </a:r>
          </a:p>
        </p:txBody>
      </p:sp>
      <p:sp>
        <p:nvSpPr>
          <p:cNvPr id="52" name="TextBox 51"/>
          <p:cNvSpPr txBox="1"/>
          <p:nvPr/>
        </p:nvSpPr>
        <p:spPr>
          <a:xfrm>
            <a:off x="640080" y="4114800"/>
            <a:ext cx="10911535" cy="457200"/>
          </a:xfrm>
          <a:prstGeom prst="rect">
            <a:avLst/>
          </a:prstGeom>
          <a:noFill/>
        </p:spPr>
        <p:txBody>
          <a:bodyPr wrap="square"/>
          <a:lstStyle/>
          <a:p>
            <a:pPr algn="l">
              <a:spcBef>
                <a:spcPts val="0"/>
              </a:spcBef>
              <a:spcAft>
                <a:spcPts val="0"/>
              </a:spcAft>
              <a:defRPr sz="1400" b="0">
                <a:solidFill>
                  <a:srgbClr val="0E1116"/>
                </a:solidFill>
                <a:latin typeface="IBM Plex Mono"/>
              </a:defRPr>
            </a:pPr>
            <a:r>
              <a:rPr>
                <a:latin typeface="IBM Plex Mono"/>
              </a:rPr>
              <a:t>Final score = Σ (w_c × normalized_z_jc) / |judges|, aggregated per criterion weight.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640080" y="548640"/>
            <a:ext cx="10911535" cy="457200"/>
          </a:xfrm>
          <a:prstGeom prst="rect">
            <a:avLst/>
          </a:prstGeom>
          <a:noFill/>
        </p:spPr>
        <p:txBody>
          <a:bodyPr wrap="square"/>
          <a:lstStyle/>
          <a:p>
            <a:pPr algn="l">
              <a:spcBef>
                <a:spcPts val="0"/>
              </a:spcBef>
              <a:spcAft>
                <a:spcPts val="0"/>
              </a:spcAft>
              <a:defRPr sz="2800" b="1">
                <a:solidFill>
                  <a:srgbClr val="0E1116"/>
                </a:solidFill>
                <a:latin typeface="IBM Plex Sans"/>
              </a:defRPr>
            </a:pPr>
            <a:r>
              <a:rPr>
                <a:latin typeface="IBM Plex Sans"/>
              </a:rPr>
              <a:t>Even an application bug cannot leak another judge's scores</a:t>
            </a:r>
          </a:p>
        </p:txBody>
      </p:sp>
      <p:sp>
        <p:nvSpPr>
          <p:cNvPr id="3" name="TextBox 2"/>
          <p:cNvSpPr txBox="1"/>
          <p:nvPr/>
        </p:nvSpPr>
        <p:spPr>
          <a:xfrm>
            <a:off x="11430000" y="6400800"/>
            <a:ext cx="548640" cy="274320"/>
          </a:xfrm>
          <a:prstGeom prst="rect">
            <a:avLst/>
          </a:prstGeom>
          <a:noFill/>
        </p:spPr>
        <p:txBody>
          <a:bodyPr wrap="square"/>
          <a:lstStyle/>
          <a:p>
            <a:pPr algn="r">
              <a:spcBef>
                <a:spcPts val="0"/>
              </a:spcBef>
              <a:spcAft>
                <a:spcPts val="0"/>
              </a:spcAft>
              <a:defRPr sz="1000" b="0">
                <a:solidFill>
                  <a:srgbClr val="5B6470"/>
                </a:solidFill>
                <a:latin typeface="IBM Plex Sans"/>
              </a:defRPr>
            </a:pPr>
            <a:r>
              <a:rPr>
                <a:latin typeface="IBM Plex Sans"/>
              </a:rPr>
              <a:t>9</a:t>
            </a:r>
          </a:p>
        </p:txBody>
      </p:sp>
      <p:sp>
        <p:nvSpPr>
          <p:cNvPr id="4" name="TextBox 3"/>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
        <p:nvSpPr>
          <p:cNvPr id="5" name="Rounded Rectangle 4"/>
          <p:cNvSpPr/>
          <p:nvPr/>
        </p:nvSpPr>
        <p:spPr>
          <a:xfrm>
            <a:off x="640080" y="2011680"/>
            <a:ext cx="2011680" cy="1097280"/>
          </a:xfrm>
          <a:prstGeom prst="roundRect">
            <a:avLst>
              <a:gd name="adj" fmla="val 2000"/>
            </a:avLst>
          </a:prstGeom>
          <a:noFill/>
          <a:ln w="12700">
            <a:solidFill>
              <a:srgbClr val="0E11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103120"/>
            <a:ext cx="2011680" cy="365760"/>
          </a:xfrm>
          <a:prstGeom prst="rect">
            <a:avLst/>
          </a:prstGeom>
          <a:noFill/>
        </p:spPr>
        <p:txBody>
          <a:bodyPr wrap="square"/>
          <a:lstStyle/>
          <a:p>
            <a:pPr algn="ctr">
              <a:spcBef>
                <a:spcPts val="0"/>
              </a:spcBef>
              <a:spcAft>
                <a:spcPts val="0"/>
              </a:spcAft>
              <a:defRPr sz="1400" b="1">
                <a:solidFill>
                  <a:srgbClr val="0E1116"/>
                </a:solidFill>
                <a:latin typeface="IBM Plex Mono"/>
              </a:defRPr>
            </a:pPr>
            <a:r>
              <a:rPr>
                <a:latin typeface="IBM Plex Mono"/>
              </a:rPr>
              <a:t>Judge</a:t>
            </a:r>
          </a:p>
        </p:txBody>
      </p:sp>
      <p:sp>
        <p:nvSpPr>
          <p:cNvPr id="7" name="TextBox 6"/>
          <p:cNvSpPr txBox="1"/>
          <p:nvPr/>
        </p:nvSpPr>
        <p:spPr>
          <a:xfrm>
            <a:off x="640080" y="2468880"/>
            <a:ext cx="2011680" cy="548640"/>
          </a:xfrm>
          <a:prstGeom prst="rect">
            <a:avLst/>
          </a:prstGeom>
          <a:noFill/>
        </p:spPr>
        <p:txBody>
          <a:bodyPr wrap="square"/>
          <a:lstStyle/>
          <a:p>
            <a:pPr algn="ctr">
              <a:spcBef>
                <a:spcPts val="0"/>
              </a:spcBef>
              <a:spcAft>
                <a:spcPts val="0"/>
              </a:spcAft>
              <a:defRPr sz="1100" b="0">
                <a:solidFill>
                  <a:srgbClr val="5B6470"/>
                </a:solidFill>
                <a:latin typeface="IBM Plex Sans"/>
              </a:defRPr>
            </a:pPr>
            <a:r>
              <a:rPr>
                <a:latin typeface="IBM Plex Sans"/>
              </a:rPr>
              <a:t>Submits score</a:t>
            </a:r>
          </a:p>
        </p:txBody>
      </p:sp>
      <p:cxnSp>
        <p:nvCxnSpPr>
          <p:cNvPr id="8" name="Connector 7"/>
          <p:cNvCxnSpPr/>
          <p:nvPr/>
        </p:nvCxnSpPr>
        <p:spPr>
          <a:xfrm>
            <a:off x="2651760" y="2560320"/>
            <a:ext cx="548640" cy="0"/>
          </a:xfrm>
          <a:prstGeom prst="line">
            <a:avLst/>
          </a:prstGeom>
          <a:ln w="19050">
            <a:solidFill>
              <a:srgbClr val="5B64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200400" y="2011680"/>
            <a:ext cx="2011680" cy="1097280"/>
          </a:xfrm>
          <a:prstGeom prst="roundRect">
            <a:avLst>
              <a:gd name="adj" fmla="val 2000"/>
            </a:avLst>
          </a:prstGeom>
          <a:no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0" y="2103120"/>
            <a:ext cx="2011680" cy="365760"/>
          </a:xfrm>
          <a:prstGeom prst="rect">
            <a:avLst/>
          </a:prstGeom>
          <a:noFill/>
        </p:spPr>
        <p:txBody>
          <a:bodyPr wrap="square"/>
          <a:lstStyle/>
          <a:p>
            <a:pPr algn="ctr">
              <a:spcBef>
                <a:spcPts val="0"/>
              </a:spcBef>
              <a:spcAft>
                <a:spcPts val="0"/>
              </a:spcAft>
              <a:defRPr sz="1400" b="1">
                <a:solidFill>
                  <a:srgbClr val="0F766E"/>
                </a:solidFill>
                <a:latin typeface="IBM Plex Mono"/>
              </a:defRPr>
            </a:pPr>
            <a:r>
              <a:rPr>
                <a:latin typeface="IBM Plex Mono"/>
              </a:rPr>
              <a:t>Gateway</a:t>
            </a:r>
          </a:p>
        </p:txBody>
      </p:sp>
      <p:sp>
        <p:nvSpPr>
          <p:cNvPr id="11" name="TextBox 10"/>
          <p:cNvSpPr txBox="1"/>
          <p:nvPr/>
        </p:nvSpPr>
        <p:spPr>
          <a:xfrm>
            <a:off x="3200400" y="2468880"/>
            <a:ext cx="2011680" cy="548640"/>
          </a:xfrm>
          <a:prstGeom prst="rect">
            <a:avLst/>
          </a:prstGeom>
          <a:noFill/>
        </p:spPr>
        <p:txBody>
          <a:bodyPr wrap="square"/>
          <a:lstStyle/>
          <a:p>
            <a:pPr algn="ctr">
              <a:spcBef>
                <a:spcPts val="0"/>
              </a:spcBef>
              <a:spcAft>
                <a:spcPts val="0"/>
              </a:spcAft>
              <a:defRPr sz="1100" b="0">
                <a:solidFill>
                  <a:srgbClr val="5B6470"/>
                </a:solidFill>
                <a:latin typeface="IBM Plex Sans"/>
              </a:defRPr>
            </a:pPr>
            <a:r>
              <a:rPr>
                <a:latin typeface="IBM Plex Sans"/>
              </a:rPr>
              <a:t>Verify JWT</a:t>
            </a:r>
            <a:br/>
            <a:r>
              <a:t>(authn only)</a:t>
            </a:r>
          </a:p>
        </p:txBody>
      </p:sp>
      <p:cxnSp>
        <p:nvCxnSpPr>
          <p:cNvPr id="12" name="Connector 11"/>
          <p:cNvCxnSpPr/>
          <p:nvPr/>
        </p:nvCxnSpPr>
        <p:spPr>
          <a:xfrm>
            <a:off x="5212080" y="2560320"/>
            <a:ext cx="548640" cy="0"/>
          </a:xfrm>
          <a:prstGeom prst="line">
            <a:avLst/>
          </a:prstGeom>
          <a:ln w="19050">
            <a:solidFill>
              <a:srgbClr val="5B64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760720" y="2011680"/>
            <a:ext cx="2011680" cy="1097280"/>
          </a:xfrm>
          <a:prstGeom prst="roundRect">
            <a:avLst>
              <a:gd name="adj" fmla="val 2000"/>
            </a:avLst>
          </a:prstGeom>
          <a:noFill/>
          <a:ln w="12700">
            <a:solidFill>
              <a:srgbClr val="0E11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20" y="2103120"/>
            <a:ext cx="2011680" cy="365760"/>
          </a:xfrm>
          <a:prstGeom prst="rect">
            <a:avLst/>
          </a:prstGeom>
          <a:noFill/>
        </p:spPr>
        <p:txBody>
          <a:bodyPr wrap="square"/>
          <a:lstStyle/>
          <a:p>
            <a:pPr algn="ctr">
              <a:spcBef>
                <a:spcPts val="0"/>
              </a:spcBef>
              <a:spcAft>
                <a:spcPts val="0"/>
              </a:spcAft>
              <a:defRPr sz="1400" b="1">
                <a:solidFill>
                  <a:srgbClr val="0E1116"/>
                </a:solidFill>
                <a:latin typeface="IBM Plex Mono"/>
              </a:defRPr>
            </a:pPr>
            <a:r>
              <a:rPr>
                <a:latin typeface="IBM Plex Mono"/>
              </a:rPr>
              <a:t>Judging</a:t>
            </a:r>
            <a:br/>
            <a:r>
              <a:t>Service</a:t>
            </a:r>
          </a:p>
        </p:txBody>
      </p:sp>
      <p:sp>
        <p:nvSpPr>
          <p:cNvPr id="15" name="TextBox 14"/>
          <p:cNvSpPr txBox="1"/>
          <p:nvPr/>
        </p:nvSpPr>
        <p:spPr>
          <a:xfrm>
            <a:off x="5760720" y="2468880"/>
            <a:ext cx="2011680" cy="548640"/>
          </a:xfrm>
          <a:prstGeom prst="rect">
            <a:avLst/>
          </a:prstGeom>
          <a:noFill/>
        </p:spPr>
        <p:txBody>
          <a:bodyPr wrap="square"/>
          <a:lstStyle/>
          <a:p>
            <a:pPr algn="ctr">
              <a:spcBef>
                <a:spcPts val="0"/>
              </a:spcBef>
              <a:spcAft>
                <a:spcPts val="0"/>
              </a:spcAft>
              <a:defRPr sz="1100" b="0">
                <a:solidFill>
                  <a:srgbClr val="5B6470"/>
                </a:solidFill>
                <a:latin typeface="IBM Plex Sans"/>
              </a:defRPr>
            </a:pPr>
            <a:r>
              <a:rPr>
                <a:latin typeface="IBM Plex Sans"/>
              </a:rPr>
              <a:t>Extract judge_id</a:t>
            </a:r>
            <a:br/>
            <a:r>
              <a:t>from JWT claims</a:t>
            </a:r>
          </a:p>
        </p:txBody>
      </p:sp>
      <p:cxnSp>
        <p:nvCxnSpPr>
          <p:cNvPr id="16" name="Connector 15"/>
          <p:cNvCxnSpPr/>
          <p:nvPr/>
        </p:nvCxnSpPr>
        <p:spPr>
          <a:xfrm>
            <a:off x="7772400" y="2560320"/>
            <a:ext cx="548640" cy="0"/>
          </a:xfrm>
          <a:prstGeom prst="line">
            <a:avLst/>
          </a:prstGeom>
          <a:ln w="19050">
            <a:solidFill>
              <a:srgbClr val="5B64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321040" y="2011680"/>
            <a:ext cx="2011680" cy="1097280"/>
          </a:xfrm>
          <a:prstGeom prst="roundRect">
            <a:avLst>
              <a:gd name="adj" fmla="val 2000"/>
            </a:avLst>
          </a:prstGeom>
          <a:noFill/>
          <a:ln w="12700">
            <a:solidFill>
              <a:srgbClr val="1F7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103120"/>
            <a:ext cx="2011680" cy="365760"/>
          </a:xfrm>
          <a:prstGeom prst="rect">
            <a:avLst/>
          </a:prstGeom>
          <a:noFill/>
        </p:spPr>
        <p:txBody>
          <a:bodyPr wrap="square"/>
          <a:lstStyle/>
          <a:p>
            <a:pPr algn="ctr">
              <a:spcBef>
                <a:spcPts val="0"/>
              </a:spcBef>
              <a:spcAft>
                <a:spcPts val="0"/>
              </a:spcAft>
              <a:defRPr sz="1400" b="1">
                <a:solidFill>
                  <a:srgbClr val="1F7A5A"/>
                </a:solidFill>
                <a:latin typeface="IBM Plex Mono"/>
              </a:defRPr>
            </a:pPr>
            <a:r>
              <a:rPr>
                <a:latin typeface="IBM Plex Mono"/>
              </a:rPr>
              <a:t>Postgres</a:t>
            </a:r>
          </a:p>
        </p:txBody>
      </p:sp>
      <p:sp>
        <p:nvSpPr>
          <p:cNvPr id="19" name="TextBox 18"/>
          <p:cNvSpPr txBox="1"/>
          <p:nvPr/>
        </p:nvSpPr>
        <p:spPr>
          <a:xfrm>
            <a:off x="8321040" y="2468880"/>
            <a:ext cx="2011680" cy="548640"/>
          </a:xfrm>
          <a:prstGeom prst="rect">
            <a:avLst/>
          </a:prstGeom>
          <a:noFill/>
        </p:spPr>
        <p:txBody>
          <a:bodyPr wrap="square"/>
          <a:lstStyle/>
          <a:p>
            <a:pPr algn="ctr">
              <a:spcBef>
                <a:spcPts val="0"/>
              </a:spcBef>
              <a:spcAft>
                <a:spcPts val="0"/>
              </a:spcAft>
              <a:defRPr sz="1100" b="0">
                <a:solidFill>
                  <a:srgbClr val="5B6470"/>
                </a:solidFill>
                <a:latin typeface="IBM Plex Sans"/>
              </a:defRPr>
            </a:pPr>
            <a:r>
              <a:rPr>
                <a:latin typeface="IBM Plex Sans"/>
              </a:rPr>
              <a:t>RLS policy:</a:t>
            </a:r>
            <a:br/>
            <a:r>
              <a:t>judge_id =</a:t>
            </a:r>
            <a:br/>
            <a:r>
              <a:t>current_setting(...)</a:t>
            </a:r>
          </a:p>
        </p:txBody>
      </p:sp>
      <p:sp>
        <p:nvSpPr>
          <p:cNvPr id="20" name="Rounded Rectangle 19"/>
          <p:cNvSpPr/>
          <p:nvPr/>
        </p:nvSpPr>
        <p:spPr>
          <a:xfrm>
            <a:off x="7772400" y="3840480"/>
            <a:ext cx="3200400" cy="548640"/>
          </a:xfrm>
          <a:prstGeom prst="roundRect">
            <a:avLst>
              <a:gd name="adj" fmla="val 2000"/>
            </a:avLst>
          </a:prstGeom>
          <a:solidFill>
            <a:srgbClr val="FEF2F2"/>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0" y="3886200"/>
            <a:ext cx="3200400" cy="457200"/>
          </a:xfrm>
          <a:prstGeom prst="rect">
            <a:avLst/>
          </a:prstGeom>
          <a:noFill/>
        </p:spPr>
        <p:txBody>
          <a:bodyPr wrap="square"/>
          <a:lstStyle/>
          <a:p>
            <a:pPr algn="ctr">
              <a:spcBef>
                <a:spcPts val="0"/>
              </a:spcBef>
              <a:spcAft>
                <a:spcPts val="0"/>
              </a:spcAft>
              <a:defRPr sz="1200" b="0">
                <a:solidFill>
                  <a:srgbClr val="B45309"/>
                </a:solidFill>
                <a:latin typeface="IBM Plex Sans"/>
              </a:defRPr>
            </a:pPr>
            <a:r>
              <a:rPr>
                <a:latin typeface="IBM Plex Sans"/>
              </a:rPr>
              <a:t>✕  Judge requests another judge's scores → BLOCKED</a:t>
            </a:r>
          </a:p>
        </p:txBody>
      </p:sp>
      <p:sp>
        <p:nvSpPr>
          <p:cNvPr id="22" name="TextBox 21"/>
          <p:cNvSpPr txBox="1"/>
          <p:nvPr/>
        </p:nvSpPr>
        <p:spPr>
          <a:xfrm>
            <a:off x="640080" y="3840480"/>
            <a:ext cx="6400800" cy="731520"/>
          </a:xfrm>
          <a:prstGeom prst="rect">
            <a:avLst/>
          </a:prstGeom>
          <a:noFill/>
        </p:spPr>
        <p:txBody>
          <a:bodyPr wrap="square"/>
          <a:lstStyle/>
          <a:p>
            <a:pPr algn="l">
              <a:spcBef>
                <a:spcPts val="0"/>
              </a:spcBef>
              <a:spcAft>
                <a:spcPts val="0"/>
              </a:spcAft>
              <a:defRPr sz="1300" b="0">
                <a:solidFill>
                  <a:srgbClr val="0E1116"/>
                </a:solidFill>
                <a:latin typeface="IBM Plex Sans"/>
              </a:defRPr>
            </a:pPr>
            <a:r>
              <a:rPr>
                <a:latin typeface="IBM Plex Sans"/>
              </a:rPr>
              <a:t>Two independent layers of enforcement.</a:t>
            </a:r>
            <a:br/>
            <a:r>
              <a:t>1. Service logic: every query filters by judge_id from JWT, never a request param.</a:t>
            </a:r>
            <a:br/>
            <a:r>
              <a:t>2. Postgres RLS: session variable set from JWT claim. Even raw SQL leaks nothing.</a:t>
            </a:r>
          </a:p>
        </p:txBody>
      </p:sp>
      <p:sp>
        <p:nvSpPr>
          <p:cNvPr id="23" name="TextBox 22"/>
          <p:cNvSpPr txBox="1"/>
          <p:nvPr/>
        </p:nvSpPr>
        <p:spPr>
          <a:xfrm>
            <a:off x="640080" y="5029200"/>
            <a:ext cx="10911535" cy="365760"/>
          </a:xfrm>
          <a:prstGeom prst="rect">
            <a:avLst/>
          </a:prstGeom>
          <a:noFill/>
        </p:spPr>
        <p:txBody>
          <a:bodyPr wrap="square"/>
          <a:lstStyle/>
          <a:p>
            <a:pPr algn="l">
              <a:spcBef>
                <a:spcPts val="0"/>
              </a:spcBef>
              <a:spcAft>
                <a:spcPts val="0"/>
              </a:spcAft>
              <a:defRPr sz="1200" b="0">
                <a:solidFill>
                  <a:srgbClr val="5B6470"/>
                </a:solidFill>
                <a:latin typeface="IBM Plex Mono"/>
              </a:defRPr>
            </a:pPr>
            <a:r>
              <a:rPr>
                <a:latin typeface="IBM Plex Mono"/>
              </a:rPr>
              <a:t>Idempotency-key header + unique DB constraint prevents duplicate score submission.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640080" y="548640"/>
            <a:ext cx="10911535" cy="457200"/>
          </a:xfrm>
          <a:prstGeom prst="rect">
            <a:avLst/>
          </a:prstGeom>
          <a:noFill/>
        </p:spPr>
        <p:txBody>
          <a:bodyPr wrap="square"/>
          <a:lstStyle/>
          <a:p>
            <a:pPr algn="l">
              <a:spcBef>
                <a:spcPts val="0"/>
              </a:spcBef>
              <a:spcAft>
                <a:spcPts val="0"/>
              </a:spcAft>
              <a:defRPr sz="2800" b="1">
                <a:solidFill>
                  <a:srgbClr val="0E1116"/>
                </a:solidFill>
                <a:latin typeface="IBM Plex Sans"/>
              </a:defRPr>
            </a:pPr>
            <a:r>
              <a:rPr>
                <a:latin typeface="IBM Plex Sans"/>
              </a:rPr>
              <a:t>Three controls surround every score before it enters the average</a:t>
            </a:r>
          </a:p>
        </p:txBody>
      </p:sp>
      <p:sp>
        <p:nvSpPr>
          <p:cNvPr id="3" name="TextBox 2"/>
          <p:cNvSpPr txBox="1"/>
          <p:nvPr/>
        </p:nvSpPr>
        <p:spPr>
          <a:xfrm>
            <a:off x="11430000" y="6400800"/>
            <a:ext cx="548640" cy="274320"/>
          </a:xfrm>
          <a:prstGeom prst="rect">
            <a:avLst/>
          </a:prstGeom>
          <a:noFill/>
        </p:spPr>
        <p:txBody>
          <a:bodyPr wrap="square"/>
          <a:lstStyle/>
          <a:p>
            <a:pPr algn="r">
              <a:spcBef>
                <a:spcPts val="0"/>
              </a:spcBef>
              <a:spcAft>
                <a:spcPts val="0"/>
              </a:spcAft>
              <a:defRPr sz="1000" b="0">
                <a:solidFill>
                  <a:srgbClr val="5B6470"/>
                </a:solidFill>
                <a:latin typeface="IBM Plex Sans"/>
              </a:defRPr>
            </a:pPr>
            <a:r>
              <a:rPr>
                <a:latin typeface="IBM Plex Sans"/>
              </a:rPr>
              <a:t>10</a:t>
            </a:r>
          </a:p>
        </p:txBody>
      </p:sp>
      <p:sp>
        <p:nvSpPr>
          <p:cNvPr id="4" name="TextBox 3"/>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
        <p:nvSpPr>
          <p:cNvPr id="5" name="Rounded Rectangle 4"/>
          <p:cNvSpPr/>
          <p:nvPr/>
        </p:nvSpPr>
        <p:spPr>
          <a:xfrm>
            <a:off x="640080" y="1645920"/>
            <a:ext cx="3291840" cy="201168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83080"/>
            <a:ext cx="2926080" cy="365760"/>
          </a:xfrm>
          <a:prstGeom prst="rect">
            <a:avLst/>
          </a:prstGeom>
          <a:noFill/>
        </p:spPr>
        <p:txBody>
          <a:bodyPr wrap="square"/>
          <a:lstStyle/>
          <a:p>
            <a:pPr algn="l">
              <a:spcBef>
                <a:spcPts val="0"/>
              </a:spcBef>
              <a:spcAft>
                <a:spcPts val="0"/>
              </a:spcAft>
              <a:defRPr sz="1400" b="1">
                <a:solidFill>
                  <a:srgbClr val="0F766E"/>
                </a:solidFill>
                <a:latin typeface="IBM Plex Sans"/>
              </a:defRPr>
            </a:pPr>
            <a:r>
              <a:rPr>
                <a:latin typeface="IBM Plex Sans"/>
              </a:rPr>
              <a:t>Calibration round</a:t>
            </a:r>
          </a:p>
        </p:txBody>
      </p:sp>
      <p:sp>
        <p:nvSpPr>
          <p:cNvPr id="7" name="TextBox 6"/>
          <p:cNvSpPr txBox="1"/>
          <p:nvPr/>
        </p:nvSpPr>
        <p:spPr>
          <a:xfrm>
            <a:off x="822960" y="2194560"/>
            <a:ext cx="2926080" cy="1280160"/>
          </a:xfrm>
          <a:prstGeom prst="rect">
            <a:avLst/>
          </a:prstGeom>
          <a:noFill/>
        </p:spPr>
        <p:txBody>
          <a:bodyPr wrap="square"/>
          <a:lstStyle/>
          <a:p>
            <a:pPr algn="l">
              <a:spcBef>
                <a:spcPts val="0"/>
              </a:spcBef>
              <a:spcAft>
                <a:spcPts val="0"/>
              </a:spcAft>
              <a:defRPr sz="1200" b="0">
                <a:solidFill>
                  <a:srgbClr val="5B6470"/>
                </a:solidFill>
                <a:latin typeface="IBM Plex Sans"/>
              </a:defRPr>
            </a:pPr>
            <a:r>
              <a:rPr>
                <a:latin typeface="IBM Plex Sans"/>
              </a:rPr>
              <a:t>Judges score 2–3 organizer-picked reference</a:t>
            </a:r>
            <a:br/>
            <a:r>
              <a:t>submissions first. Miscalibrated judges are</a:t>
            </a:r>
            <a:br/>
            <a:r>
              <a:t>flagged before real scoring begins.</a:t>
            </a:r>
          </a:p>
        </p:txBody>
      </p:sp>
      <p:sp>
        <p:nvSpPr>
          <p:cNvPr id="8" name="Rounded Rectangle 7"/>
          <p:cNvSpPr/>
          <p:nvPr/>
        </p:nvSpPr>
        <p:spPr>
          <a:xfrm>
            <a:off x="4297680" y="1645920"/>
            <a:ext cx="3291840" cy="201168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783080"/>
            <a:ext cx="2926080" cy="365760"/>
          </a:xfrm>
          <a:prstGeom prst="rect">
            <a:avLst/>
          </a:prstGeom>
          <a:noFill/>
        </p:spPr>
        <p:txBody>
          <a:bodyPr wrap="square"/>
          <a:lstStyle/>
          <a:p>
            <a:pPr algn="l">
              <a:spcBef>
                <a:spcPts val="0"/>
              </a:spcBef>
              <a:spcAft>
                <a:spcPts val="0"/>
              </a:spcAft>
              <a:defRPr sz="1400" b="1">
                <a:solidFill>
                  <a:srgbClr val="0F766E"/>
                </a:solidFill>
                <a:latin typeface="IBM Plex Sans"/>
              </a:defRPr>
            </a:pPr>
            <a:r>
              <a:rPr>
                <a:latin typeface="IBM Plex Sans"/>
              </a:rPr>
              <a:t>COI self-declaration</a:t>
            </a:r>
          </a:p>
        </p:txBody>
      </p:sp>
      <p:sp>
        <p:nvSpPr>
          <p:cNvPr id="10" name="TextBox 9"/>
          <p:cNvSpPr txBox="1"/>
          <p:nvPr/>
        </p:nvSpPr>
        <p:spPr>
          <a:xfrm>
            <a:off x="4480560" y="2194560"/>
            <a:ext cx="2926080" cy="1280160"/>
          </a:xfrm>
          <a:prstGeom prst="rect">
            <a:avLst/>
          </a:prstGeom>
          <a:noFill/>
        </p:spPr>
        <p:txBody>
          <a:bodyPr wrap="square"/>
          <a:lstStyle/>
          <a:p>
            <a:pPr algn="l">
              <a:spcBef>
                <a:spcPts val="0"/>
              </a:spcBef>
              <a:spcAft>
                <a:spcPts val="0"/>
              </a:spcAft>
              <a:defRPr sz="1200" b="0">
                <a:solidFill>
                  <a:srgbClr val="5B6470"/>
                </a:solidFill>
                <a:latin typeface="IBM Plex Sans"/>
              </a:defRPr>
            </a:pPr>
            <a:r>
              <a:rPr>
                <a:latin typeface="IBM Plex Sans"/>
              </a:rPr>
              <a:t>Judge flags 'I know this team'. Auto-excluded</a:t>
            </a:r>
            <a:br/>
            <a:r>
              <a:t>from assignment. Exclusion is audit-logged</a:t>
            </a:r>
            <a:br/>
            <a:r>
              <a:t>and cannot be reversed by the judge.</a:t>
            </a:r>
          </a:p>
        </p:txBody>
      </p:sp>
      <p:sp>
        <p:nvSpPr>
          <p:cNvPr id="11" name="Rounded Rectangle 10"/>
          <p:cNvSpPr/>
          <p:nvPr/>
        </p:nvSpPr>
        <p:spPr>
          <a:xfrm>
            <a:off x="7955280" y="1645920"/>
            <a:ext cx="3291840" cy="201168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1783080"/>
            <a:ext cx="2926080" cy="365760"/>
          </a:xfrm>
          <a:prstGeom prst="rect">
            <a:avLst/>
          </a:prstGeom>
          <a:noFill/>
        </p:spPr>
        <p:txBody>
          <a:bodyPr wrap="square"/>
          <a:lstStyle/>
          <a:p>
            <a:pPr algn="l">
              <a:spcBef>
                <a:spcPts val="0"/>
              </a:spcBef>
              <a:spcAft>
                <a:spcPts val="0"/>
              </a:spcAft>
              <a:defRPr sz="1400" b="1">
                <a:solidFill>
                  <a:srgbClr val="0F766E"/>
                </a:solidFill>
                <a:latin typeface="IBM Plex Sans"/>
              </a:defRPr>
            </a:pPr>
            <a:r>
              <a:rPr>
                <a:latin typeface="IBM Plex Sans"/>
              </a:rPr>
              <a:t>Flag / Abstain</a:t>
            </a:r>
          </a:p>
        </p:txBody>
      </p:sp>
      <p:sp>
        <p:nvSpPr>
          <p:cNvPr id="13" name="TextBox 12"/>
          <p:cNvSpPr txBox="1"/>
          <p:nvPr/>
        </p:nvSpPr>
        <p:spPr>
          <a:xfrm>
            <a:off x="8138160" y="2194560"/>
            <a:ext cx="2926080" cy="1280160"/>
          </a:xfrm>
          <a:prstGeom prst="rect">
            <a:avLst/>
          </a:prstGeom>
          <a:noFill/>
        </p:spPr>
        <p:txBody>
          <a:bodyPr wrap="square"/>
          <a:lstStyle/>
          <a:p>
            <a:pPr algn="l">
              <a:spcBef>
                <a:spcPts val="0"/>
              </a:spcBef>
              <a:spcAft>
                <a:spcPts val="0"/>
              </a:spcAft>
              <a:defRPr sz="1200" b="0">
                <a:solidFill>
                  <a:srgbClr val="5B6470"/>
                </a:solidFill>
                <a:latin typeface="IBM Plex Sans"/>
              </a:defRPr>
            </a:pPr>
            <a:r>
              <a:rPr>
                <a:latin typeface="IBM Plex Sans"/>
              </a:rPr>
              <a:t>Broken or ineligible submissions route to</a:t>
            </a:r>
            <a:br/>
            <a:r>
              <a:t>the organizer for review. They do not</a:t>
            </a:r>
            <a:br/>
            <a:r>
              <a:t>pollute the scoring average.</a:t>
            </a:r>
          </a:p>
        </p:txBody>
      </p:sp>
      <p:sp>
        <p:nvSpPr>
          <p:cNvPr id="14" name="TextBox 13"/>
          <p:cNvSpPr txBox="1"/>
          <p:nvPr/>
        </p:nvSpPr>
        <p:spPr>
          <a:xfrm>
            <a:off x="640080" y="4114800"/>
            <a:ext cx="10911535" cy="457200"/>
          </a:xfrm>
          <a:prstGeom prst="rect">
            <a:avLst/>
          </a:prstGeom>
          <a:noFill/>
        </p:spPr>
        <p:txBody>
          <a:bodyPr wrap="square"/>
          <a:lstStyle/>
          <a:p>
            <a:pPr algn="l">
              <a:spcBef>
                <a:spcPts val="0"/>
              </a:spcBef>
              <a:spcAft>
                <a:spcPts val="0"/>
              </a:spcAft>
              <a:defRPr sz="1300" b="0">
                <a:solidFill>
                  <a:srgbClr val="0E1116"/>
                </a:solidFill>
                <a:latin typeface="IBM Plex Sans"/>
              </a:defRPr>
            </a:pPr>
            <a:r>
              <a:rPr>
                <a:latin typeface="IBM Plex Sans"/>
              </a:rPr>
              <a:t>One-click integrity report: method, raw vs normalized distributions, judges deviating most from consensus, full audit summary.</a:t>
            </a:r>
          </a:p>
        </p:txBody>
      </p:sp>
      <p:sp>
        <p:nvSpPr>
          <p:cNvPr id="15" name="Rounded Rectangle 14"/>
          <p:cNvSpPr/>
          <p:nvPr/>
        </p:nvSpPr>
        <p:spPr>
          <a:xfrm>
            <a:off x="7772400" y="4389120"/>
            <a:ext cx="3657600" cy="182880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5029200"/>
            <a:ext cx="3657600" cy="274320"/>
          </a:xfrm>
          <a:prstGeom prst="rect">
            <a:avLst/>
          </a:prstGeom>
          <a:noFill/>
        </p:spPr>
        <p:txBody>
          <a:bodyPr wrap="square"/>
          <a:lstStyle/>
          <a:p>
            <a:pPr algn="ctr">
              <a:spcBef>
                <a:spcPts val="0"/>
              </a:spcBef>
              <a:spcAft>
                <a:spcPts val="0"/>
              </a:spcAft>
              <a:defRPr sz="1000" b="0">
                <a:solidFill>
                  <a:srgbClr val="B45309"/>
                </a:solidFill>
                <a:latin typeface="IBM Plex Mono"/>
              </a:defRPr>
            </a:pPr>
            <a:r>
              <a:rPr>
                <a:latin typeface="IBM Plex Mono"/>
              </a:rPr>
              <a:t>[SCREENSHOT: 12-integrity-report.png]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548640"/>
            <a:ext cx="10911535" cy="457200"/>
          </a:xfrm>
          <a:prstGeom prst="rect">
            <a:avLst/>
          </a:prstGeom>
          <a:noFill/>
        </p:spPr>
        <p:txBody>
          <a:bodyPr wrap="square"/>
          <a:lstStyle/>
          <a:p>
            <a:pPr algn="l">
              <a:spcBef>
                <a:spcPts val="0"/>
              </a:spcBef>
              <a:spcAft>
                <a:spcPts val="0"/>
              </a:spcAft>
              <a:defRPr sz="2800" b="1">
                <a:solidFill>
                  <a:srgbClr val="0E1116"/>
                </a:solidFill>
                <a:latin typeface="IBM Plex Sans"/>
              </a:defRPr>
            </a:pPr>
            <a:r>
              <a:rPr>
                <a:latin typeface="IBM Plex Sans"/>
              </a:rPr>
              <a:t>Forensic repo scan flags pre-built submissions for organizer review</a:t>
            </a:r>
          </a:p>
        </p:txBody>
      </p:sp>
      <p:sp>
        <p:nvSpPr>
          <p:cNvPr id="3" name="TextBox 2"/>
          <p:cNvSpPr txBox="1"/>
          <p:nvPr/>
        </p:nvSpPr>
        <p:spPr>
          <a:xfrm>
            <a:off x="11430000" y="6400800"/>
            <a:ext cx="548640" cy="274320"/>
          </a:xfrm>
          <a:prstGeom prst="rect">
            <a:avLst/>
          </a:prstGeom>
          <a:noFill/>
        </p:spPr>
        <p:txBody>
          <a:bodyPr wrap="square"/>
          <a:lstStyle/>
          <a:p>
            <a:pPr algn="r">
              <a:spcBef>
                <a:spcPts val="0"/>
              </a:spcBef>
              <a:spcAft>
                <a:spcPts val="0"/>
              </a:spcAft>
              <a:defRPr sz="1000" b="0">
                <a:solidFill>
                  <a:srgbClr val="5B6470"/>
                </a:solidFill>
                <a:latin typeface="IBM Plex Sans"/>
              </a:defRPr>
            </a:pPr>
            <a:r>
              <a:rPr>
                <a:latin typeface="IBM Plex Sans"/>
              </a:rPr>
              <a:t>11</a:t>
            </a:r>
          </a:p>
        </p:txBody>
      </p:sp>
      <p:sp>
        <p:nvSpPr>
          <p:cNvPr id="4" name="TextBox 3"/>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
        <p:nvSpPr>
          <p:cNvPr id="5" name="Rounded Rectangle 4"/>
          <p:cNvSpPr/>
          <p:nvPr/>
        </p:nvSpPr>
        <p:spPr>
          <a:xfrm>
            <a:off x="640080" y="1828800"/>
            <a:ext cx="1463040" cy="640080"/>
          </a:xfrm>
          <a:prstGeom prst="roundRect">
            <a:avLst>
              <a:gd name="adj" fmla="val 2000"/>
            </a:avLst>
          </a:prstGeom>
          <a:noFill/>
          <a:ln w="12700">
            <a:solidFill>
              <a:srgbClr val="5B64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01952"/>
            <a:ext cx="1463040" cy="502920"/>
          </a:xfrm>
          <a:prstGeom prst="rect">
            <a:avLst/>
          </a:prstGeom>
          <a:noFill/>
        </p:spPr>
        <p:txBody>
          <a:bodyPr wrap="square"/>
          <a:lstStyle/>
          <a:p>
            <a:pPr algn="ctr">
              <a:spcBef>
                <a:spcPts val="0"/>
              </a:spcBef>
              <a:spcAft>
                <a:spcPts val="0"/>
              </a:spcAft>
              <a:defRPr sz="1000" b="0">
                <a:solidFill>
                  <a:srgbClr val="FFFFFF"/>
                </a:solidFill>
                <a:latin typeface="IBM Plex Mono"/>
              </a:defRPr>
            </a:pPr>
            <a:r>
              <a:rPr>
                <a:latin typeface="IBM Plex Mono"/>
              </a:rPr>
              <a:t>GitHub URL</a:t>
            </a:r>
          </a:p>
        </p:txBody>
      </p:sp>
      <p:cxnSp>
        <p:nvCxnSpPr>
          <p:cNvPr id="7" name="Connector 6"/>
          <p:cNvCxnSpPr/>
          <p:nvPr/>
        </p:nvCxnSpPr>
        <p:spPr>
          <a:xfrm>
            <a:off x="2103120" y="2148840"/>
            <a:ext cx="274320" cy="0"/>
          </a:xfrm>
          <a:prstGeom prst="line">
            <a:avLst/>
          </a:prstGeom>
          <a:ln w="19050">
            <a:solidFill>
              <a:srgbClr val="5B64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377440" y="1828800"/>
            <a:ext cx="1463040" cy="640080"/>
          </a:xfrm>
          <a:prstGeom prst="roundRect">
            <a:avLst>
              <a:gd name="adj" fmla="val 2000"/>
            </a:avLst>
          </a:prstGeom>
          <a:noFill/>
          <a:ln w="12700">
            <a:solidFill>
              <a:srgbClr val="5B64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77440" y="1901952"/>
            <a:ext cx="1463040" cy="502920"/>
          </a:xfrm>
          <a:prstGeom prst="rect">
            <a:avLst/>
          </a:prstGeom>
          <a:noFill/>
        </p:spPr>
        <p:txBody>
          <a:bodyPr wrap="square"/>
          <a:lstStyle/>
          <a:p>
            <a:pPr algn="ctr">
              <a:spcBef>
                <a:spcPts val="0"/>
              </a:spcBef>
              <a:spcAft>
                <a:spcPts val="0"/>
              </a:spcAft>
              <a:defRPr sz="1000" b="0">
                <a:solidFill>
                  <a:srgbClr val="FFFFFF"/>
                </a:solidFill>
                <a:latin typeface="IBM Plex Mono"/>
              </a:defRPr>
            </a:pPr>
            <a:r>
              <a:rPr>
                <a:latin typeface="IBM Plex Mono"/>
              </a:rPr>
              <a:t>JGit clone</a:t>
            </a:r>
            <a:br/>
            <a:r>
              <a:t>(in-memory)</a:t>
            </a:r>
          </a:p>
        </p:txBody>
      </p:sp>
      <p:cxnSp>
        <p:nvCxnSpPr>
          <p:cNvPr id="10" name="Connector 9"/>
          <p:cNvCxnSpPr/>
          <p:nvPr/>
        </p:nvCxnSpPr>
        <p:spPr>
          <a:xfrm>
            <a:off x="3840480" y="2148840"/>
            <a:ext cx="274320" cy="0"/>
          </a:xfrm>
          <a:prstGeom prst="line">
            <a:avLst/>
          </a:prstGeom>
          <a:ln w="19050">
            <a:solidFill>
              <a:srgbClr val="5B64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14800" y="1828800"/>
            <a:ext cx="1463040" cy="640080"/>
          </a:xfrm>
          <a:prstGeom prst="roundRect">
            <a:avLst>
              <a:gd name="adj" fmla="val 2000"/>
            </a:avLst>
          </a:prstGeom>
          <a:noFill/>
          <a:ln w="12700">
            <a:solidFill>
              <a:srgbClr val="5B64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0" y="1901952"/>
            <a:ext cx="1463040" cy="502920"/>
          </a:xfrm>
          <a:prstGeom prst="rect">
            <a:avLst/>
          </a:prstGeom>
          <a:noFill/>
        </p:spPr>
        <p:txBody>
          <a:bodyPr wrap="square"/>
          <a:lstStyle/>
          <a:p>
            <a:pPr algn="ctr">
              <a:spcBef>
                <a:spcPts val="0"/>
              </a:spcBef>
              <a:spcAft>
                <a:spcPts val="0"/>
              </a:spcAft>
              <a:defRPr sz="1000" b="0">
                <a:solidFill>
                  <a:srgbClr val="FFFFFF"/>
                </a:solidFill>
                <a:latin typeface="IBM Plex Mono"/>
              </a:defRPr>
            </a:pPr>
            <a:r>
              <a:rPr>
                <a:latin typeface="IBM Plex Mono"/>
              </a:rPr>
              <a:t>Walk commit</a:t>
            </a:r>
            <a:br/>
            <a:r>
              <a:t>graph</a:t>
            </a:r>
          </a:p>
        </p:txBody>
      </p:sp>
      <p:cxnSp>
        <p:nvCxnSpPr>
          <p:cNvPr id="13" name="Connector 12"/>
          <p:cNvCxnSpPr/>
          <p:nvPr/>
        </p:nvCxnSpPr>
        <p:spPr>
          <a:xfrm>
            <a:off x="5577840" y="2148840"/>
            <a:ext cx="274320" cy="0"/>
          </a:xfrm>
          <a:prstGeom prst="line">
            <a:avLst/>
          </a:prstGeom>
          <a:ln w="19050">
            <a:solidFill>
              <a:srgbClr val="5B64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852160" y="1828800"/>
            <a:ext cx="1463040" cy="640080"/>
          </a:xfrm>
          <a:prstGeom prst="roundRect">
            <a:avLst>
              <a:gd name="adj" fmla="val 2000"/>
            </a:avLst>
          </a:prstGeom>
          <a:noFill/>
          <a:ln w="12700">
            <a:solidFill>
              <a:srgbClr val="5B64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1901952"/>
            <a:ext cx="1463040" cy="502920"/>
          </a:xfrm>
          <a:prstGeom prst="rect">
            <a:avLst/>
          </a:prstGeom>
          <a:noFill/>
        </p:spPr>
        <p:txBody>
          <a:bodyPr wrap="square"/>
          <a:lstStyle/>
          <a:p>
            <a:pPr algn="ctr">
              <a:spcBef>
                <a:spcPts val="0"/>
              </a:spcBef>
              <a:spcAft>
                <a:spcPts val="0"/>
              </a:spcAft>
              <a:defRPr sz="1000" b="0">
                <a:solidFill>
                  <a:srgbClr val="FFFFFF"/>
                </a:solidFill>
                <a:latin typeface="IBM Plex Mono"/>
              </a:defRPr>
            </a:pPr>
            <a:r>
              <a:rPr>
                <a:latin typeface="IBM Plex Mono"/>
              </a:rPr>
              <a:t>Compare to</a:t>
            </a:r>
            <a:br/>
            <a:r>
              <a:t>event window</a:t>
            </a:r>
          </a:p>
        </p:txBody>
      </p:sp>
      <p:cxnSp>
        <p:nvCxnSpPr>
          <p:cNvPr id="16" name="Connector 15"/>
          <p:cNvCxnSpPr/>
          <p:nvPr/>
        </p:nvCxnSpPr>
        <p:spPr>
          <a:xfrm>
            <a:off x="7315200" y="2148840"/>
            <a:ext cx="274320" cy="0"/>
          </a:xfrm>
          <a:prstGeom prst="line">
            <a:avLst/>
          </a:prstGeom>
          <a:ln w="19050">
            <a:solidFill>
              <a:srgbClr val="5B64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589520" y="1828800"/>
            <a:ext cx="1463040" cy="640080"/>
          </a:xfrm>
          <a:prstGeom prst="roundRect">
            <a:avLst>
              <a:gd name="adj" fmla="val 2000"/>
            </a:avLst>
          </a:prstGeom>
          <a:noFill/>
          <a:ln w="12700">
            <a:solidFill>
              <a:srgbClr val="5B64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0" y="1901952"/>
            <a:ext cx="1463040" cy="502920"/>
          </a:xfrm>
          <a:prstGeom prst="rect">
            <a:avLst/>
          </a:prstGeom>
          <a:noFill/>
        </p:spPr>
        <p:txBody>
          <a:bodyPr wrap="square"/>
          <a:lstStyle/>
          <a:p>
            <a:pPr algn="ctr">
              <a:spcBef>
                <a:spcPts val="0"/>
              </a:spcBef>
              <a:spcAft>
                <a:spcPts val="0"/>
              </a:spcAft>
              <a:defRPr sz="1000" b="0">
                <a:solidFill>
                  <a:srgbClr val="FFFFFF"/>
                </a:solidFill>
                <a:latin typeface="IBM Plex Mono"/>
              </a:defRPr>
            </a:pPr>
            <a:r>
              <a:rPr>
                <a:latin typeface="IBM Plex Mono"/>
              </a:rPr>
              <a:t>Compute</a:t>
            </a:r>
            <a:br/>
            <a:r>
              <a:t>risk features</a:t>
            </a:r>
          </a:p>
        </p:txBody>
      </p:sp>
      <p:cxnSp>
        <p:nvCxnSpPr>
          <p:cNvPr id="19" name="Connector 18"/>
          <p:cNvCxnSpPr/>
          <p:nvPr/>
        </p:nvCxnSpPr>
        <p:spPr>
          <a:xfrm>
            <a:off x="9052560" y="2148840"/>
            <a:ext cx="274320" cy="0"/>
          </a:xfrm>
          <a:prstGeom prst="line">
            <a:avLst/>
          </a:prstGeom>
          <a:ln w="19050">
            <a:solidFill>
              <a:srgbClr val="5B64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326880" y="1828800"/>
            <a:ext cx="1463040" cy="640080"/>
          </a:xfrm>
          <a:prstGeom prst="roundRect">
            <a:avLst>
              <a:gd name="adj" fmla="val 2000"/>
            </a:avLst>
          </a:prstGeom>
          <a:solidFill>
            <a:srgbClr val="B45309"/>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0" y="1901952"/>
            <a:ext cx="1463040" cy="502920"/>
          </a:xfrm>
          <a:prstGeom prst="rect">
            <a:avLst/>
          </a:prstGeom>
          <a:noFill/>
        </p:spPr>
        <p:txBody>
          <a:bodyPr wrap="square"/>
          <a:lstStyle/>
          <a:p>
            <a:pPr algn="ctr">
              <a:spcBef>
                <a:spcPts val="0"/>
              </a:spcBef>
              <a:spcAft>
                <a:spcPts val="0"/>
              </a:spcAft>
              <a:defRPr sz="1000" b="0">
                <a:solidFill>
                  <a:srgbClr val="FFFFFF"/>
                </a:solidFill>
                <a:latin typeface="IBM Plex Mono"/>
              </a:defRPr>
            </a:pPr>
            <a:r>
              <a:rPr>
                <a:latin typeface="IBM Plex Mono"/>
              </a:rPr>
              <a:t>Risk Score</a:t>
            </a:r>
          </a:p>
        </p:txBody>
      </p:sp>
      <p:sp>
        <p:nvSpPr>
          <p:cNvPr id="22" name="TextBox 21"/>
          <p:cNvSpPr txBox="1"/>
          <p:nvPr/>
        </p:nvSpPr>
        <p:spPr>
          <a:xfrm>
            <a:off x="640080" y="2926080"/>
            <a:ext cx="6400800" cy="274320"/>
          </a:xfrm>
          <a:prstGeom prst="rect">
            <a:avLst/>
          </a:prstGeom>
          <a:noFill/>
        </p:spPr>
        <p:txBody>
          <a:bodyPr wrap="square"/>
          <a:lstStyle/>
          <a:p>
            <a:pPr algn="l">
              <a:spcBef>
                <a:spcPts val="0"/>
              </a:spcBef>
              <a:spcAft>
                <a:spcPts val="0"/>
              </a:spcAft>
              <a:defRPr sz="1300" b="1">
                <a:solidFill>
                  <a:srgbClr val="0F766E"/>
                </a:solidFill>
                <a:latin typeface="IBM Plex Sans"/>
              </a:defRPr>
            </a:pPr>
            <a:r>
              <a:rPr>
                <a:latin typeface="IBM Plex Sans"/>
              </a:rPr>
              <a:t>Risk scoring heuristics (confirmed from code)</a:t>
            </a:r>
          </a:p>
        </p:txBody>
      </p:sp>
      <p:sp>
        <p:nvSpPr>
          <p:cNvPr id="23" name="TextBox 22"/>
          <p:cNvSpPr txBox="1"/>
          <p:nvPr/>
        </p:nvSpPr>
        <p:spPr>
          <a:xfrm>
            <a:off x="914400" y="3291840"/>
            <a:ext cx="6400800" cy="274320"/>
          </a:xfrm>
          <a:prstGeom prst="rect">
            <a:avLst/>
          </a:prstGeom>
          <a:noFill/>
        </p:spPr>
        <p:txBody>
          <a:bodyPr wrap="square"/>
          <a:lstStyle/>
          <a:p>
            <a:pPr algn="l">
              <a:spcBef>
                <a:spcPts val="0"/>
              </a:spcBef>
              <a:spcAft>
                <a:spcPts val="0"/>
              </a:spcAft>
              <a:defRPr sz="1200" b="0">
                <a:solidFill>
                  <a:srgbClr val="FFFFFF"/>
                </a:solidFill>
                <a:latin typeface="IBM Plex Sans"/>
              </a:defRPr>
            </a:pPr>
            <a:r>
              <a:rPr>
                <a:latin typeface="IBM Plex Sans"/>
              </a:rPr>
              <a:t>·  0 commits → 100 risk score</a:t>
            </a:r>
          </a:p>
        </p:txBody>
      </p:sp>
      <p:sp>
        <p:nvSpPr>
          <p:cNvPr id="24" name="TextBox 23"/>
          <p:cNvSpPr txBox="1"/>
          <p:nvPr/>
        </p:nvSpPr>
        <p:spPr>
          <a:xfrm>
            <a:off x="914400" y="3611880"/>
            <a:ext cx="6400800" cy="274320"/>
          </a:xfrm>
          <a:prstGeom prst="rect">
            <a:avLst/>
          </a:prstGeom>
          <a:noFill/>
        </p:spPr>
        <p:txBody>
          <a:bodyPr wrap="square"/>
          <a:lstStyle/>
          <a:p>
            <a:pPr algn="l">
              <a:spcBef>
                <a:spcPts val="0"/>
              </a:spcBef>
              <a:spcAft>
                <a:spcPts val="0"/>
              </a:spcAft>
              <a:defRPr sz="1200" b="0">
                <a:solidFill>
                  <a:srgbClr val="FFFFFF"/>
                </a:solidFill>
                <a:latin typeface="IBM Plex Sans"/>
              </a:defRPr>
            </a:pPr>
            <a:r>
              <a:rPr>
                <a:latin typeface="IBM Plex Sans"/>
              </a:rPr>
              <a:t>·  1 commit (monolithic) → 80 risk score</a:t>
            </a:r>
          </a:p>
        </p:txBody>
      </p:sp>
      <p:sp>
        <p:nvSpPr>
          <p:cNvPr id="25" name="TextBox 24"/>
          <p:cNvSpPr txBox="1"/>
          <p:nvPr/>
        </p:nvSpPr>
        <p:spPr>
          <a:xfrm>
            <a:off x="914400" y="3931920"/>
            <a:ext cx="6400800" cy="274320"/>
          </a:xfrm>
          <a:prstGeom prst="rect">
            <a:avLst/>
          </a:prstGeom>
          <a:noFill/>
        </p:spPr>
        <p:txBody>
          <a:bodyPr wrap="square"/>
          <a:lstStyle/>
          <a:p>
            <a:pPr algn="l">
              <a:spcBef>
                <a:spcPts val="0"/>
              </a:spcBef>
              <a:spcAft>
                <a:spcPts val="0"/>
              </a:spcAft>
              <a:defRPr sz="1200" b="0">
                <a:solidFill>
                  <a:srgbClr val="FFFFFF"/>
                </a:solidFill>
                <a:latin typeface="IBM Plex Sans"/>
              </a:defRPr>
            </a:pPr>
            <a:r>
              <a:rPr>
                <a:latin typeface="IBM Plex Sans"/>
              </a:rPr>
              <a:t>·  &gt;90% commits before event start → earlyRatio × 100</a:t>
            </a:r>
          </a:p>
        </p:txBody>
      </p:sp>
      <p:sp>
        <p:nvSpPr>
          <p:cNvPr id="26" name="TextBox 25"/>
          <p:cNvSpPr txBox="1"/>
          <p:nvPr/>
        </p:nvSpPr>
        <p:spPr>
          <a:xfrm>
            <a:off x="914400" y="4251960"/>
            <a:ext cx="6400800" cy="274320"/>
          </a:xfrm>
          <a:prstGeom prst="rect">
            <a:avLst/>
          </a:prstGeom>
          <a:noFill/>
        </p:spPr>
        <p:txBody>
          <a:bodyPr wrap="square"/>
          <a:lstStyle/>
          <a:p>
            <a:pPr algn="l">
              <a:spcBef>
                <a:spcPts val="0"/>
              </a:spcBef>
              <a:spcAft>
                <a:spcPts val="0"/>
              </a:spcAft>
              <a:defRPr sz="1200" b="0">
                <a:solidFill>
                  <a:srgbClr val="FFFFFF"/>
                </a:solidFill>
                <a:latin typeface="IBM Plex Sans"/>
              </a:defRPr>
            </a:pPr>
            <a:r>
              <a:rPr>
                <a:latin typeface="IBM Plex Sans"/>
              </a:rPr>
              <a:t>·  &gt;50% commits before event start → earlyRatio × 80</a:t>
            </a:r>
          </a:p>
        </p:txBody>
      </p:sp>
      <p:sp>
        <p:nvSpPr>
          <p:cNvPr id="27" name="Rounded Rectangle 26"/>
          <p:cNvSpPr/>
          <p:nvPr/>
        </p:nvSpPr>
        <p:spPr>
          <a:xfrm>
            <a:off x="640080" y="4572000"/>
            <a:ext cx="10515600" cy="1097280"/>
          </a:xfrm>
          <a:prstGeom prst="roundRect">
            <a:avLst>
              <a:gd name="adj" fmla="val 2000"/>
            </a:avLst>
          </a:prstGeom>
          <a:no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663440"/>
            <a:ext cx="10058400" cy="914400"/>
          </a:xfrm>
          <a:prstGeom prst="rect">
            <a:avLst/>
          </a:prstGeom>
          <a:noFill/>
        </p:spPr>
        <p:txBody>
          <a:bodyPr wrap="square">
            <a:spAutoFit/>
          </a:bodyPr>
          <a:lstStyle/>
          <a:p>
            <a:pPr algn="l">
              <a:spcBef>
                <a:spcPts val="0"/>
              </a:spcBef>
              <a:spcAft>
                <a:spcPts val="600"/>
              </a:spcAft>
              <a:defRPr sz="1200" b="1">
                <a:solidFill>
                  <a:srgbClr val="B45309"/>
                </a:solidFill>
                <a:latin typeface="IBM Plex Sans"/>
              </a:defRPr>
            </a:pPr>
            <a:r>
              <a:t>Honest caveats</a:t>
            </a:r>
          </a:p>
          <a:p>
            <a:pPr algn="l">
              <a:spcBef>
                <a:spcPts val="0"/>
              </a:spcBef>
              <a:spcAft>
                <a:spcPts val="200"/>
              </a:spcAft>
              <a:defRPr sz="1100" b="0">
                <a:solidFill>
                  <a:srgbClr val="FFFFFF"/>
                </a:solidFill>
                <a:latin typeface="IBM Plex Sans"/>
              </a:defRPr>
            </a:pPr>
            <a:r>
              <a:t>Git history can be rewritten or squashed.</a:t>
            </a:r>
          </a:p>
          <a:p>
            <a:pPr algn="l">
              <a:spcBef>
                <a:spcPts val="0"/>
              </a:spcBef>
              <a:spcAft>
                <a:spcPts val="200"/>
              </a:spcAft>
              <a:defRPr sz="1100" b="0">
                <a:solidFill>
                  <a:srgbClr val="FFFFFF"/>
                </a:solidFill>
                <a:latin typeface="IBM Plex Sans"/>
              </a:defRPr>
            </a:pPr>
            <a:r>
              <a:t>Private repos require access tokens.</a:t>
            </a:r>
          </a:p>
          <a:p>
            <a:pPr algn="l">
              <a:spcBef>
                <a:spcPts val="0"/>
              </a:spcBef>
              <a:spcAft>
                <a:spcPts val="200"/>
              </a:spcAft>
              <a:defRPr sz="1100" b="0">
                <a:solidFill>
                  <a:srgbClr val="FFFFFF"/>
                </a:solidFill>
                <a:latin typeface="IBM Plex Sans"/>
              </a:defRPr>
            </a:pPr>
            <a:r>
              <a:t>The risk score prioritizes organizer attention — it does not decide outcomes.</a:t>
            </a:r>
          </a:p>
        </p:txBody>
      </p:sp>
      <p:sp>
        <p:nvSpPr>
          <p:cNvPr id="29" name="Rounded Rectangle 28"/>
          <p:cNvSpPr/>
          <p:nvPr/>
        </p:nvSpPr>
        <p:spPr>
          <a:xfrm>
            <a:off x="7772400" y="2743200"/>
            <a:ext cx="3657600" cy="1645920"/>
          </a:xfrm>
          <a:prstGeom prst="roundRect">
            <a:avLst>
              <a:gd name="adj" fmla="val 2000"/>
            </a:avLst>
          </a:prstGeom>
          <a:noFill/>
          <a:ln w="12700">
            <a:solidFill>
              <a:srgbClr val="5B64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0" y="3383280"/>
            <a:ext cx="3657600" cy="274320"/>
          </a:xfrm>
          <a:prstGeom prst="rect">
            <a:avLst/>
          </a:prstGeom>
          <a:noFill/>
        </p:spPr>
        <p:txBody>
          <a:bodyPr wrap="square"/>
          <a:lstStyle/>
          <a:p>
            <a:pPr algn="ctr">
              <a:spcBef>
                <a:spcPts val="0"/>
              </a:spcBef>
              <a:spcAft>
                <a:spcPts val="0"/>
              </a:spcAft>
              <a:defRPr sz="1000" b="0">
                <a:solidFill>
                  <a:srgbClr val="B45309"/>
                </a:solidFill>
                <a:latin typeface="IBM Plex Mono"/>
              </a:defRPr>
            </a:pPr>
            <a:r>
              <a:rPr>
                <a:latin typeface="IBM Plex Mono"/>
              </a:rPr>
              <a:t>[SCREENSHOT: 07-organizer-risk.png]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640080" y="548640"/>
            <a:ext cx="10911535" cy="457200"/>
          </a:xfrm>
          <a:prstGeom prst="rect">
            <a:avLst/>
          </a:prstGeom>
          <a:noFill/>
        </p:spPr>
        <p:txBody>
          <a:bodyPr wrap="square"/>
          <a:lstStyle/>
          <a:p>
            <a:pPr algn="l">
              <a:spcBef>
                <a:spcPts val="0"/>
              </a:spcBef>
              <a:spcAft>
                <a:spcPts val="0"/>
              </a:spcAft>
              <a:defRPr sz="2800" b="1">
                <a:solidFill>
                  <a:srgbClr val="0E1116"/>
                </a:solidFill>
                <a:latin typeface="IBM Plex Sans"/>
              </a:defRPr>
            </a:pPr>
            <a:r>
              <a:rPr>
                <a:latin typeface="IBM Plex Sans"/>
              </a:rPr>
              <a:t>Quadratic voting makes ballot stuffing economically irrational</a:t>
            </a:r>
          </a:p>
        </p:txBody>
      </p:sp>
      <p:sp>
        <p:nvSpPr>
          <p:cNvPr id="3" name="TextBox 2"/>
          <p:cNvSpPr txBox="1"/>
          <p:nvPr/>
        </p:nvSpPr>
        <p:spPr>
          <a:xfrm>
            <a:off x="11430000" y="6400800"/>
            <a:ext cx="548640" cy="274320"/>
          </a:xfrm>
          <a:prstGeom prst="rect">
            <a:avLst/>
          </a:prstGeom>
          <a:noFill/>
        </p:spPr>
        <p:txBody>
          <a:bodyPr wrap="square"/>
          <a:lstStyle/>
          <a:p>
            <a:pPr algn="r">
              <a:spcBef>
                <a:spcPts val="0"/>
              </a:spcBef>
              <a:spcAft>
                <a:spcPts val="0"/>
              </a:spcAft>
              <a:defRPr sz="1000" b="0">
                <a:solidFill>
                  <a:srgbClr val="5B6470"/>
                </a:solidFill>
                <a:latin typeface="IBM Plex Sans"/>
              </a:defRPr>
            </a:pPr>
            <a:r>
              <a:rPr>
                <a:latin typeface="IBM Plex Sans"/>
              </a:rPr>
              <a:t>12</a:t>
            </a:r>
          </a:p>
        </p:txBody>
      </p:sp>
      <p:sp>
        <p:nvSpPr>
          <p:cNvPr id="4" name="TextBox 3"/>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
        <p:nvSpPr>
          <p:cNvPr id="5" name="TextBox 4"/>
          <p:cNvSpPr txBox="1"/>
          <p:nvPr/>
        </p:nvSpPr>
        <p:spPr>
          <a:xfrm>
            <a:off x="640080" y="1463040"/>
            <a:ext cx="5029200" cy="365760"/>
          </a:xfrm>
          <a:prstGeom prst="rect">
            <a:avLst/>
          </a:prstGeom>
          <a:noFill/>
        </p:spPr>
        <p:txBody>
          <a:bodyPr wrap="square"/>
          <a:lstStyle/>
          <a:p>
            <a:pPr algn="l">
              <a:spcBef>
                <a:spcPts val="0"/>
              </a:spcBef>
              <a:spcAft>
                <a:spcPts val="0"/>
              </a:spcAft>
              <a:defRPr sz="1800" b="1">
                <a:solidFill>
                  <a:srgbClr val="0E1116"/>
                </a:solidFill>
                <a:latin typeface="IBM Plex Mono"/>
              </a:defRPr>
            </a:pPr>
            <a:r>
              <a:rPr>
                <a:latin typeface="IBM Plex Mono"/>
              </a:rPr>
              <a:t>Cost of n votes on one project = n² credits</a:t>
            </a:r>
          </a:p>
        </p:txBody>
      </p:sp>
      <p:sp>
        <p:nvSpPr>
          <p:cNvPr id="6" name="TextBox 5"/>
          <p:cNvSpPr txBox="1"/>
          <p:nvPr/>
        </p:nvSpPr>
        <p:spPr>
          <a:xfrm>
            <a:off x="640080" y="2103120"/>
            <a:ext cx="731520" cy="274320"/>
          </a:xfrm>
          <a:prstGeom prst="rect">
            <a:avLst/>
          </a:prstGeom>
          <a:noFill/>
        </p:spPr>
        <p:txBody>
          <a:bodyPr wrap="square"/>
          <a:lstStyle/>
          <a:p>
            <a:pPr algn="ctr">
              <a:spcBef>
                <a:spcPts val="0"/>
              </a:spcBef>
              <a:spcAft>
                <a:spcPts val="0"/>
              </a:spcAft>
              <a:defRPr sz="1300" b="1">
                <a:solidFill>
                  <a:srgbClr val="5B6470"/>
                </a:solidFill>
                <a:latin typeface="IBM Plex Mono"/>
              </a:defRPr>
            </a:pPr>
            <a:r>
              <a:rPr>
                <a:latin typeface="IBM Plex Mono"/>
              </a:rPr>
              <a:t>Votes</a:t>
            </a:r>
          </a:p>
        </p:txBody>
      </p:sp>
      <p:sp>
        <p:nvSpPr>
          <p:cNvPr id="7" name="TextBox 6"/>
          <p:cNvSpPr txBox="1"/>
          <p:nvPr/>
        </p:nvSpPr>
        <p:spPr>
          <a:xfrm>
            <a:off x="1371600" y="2103120"/>
            <a:ext cx="731520" cy="274320"/>
          </a:xfrm>
          <a:prstGeom prst="rect">
            <a:avLst/>
          </a:prstGeom>
          <a:noFill/>
        </p:spPr>
        <p:txBody>
          <a:bodyPr wrap="square"/>
          <a:lstStyle/>
          <a:p>
            <a:pPr algn="ctr">
              <a:spcBef>
                <a:spcPts val="0"/>
              </a:spcBef>
              <a:spcAft>
                <a:spcPts val="0"/>
              </a:spcAft>
              <a:defRPr sz="1300" b="0">
                <a:solidFill>
                  <a:srgbClr val="0E1116"/>
                </a:solidFill>
                <a:latin typeface="IBM Plex Mono"/>
              </a:defRPr>
            </a:pPr>
            <a:r>
              <a:rPr>
                <a:latin typeface="IBM Plex Mono"/>
              </a:rPr>
              <a:t>1</a:t>
            </a:r>
          </a:p>
        </p:txBody>
      </p:sp>
      <p:sp>
        <p:nvSpPr>
          <p:cNvPr id="8" name="TextBox 7"/>
          <p:cNvSpPr txBox="1"/>
          <p:nvPr/>
        </p:nvSpPr>
        <p:spPr>
          <a:xfrm>
            <a:off x="2103120" y="2103120"/>
            <a:ext cx="731520" cy="274320"/>
          </a:xfrm>
          <a:prstGeom prst="rect">
            <a:avLst/>
          </a:prstGeom>
          <a:noFill/>
        </p:spPr>
        <p:txBody>
          <a:bodyPr wrap="square"/>
          <a:lstStyle/>
          <a:p>
            <a:pPr algn="ctr">
              <a:spcBef>
                <a:spcPts val="0"/>
              </a:spcBef>
              <a:spcAft>
                <a:spcPts val="0"/>
              </a:spcAft>
              <a:defRPr sz="1300" b="0">
                <a:solidFill>
                  <a:srgbClr val="0E1116"/>
                </a:solidFill>
                <a:latin typeface="IBM Plex Mono"/>
              </a:defRPr>
            </a:pPr>
            <a:r>
              <a:rPr>
                <a:latin typeface="IBM Plex Mono"/>
              </a:rPr>
              <a:t>2</a:t>
            </a:r>
          </a:p>
        </p:txBody>
      </p:sp>
      <p:sp>
        <p:nvSpPr>
          <p:cNvPr id="9" name="TextBox 8"/>
          <p:cNvSpPr txBox="1"/>
          <p:nvPr/>
        </p:nvSpPr>
        <p:spPr>
          <a:xfrm>
            <a:off x="2834640" y="2103120"/>
            <a:ext cx="731520" cy="274320"/>
          </a:xfrm>
          <a:prstGeom prst="rect">
            <a:avLst/>
          </a:prstGeom>
          <a:noFill/>
        </p:spPr>
        <p:txBody>
          <a:bodyPr wrap="square"/>
          <a:lstStyle/>
          <a:p>
            <a:pPr algn="ctr">
              <a:spcBef>
                <a:spcPts val="0"/>
              </a:spcBef>
              <a:spcAft>
                <a:spcPts val="0"/>
              </a:spcAft>
              <a:defRPr sz="1300" b="0">
                <a:solidFill>
                  <a:srgbClr val="0E1116"/>
                </a:solidFill>
                <a:latin typeface="IBM Plex Mono"/>
              </a:defRPr>
            </a:pPr>
            <a:r>
              <a:rPr>
                <a:latin typeface="IBM Plex Mono"/>
              </a:rPr>
              <a:t>3</a:t>
            </a:r>
          </a:p>
        </p:txBody>
      </p:sp>
      <p:sp>
        <p:nvSpPr>
          <p:cNvPr id="10" name="TextBox 9"/>
          <p:cNvSpPr txBox="1"/>
          <p:nvPr/>
        </p:nvSpPr>
        <p:spPr>
          <a:xfrm>
            <a:off x="3566160" y="2103120"/>
            <a:ext cx="731520" cy="274320"/>
          </a:xfrm>
          <a:prstGeom prst="rect">
            <a:avLst/>
          </a:prstGeom>
          <a:noFill/>
        </p:spPr>
        <p:txBody>
          <a:bodyPr wrap="square"/>
          <a:lstStyle/>
          <a:p>
            <a:pPr algn="ctr">
              <a:spcBef>
                <a:spcPts val="0"/>
              </a:spcBef>
              <a:spcAft>
                <a:spcPts val="0"/>
              </a:spcAft>
              <a:defRPr sz="1300" b="0">
                <a:solidFill>
                  <a:srgbClr val="0E1116"/>
                </a:solidFill>
                <a:latin typeface="IBM Plex Mono"/>
              </a:defRPr>
            </a:pPr>
            <a:r>
              <a:rPr>
                <a:latin typeface="IBM Plex Mono"/>
              </a:rPr>
              <a:t>4</a:t>
            </a:r>
          </a:p>
        </p:txBody>
      </p:sp>
      <p:sp>
        <p:nvSpPr>
          <p:cNvPr id="11" name="TextBox 10"/>
          <p:cNvSpPr txBox="1"/>
          <p:nvPr/>
        </p:nvSpPr>
        <p:spPr>
          <a:xfrm>
            <a:off x="4297680" y="2103120"/>
            <a:ext cx="731520" cy="274320"/>
          </a:xfrm>
          <a:prstGeom prst="rect">
            <a:avLst/>
          </a:prstGeom>
          <a:noFill/>
        </p:spPr>
        <p:txBody>
          <a:bodyPr wrap="square"/>
          <a:lstStyle/>
          <a:p>
            <a:pPr algn="ctr">
              <a:spcBef>
                <a:spcPts val="0"/>
              </a:spcBef>
              <a:spcAft>
                <a:spcPts val="0"/>
              </a:spcAft>
              <a:defRPr sz="1300" b="0">
                <a:solidFill>
                  <a:srgbClr val="0E1116"/>
                </a:solidFill>
                <a:latin typeface="IBM Plex Mono"/>
              </a:defRPr>
            </a:pPr>
            <a:r>
              <a:rPr>
                <a:latin typeface="IBM Plex Mono"/>
              </a:rPr>
              <a:t>5</a:t>
            </a:r>
          </a:p>
        </p:txBody>
      </p:sp>
      <p:sp>
        <p:nvSpPr>
          <p:cNvPr id="12" name="TextBox 11"/>
          <p:cNvSpPr txBox="1"/>
          <p:nvPr/>
        </p:nvSpPr>
        <p:spPr>
          <a:xfrm>
            <a:off x="640080" y="2423160"/>
            <a:ext cx="731520" cy="274320"/>
          </a:xfrm>
          <a:prstGeom prst="rect">
            <a:avLst/>
          </a:prstGeom>
          <a:noFill/>
        </p:spPr>
        <p:txBody>
          <a:bodyPr wrap="square"/>
          <a:lstStyle/>
          <a:p>
            <a:pPr algn="ctr">
              <a:spcBef>
                <a:spcPts val="0"/>
              </a:spcBef>
              <a:spcAft>
                <a:spcPts val="0"/>
              </a:spcAft>
              <a:defRPr sz="1300" b="1">
                <a:solidFill>
                  <a:srgbClr val="5B6470"/>
                </a:solidFill>
                <a:latin typeface="IBM Plex Mono"/>
              </a:defRPr>
            </a:pPr>
            <a:r>
              <a:rPr>
                <a:latin typeface="IBM Plex Mono"/>
              </a:rPr>
              <a:t>Cost</a:t>
            </a:r>
          </a:p>
        </p:txBody>
      </p:sp>
      <p:sp>
        <p:nvSpPr>
          <p:cNvPr id="13" name="TextBox 12"/>
          <p:cNvSpPr txBox="1"/>
          <p:nvPr/>
        </p:nvSpPr>
        <p:spPr>
          <a:xfrm>
            <a:off x="1371600" y="2423160"/>
            <a:ext cx="731520" cy="274320"/>
          </a:xfrm>
          <a:prstGeom prst="rect">
            <a:avLst/>
          </a:prstGeom>
          <a:noFill/>
        </p:spPr>
        <p:txBody>
          <a:bodyPr wrap="square"/>
          <a:lstStyle/>
          <a:p>
            <a:pPr algn="ctr">
              <a:spcBef>
                <a:spcPts val="0"/>
              </a:spcBef>
              <a:spcAft>
                <a:spcPts val="0"/>
              </a:spcAft>
              <a:defRPr sz="1300" b="0">
                <a:solidFill>
                  <a:srgbClr val="0F766E"/>
                </a:solidFill>
                <a:latin typeface="IBM Plex Mono"/>
              </a:defRPr>
            </a:pPr>
            <a:r>
              <a:rPr>
                <a:latin typeface="IBM Plex Mono"/>
              </a:rPr>
              <a:t>1</a:t>
            </a:r>
          </a:p>
        </p:txBody>
      </p:sp>
      <p:sp>
        <p:nvSpPr>
          <p:cNvPr id="14" name="TextBox 13"/>
          <p:cNvSpPr txBox="1"/>
          <p:nvPr/>
        </p:nvSpPr>
        <p:spPr>
          <a:xfrm>
            <a:off x="2103120" y="2423160"/>
            <a:ext cx="731520" cy="274320"/>
          </a:xfrm>
          <a:prstGeom prst="rect">
            <a:avLst/>
          </a:prstGeom>
          <a:noFill/>
        </p:spPr>
        <p:txBody>
          <a:bodyPr wrap="square"/>
          <a:lstStyle/>
          <a:p>
            <a:pPr algn="ctr">
              <a:spcBef>
                <a:spcPts val="0"/>
              </a:spcBef>
              <a:spcAft>
                <a:spcPts val="0"/>
              </a:spcAft>
              <a:defRPr sz="1300" b="0">
                <a:solidFill>
                  <a:srgbClr val="0F766E"/>
                </a:solidFill>
                <a:latin typeface="IBM Plex Mono"/>
              </a:defRPr>
            </a:pPr>
            <a:r>
              <a:rPr>
                <a:latin typeface="IBM Plex Mono"/>
              </a:rPr>
              <a:t>4</a:t>
            </a:r>
          </a:p>
        </p:txBody>
      </p:sp>
      <p:sp>
        <p:nvSpPr>
          <p:cNvPr id="15" name="TextBox 14"/>
          <p:cNvSpPr txBox="1"/>
          <p:nvPr/>
        </p:nvSpPr>
        <p:spPr>
          <a:xfrm>
            <a:off x="2834640" y="2423160"/>
            <a:ext cx="731520" cy="274320"/>
          </a:xfrm>
          <a:prstGeom prst="rect">
            <a:avLst/>
          </a:prstGeom>
          <a:noFill/>
        </p:spPr>
        <p:txBody>
          <a:bodyPr wrap="square"/>
          <a:lstStyle/>
          <a:p>
            <a:pPr algn="ctr">
              <a:spcBef>
                <a:spcPts val="0"/>
              </a:spcBef>
              <a:spcAft>
                <a:spcPts val="0"/>
              </a:spcAft>
              <a:defRPr sz="1300" b="0">
                <a:solidFill>
                  <a:srgbClr val="0F766E"/>
                </a:solidFill>
                <a:latin typeface="IBM Plex Mono"/>
              </a:defRPr>
            </a:pPr>
            <a:r>
              <a:rPr>
                <a:latin typeface="IBM Plex Mono"/>
              </a:rPr>
              <a:t>9</a:t>
            </a:r>
          </a:p>
        </p:txBody>
      </p:sp>
      <p:sp>
        <p:nvSpPr>
          <p:cNvPr id="16" name="TextBox 15"/>
          <p:cNvSpPr txBox="1"/>
          <p:nvPr/>
        </p:nvSpPr>
        <p:spPr>
          <a:xfrm>
            <a:off x="3566160" y="2423160"/>
            <a:ext cx="731520" cy="274320"/>
          </a:xfrm>
          <a:prstGeom prst="rect">
            <a:avLst/>
          </a:prstGeom>
          <a:noFill/>
        </p:spPr>
        <p:txBody>
          <a:bodyPr wrap="square"/>
          <a:lstStyle/>
          <a:p>
            <a:pPr algn="ctr">
              <a:spcBef>
                <a:spcPts val="0"/>
              </a:spcBef>
              <a:spcAft>
                <a:spcPts val="0"/>
              </a:spcAft>
              <a:defRPr sz="1300" b="0">
                <a:solidFill>
                  <a:srgbClr val="0F766E"/>
                </a:solidFill>
                <a:latin typeface="IBM Plex Mono"/>
              </a:defRPr>
            </a:pPr>
            <a:r>
              <a:rPr>
                <a:latin typeface="IBM Plex Mono"/>
              </a:rPr>
              <a:t>16</a:t>
            </a:r>
          </a:p>
        </p:txBody>
      </p:sp>
      <p:sp>
        <p:nvSpPr>
          <p:cNvPr id="17" name="TextBox 16"/>
          <p:cNvSpPr txBox="1"/>
          <p:nvPr/>
        </p:nvSpPr>
        <p:spPr>
          <a:xfrm>
            <a:off x="4297680" y="2423160"/>
            <a:ext cx="731520" cy="274320"/>
          </a:xfrm>
          <a:prstGeom prst="rect">
            <a:avLst/>
          </a:prstGeom>
          <a:noFill/>
        </p:spPr>
        <p:txBody>
          <a:bodyPr wrap="square"/>
          <a:lstStyle/>
          <a:p>
            <a:pPr algn="ctr">
              <a:spcBef>
                <a:spcPts val="0"/>
              </a:spcBef>
              <a:spcAft>
                <a:spcPts val="0"/>
              </a:spcAft>
              <a:defRPr sz="1300" b="0">
                <a:solidFill>
                  <a:srgbClr val="0F766E"/>
                </a:solidFill>
                <a:latin typeface="IBM Plex Mono"/>
              </a:defRPr>
            </a:pPr>
            <a:r>
              <a:rPr>
                <a:latin typeface="IBM Plex Mono"/>
              </a:rPr>
              <a:t>25</a:t>
            </a:r>
          </a:p>
        </p:txBody>
      </p:sp>
      <p:cxnSp>
        <p:nvCxnSpPr>
          <p:cNvPr id="18" name="Connector 17"/>
          <p:cNvCxnSpPr/>
          <p:nvPr/>
        </p:nvCxnSpPr>
        <p:spPr>
          <a:xfrm>
            <a:off x="640080" y="2423160"/>
            <a:ext cx="4389120" cy="0"/>
          </a:xfrm>
          <a:prstGeom prst="line">
            <a:avLst/>
          </a:prstGeom>
          <a:ln w="12700">
            <a:solidFill>
              <a:srgbClr val="D9D7D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00800" y="1463040"/>
            <a:ext cx="4572000" cy="365760"/>
          </a:xfrm>
          <a:prstGeom prst="rect">
            <a:avLst/>
          </a:prstGeom>
          <a:noFill/>
        </p:spPr>
        <p:txBody>
          <a:bodyPr wrap="square"/>
          <a:lstStyle/>
          <a:p>
            <a:pPr algn="l">
              <a:spcBef>
                <a:spcPts val="0"/>
              </a:spcBef>
              <a:spcAft>
                <a:spcPts val="0"/>
              </a:spcAft>
              <a:defRPr sz="1400" b="1">
                <a:solidFill>
                  <a:srgbClr val="0E1116"/>
                </a:solidFill>
                <a:latin typeface="IBM Plex Sans"/>
              </a:defRPr>
            </a:pPr>
            <a:r>
              <a:rPr>
                <a:latin typeface="IBM Plex Sans"/>
              </a:rPr>
              <a:t>Anti-abuse measures</a:t>
            </a:r>
          </a:p>
        </p:txBody>
      </p:sp>
      <p:sp>
        <p:nvSpPr>
          <p:cNvPr id="20" name="TextBox 19"/>
          <p:cNvSpPr txBox="1"/>
          <p:nvPr/>
        </p:nvSpPr>
        <p:spPr>
          <a:xfrm>
            <a:off x="6400800" y="2011680"/>
            <a:ext cx="5029200" cy="320040"/>
          </a:xfrm>
          <a:prstGeom prst="rect">
            <a:avLst/>
          </a:prstGeom>
          <a:noFill/>
        </p:spPr>
        <p:txBody>
          <a:bodyPr wrap="square"/>
          <a:lstStyle/>
          <a:p>
            <a:pPr algn="l">
              <a:spcBef>
                <a:spcPts val="0"/>
              </a:spcBef>
              <a:spcAft>
                <a:spcPts val="0"/>
              </a:spcAft>
              <a:defRPr sz="1300" b="0">
                <a:solidFill>
                  <a:srgbClr val="5B6470"/>
                </a:solidFill>
                <a:latin typeface="IBM Plex Sans"/>
              </a:defRPr>
            </a:pPr>
            <a:r>
              <a:rPr>
                <a:latin typeface="IBM Plex Sans"/>
              </a:rPr>
              <a:t>·  Seeded ballot shuffle — position bias eliminated</a:t>
            </a:r>
          </a:p>
        </p:txBody>
      </p:sp>
      <p:sp>
        <p:nvSpPr>
          <p:cNvPr id="21" name="TextBox 20"/>
          <p:cNvSpPr txBox="1"/>
          <p:nvPr/>
        </p:nvSpPr>
        <p:spPr>
          <a:xfrm>
            <a:off x="6400800" y="2377440"/>
            <a:ext cx="5029200" cy="320040"/>
          </a:xfrm>
          <a:prstGeom prst="rect">
            <a:avLst/>
          </a:prstGeom>
          <a:noFill/>
        </p:spPr>
        <p:txBody>
          <a:bodyPr wrap="square"/>
          <a:lstStyle/>
          <a:p>
            <a:pPr algn="l">
              <a:spcBef>
                <a:spcPts val="0"/>
              </a:spcBef>
              <a:spcAft>
                <a:spcPts val="0"/>
              </a:spcAft>
              <a:defRPr sz="1300" b="0">
                <a:solidFill>
                  <a:srgbClr val="5B6470"/>
                </a:solidFill>
                <a:latin typeface="IBM Plex Sans"/>
              </a:defRPr>
            </a:pPr>
            <a:r>
              <a:rPr>
                <a:latin typeface="IBM Plex Sans"/>
              </a:rPr>
              <a:t>·  Results hidden during voting period</a:t>
            </a:r>
          </a:p>
        </p:txBody>
      </p:sp>
      <p:sp>
        <p:nvSpPr>
          <p:cNvPr id="22" name="TextBox 21"/>
          <p:cNvSpPr txBox="1"/>
          <p:nvPr/>
        </p:nvSpPr>
        <p:spPr>
          <a:xfrm>
            <a:off x="6400800" y="2743200"/>
            <a:ext cx="5029200" cy="320040"/>
          </a:xfrm>
          <a:prstGeom prst="rect">
            <a:avLst/>
          </a:prstGeom>
          <a:noFill/>
        </p:spPr>
        <p:txBody>
          <a:bodyPr wrap="square"/>
          <a:lstStyle/>
          <a:p>
            <a:pPr algn="l">
              <a:spcBef>
                <a:spcPts val="0"/>
              </a:spcBef>
              <a:spcAft>
                <a:spcPts val="0"/>
              </a:spcAft>
              <a:defRPr sz="1300" b="0">
                <a:solidFill>
                  <a:srgbClr val="5B6470"/>
                </a:solidFill>
                <a:latin typeface="IBM Plex Sans"/>
              </a:defRPr>
            </a:pPr>
            <a:r>
              <a:rPr>
                <a:latin typeface="IBM Plex Sans"/>
              </a:rPr>
              <a:t>·  Token-bucket rate limiting per user</a:t>
            </a:r>
          </a:p>
        </p:txBody>
      </p:sp>
      <p:sp>
        <p:nvSpPr>
          <p:cNvPr id="23" name="TextBox 22"/>
          <p:cNvSpPr txBox="1"/>
          <p:nvPr/>
        </p:nvSpPr>
        <p:spPr>
          <a:xfrm>
            <a:off x="6400800" y="3108960"/>
            <a:ext cx="5029200" cy="320040"/>
          </a:xfrm>
          <a:prstGeom prst="rect">
            <a:avLst/>
          </a:prstGeom>
          <a:noFill/>
        </p:spPr>
        <p:txBody>
          <a:bodyPr wrap="square"/>
          <a:lstStyle/>
          <a:p>
            <a:pPr algn="l">
              <a:spcBef>
                <a:spcPts val="0"/>
              </a:spcBef>
              <a:spcAft>
                <a:spcPts val="0"/>
              </a:spcAft>
              <a:defRPr sz="1300" b="0">
                <a:solidFill>
                  <a:srgbClr val="5B6470"/>
                </a:solidFill>
                <a:latin typeface="IBM Plex Sans"/>
              </a:defRPr>
            </a:pPr>
            <a:r>
              <a:rPr>
                <a:latin typeface="IBM Plex Sans"/>
              </a:rPr>
              <a:t>·  Email + device-fingerprint duplicate detection</a:t>
            </a:r>
          </a:p>
        </p:txBody>
      </p:sp>
      <p:sp>
        <p:nvSpPr>
          <p:cNvPr id="24" name="TextBox 23"/>
          <p:cNvSpPr txBox="1"/>
          <p:nvPr/>
        </p:nvSpPr>
        <p:spPr>
          <a:xfrm>
            <a:off x="6400800" y="3474720"/>
            <a:ext cx="5029200" cy="320040"/>
          </a:xfrm>
          <a:prstGeom prst="rect">
            <a:avLst/>
          </a:prstGeom>
          <a:noFill/>
        </p:spPr>
        <p:txBody>
          <a:bodyPr wrap="square"/>
          <a:lstStyle/>
          <a:p>
            <a:pPr algn="l">
              <a:spcBef>
                <a:spcPts val="0"/>
              </a:spcBef>
              <a:spcAft>
                <a:spcPts val="0"/>
              </a:spcAft>
              <a:defRPr sz="1300" b="0">
                <a:solidFill>
                  <a:srgbClr val="5B6470"/>
                </a:solidFill>
                <a:latin typeface="IBM Plex Sans"/>
              </a:defRPr>
            </a:pPr>
            <a:r>
              <a:rPr>
                <a:latin typeface="IBM Plex Sans"/>
              </a:rPr>
              <a:t>·  One-person-one-vote mode also available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640080" y="548640"/>
            <a:ext cx="10911535" cy="457200"/>
          </a:xfrm>
          <a:prstGeom prst="rect">
            <a:avLst/>
          </a:prstGeom>
          <a:noFill/>
        </p:spPr>
        <p:txBody>
          <a:bodyPr wrap="square"/>
          <a:lstStyle/>
          <a:p>
            <a:pPr algn="l">
              <a:spcBef>
                <a:spcPts val="0"/>
              </a:spcBef>
              <a:spcAft>
                <a:spcPts val="0"/>
              </a:spcAft>
              <a:defRPr sz="2800" b="1">
                <a:solidFill>
                  <a:srgbClr val="0E1116"/>
                </a:solidFill>
                <a:latin typeface="IBM Plex Sans"/>
              </a:defRPr>
            </a:pPr>
            <a:r>
              <a:rPr>
                <a:latin typeface="IBM Plex Sans"/>
              </a:rPr>
              <a:t>Six patterns that turn demo code into production code</a:t>
            </a:r>
          </a:p>
        </p:txBody>
      </p:sp>
      <p:sp>
        <p:nvSpPr>
          <p:cNvPr id="3" name="TextBox 2"/>
          <p:cNvSpPr txBox="1"/>
          <p:nvPr/>
        </p:nvSpPr>
        <p:spPr>
          <a:xfrm>
            <a:off x="11430000" y="6400800"/>
            <a:ext cx="548640" cy="274320"/>
          </a:xfrm>
          <a:prstGeom prst="rect">
            <a:avLst/>
          </a:prstGeom>
          <a:noFill/>
        </p:spPr>
        <p:txBody>
          <a:bodyPr wrap="square"/>
          <a:lstStyle/>
          <a:p>
            <a:pPr algn="r">
              <a:spcBef>
                <a:spcPts val="0"/>
              </a:spcBef>
              <a:spcAft>
                <a:spcPts val="0"/>
              </a:spcAft>
              <a:defRPr sz="1000" b="0">
                <a:solidFill>
                  <a:srgbClr val="5B6470"/>
                </a:solidFill>
                <a:latin typeface="IBM Plex Sans"/>
              </a:defRPr>
            </a:pPr>
            <a:r>
              <a:rPr>
                <a:latin typeface="IBM Plex Sans"/>
              </a:rPr>
              <a:t>13</a:t>
            </a:r>
          </a:p>
        </p:txBody>
      </p:sp>
      <p:sp>
        <p:nvSpPr>
          <p:cNvPr id="4" name="TextBox 3"/>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
        <p:nvSpPr>
          <p:cNvPr id="5" name="Rounded Rectangle 4"/>
          <p:cNvSpPr/>
          <p:nvPr/>
        </p:nvSpPr>
        <p:spPr>
          <a:xfrm>
            <a:off x="640080" y="1463040"/>
            <a:ext cx="3291840" cy="146304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00200"/>
            <a:ext cx="2926080" cy="320040"/>
          </a:xfrm>
          <a:prstGeom prst="rect">
            <a:avLst/>
          </a:prstGeom>
          <a:noFill/>
        </p:spPr>
        <p:txBody>
          <a:bodyPr wrap="square"/>
          <a:lstStyle/>
          <a:p>
            <a:pPr algn="l">
              <a:spcBef>
                <a:spcPts val="0"/>
              </a:spcBef>
              <a:spcAft>
                <a:spcPts val="0"/>
              </a:spcAft>
              <a:defRPr sz="1400" b="1">
                <a:solidFill>
                  <a:srgbClr val="0F766E"/>
                </a:solidFill>
                <a:latin typeface="IBM Plex Mono"/>
              </a:defRPr>
            </a:pPr>
            <a:r>
              <a:rPr>
                <a:latin typeface="IBM Plex Mono"/>
              </a:rPr>
              <a:t>Circuit breakers</a:t>
            </a:r>
          </a:p>
        </p:txBody>
      </p:sp>
      <p:sp>
        <p:nvSpPr>
          <p:cNvPr id="7" name="TextBox 6"/>
          <p:cNvSpPr txBox="1"/>
          <p:nvPr/>
        </p:nvSpPr>
        <p:spPr>
          <a:xfrm>
            <a:off x="822960" y="1965960"/>
            <a:ext cx="2926080" cy="914400"/>
          </a:xfrm>
          <a:prstGeom prst="rect">
            <a:avLst/>
          </a:prstGeom>
          <a:noFill/>
        </p:spPr>
        <p:txBody>
          <a:bodyPr wrap="square"/>
          <a:lstStyle/>
          <a:p>
            <a:pPr algn="l">
              <a:spcBef>
                <a:spcPts val="0"/>
              </a:spcBef>
              <a:spcAft>
                <a:spcPts val="0"/>
              </a:spcAft>
              <a:defRPr sz="1200" b="0">
                <a:solidFill>
                  <a:srgbClr val="5B6470"/>
                </a:solidFill>
                <a:latin typeface="IBM Plex Sans"/>
              </a:defRPr>
            </a:pPr>
            <a:r>
              <a:rPr>
                <a:latin typeface="IBM Plex Sans"/>
              </a:rPr>
              <a:t>Resilience4j wraps cross-service calls.</a:t>
            </a:r>
            <a:br/>
            <a:r>
              <a:t>Judging ↔ Submission degrades gracefully.</a:t>
            </a:r>
          </a:p>
        </p:txBody>
      </p:sp>
      <p:sp>
        <p:nvSpPr>
          <p:cNvPr id="8" name="Rounded Rectangle 7"/>
          <p:cNvSpPr/>
          <p:nvPr/>
        </p:nvSpPr>
        <p:spPr>
          <a:xfrm>
            <a:off x="4297680" y="1463040"/>
            <a:ext cx="3291840" cy="146304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600200"/>
            <a:ext cx="2926080" cy="320040"/>
          </a:xfrm>
          <a:prstGeom prst="rect">
            <a:avLst/>
          </a:prstGeom>
          <a:noFill/>
        </p:spPr>
        <p:txBody>
          <a:bodyPr wrap="square"/>
          <a:lstStyle/>
          <a:p>
            <a:pPr algn="l">
              <a:spcBef>
                <a:spcPts val="0"/>
              </a:spcBef>
              <a:spcAft>
                <a:spcPts val="0"/>
              </a:spcAft>
              <a:defRPr sz="1400" b="1">
                <a:solidFill>
                  <a:srgbClr val="0F766E"/>
                </a:solidFill>
                <a:latin typeface="IBM Plex Mono"/>
              </a:defRPr>
            </a:pPr>
            <a:r>
              <a:rPr>
                <a:latin typeface="IBM Plex Mono"/>
              </a:rPr>
              <a:t>Correlation IDs</a:t>
            </a:r>
          </a:p>
        </p:txBody>
      </p:sp>
      <p:sp>
        <p:nvSpPr>
          <p:cNvPr id="10" name="TextBox 9"/>
          <p:cNvSpPr txBox="1"/>
          <p:nvPr/>
        </p:nvSpPr>
        <p:spPr>
          <a:xfrm>
            <a:off x="4480560" y="1965960"/>
            <a:ext cx="2926080" cy="914400"/>
          </a:xfrm>
          <a:prstGeom prst="rect">
            <a:avLst/>
          </a:prstGeom>
          <a:noFill/>
        </p:spPr>
        <p:txBody>
          <a:bodyPr wrap="square"/>
          <a:lstStyle/>
          <a:p>
            <a:pPr algn="l">
              <a:spcBef>
                <a:spcPts val="0"/>
              </a:spcBef>
              <a:spcAft>
                <a:spcPts val="0"/>
              </a:spcAft>
              <a:defRPr sz="1200" b="0">
                <a:solidFill>
                  <a:srgbClr val="5B6470"/>
                </a:solidFill>
                <a:latin typeface="IBM Plex Sans"/>
              </a:defRPr>
            </a:pPr>
            <a:r>
              <a:rPr>
                <a:latin typeface="IBM Plex Sans"/>
              </a:rPr>
              <a:t>Micrometer Tracing propagates a request ID</a:t>
            </a:r>
            <a:br/>
            <a:r>
              <a:t>across all services into the audit log.</a:t>
            </a:r>
          </a:p>
        </p:txBody>
      </p:sp>
      <p:sp>
        <p:nvSpPr>
          <p:cNvPr id="11" name="Rounded Rectangle 10"/>
          <p:cNvSpPr/>
          <p:nvPr/>
        </p:nvSpPr>
        <p:spPr>
          <a:xfrm>
            <a:off x="7955280" y="1463040"/>
            <a:ext cx="3291840" cy="146304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1600200"/>
            <a:ext cx="2926080" cy="320040"/>
          </a:xfrm>
          <a:prstGeom prst="rect">
            <a:avLst/>
          </a:prstGeom>
          <a:noFill/>
        </p:spPr>
        <p:txBody>
          <a:bodyPr wrap="square"/>
          <a:lstStyle/>
          <a:p>
            <a:pPr algn="l">
              <a:spcBef>
                <a:spcPts val="0"/>
              </a:spcBef>
              <a:spcAft>
                <a:spcPts val="0"/>
              </a:spcAft>
              <a:defRPr sz="1400" b="1">
                <a:solidFill>
                  <a:srgbClr val="0F766E"/>
                </a:solidFill>
                <a:latin typeface="IBM Plex Mono"/>
              </a:defRPr>
            </a:pPr>
            <a:r>
              <a:rPr>
                <a:latin typeface="IBM Plex Mono"/>
              </a:rPr>
              <a:t>Optimistic locking</a:t>
            </a:r>
          </a:p>
        </p:txBody>
      </p:sp>
      <p:sp>
        <p:nvSpPr>
          <p:cNvPr id="13" name="TextBox 12"/>
          <p:cNvSpPr txBox="1"/>
          <p:nvPr/>
        </p:nvSpPr>
        <p:spPr>
          <a:xfrm>
            <a:off x="8138160" y="1965960"/>
            <a:ext cx="2926080" cy="914400"/>
          </a:xfrm>
          <a:prstGeom prst="rect">
            <a:avLst/>
          </a:prstGeom>
          <a:noFill/>
        </p:spPr>
        <p:txBody>
          <a:bodyPr wrap="square"/>
          <a:lstStyle/>
          <a:p>
            <a:pPr algn="l">
              <a:spcBef>
                <a:spcPts val="0"/>
              </a:spcBef>
              <a:spcAft>
                <a:spcPts val="0"/>
              </a:spcAft>
              <a:defRPr sz="1200" b="0">
                <a:solidFill>
                  <a:srgbClr val="5B6470"/>
                </a:solidFill>
                <a:latin typeface="IBM Plex Sans"/>
              </a:defRPr>
            </a:pPr>
            <a:r>
              <a:rPr>
                <a:latin typeface="IBM Plex Sans"/>
              </a:rPr>
              <a:t>@Version on Submission and Event entities.</a:t>
            </a:r>
            <a:br/>
            <a:r>
              <a:t>Concurrent edits fail fast, not silently.</a:t>
            </a:r>
          </a:p>
        </p:txBody>
      </p:sp>
      <p:sp>
        <p:nvSpPr>
          <p:cNvPr id="14" name="Rounded Rectangle 13"/>
          <p:cNvSpPr/>
          <p:nvPr/>
        </p:nvSpPr>
        <p:spPr>
          <a:xfrm>
            <a:off x="640080" y="3474720"/>
            <a:ext cx="3291840" cy="146304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611880"/>
            <a:ext cx="2926080" cy="320040"/>
          </a:xfrm>
          <a:prstGeom prst="rect">
            <a:avLst/>
          </a:prstGeom>
          <a:noFill/>
        </p:spPr>
        <p:txBody>
          <a:bodyPr wrap="square"/>
          <a:lstStyle/>
          <a:p>
            <a:pPr algn="l">
              <a:spcBef>
                <a:spcPts val="0"/>
              </a:spcBef>
              <a:spcAft>
                <a:spcPts val="0"/>
              </a:spcAft>
              <a:defRPr sz="1400" b="1">
                <a:solidFill>
                  <a:srgbClr val="0F766E"/>
                </a:solidFill>
                <a:latin typeface="IBM Plex Mono"/>
              </a:defRPr>
            </a:pPr>
            <a:r>
              <a:rPr>
                <a:latin typeface="IBM Plex Mono"/>
              </a:rPr>
              <a:t>Idempotency keys</a:t>
            </a:r>
          </a:p>
        </p:txBody>
      </p:sp>
      <p:sp>
        <p:nvSpPr>
          <p:cNvPr id="16" name="TextBox 15"/>
          <p:cNvSpPr txBox="1"/>
          <p:nvPr/>
        </p:nvSpPr>
        <p:spPr>
          <a:xfrm>
            <a:off x="822960" y="3977640"/>
            <a:ext cx="2926080" cy="914400"/>
          </a:xfrm>
          <a:prstGeom prst="rect">
            <a:avLst/>
          </a:prstGeom>
          <a:noFill/>
        </p:spPr>
        <p:txBody>
          <a:bodyPr wrap="square"/>
          <a:lstStyle/>
          <a:p>
            <a:pPr algn="l">
              <a:spcBef>
                <a:spcPts val="0"/>
              </a:spcBef>
              <a:spcAft>
                <a:spcPts val="0"/>
              </a:spcAft>
              <a:defRPr sz="1200" b="0">
                <a:solidFill>
                  <a:srgbClr val="5B6470"/>
                </a:solidFill>
                <a:latin typeface="IBM Plex Sans"/>
              </a:defRPr>
            </a:pPr>
            <a:r>
              <a:rPr>
                <a:latin typeface="IBM Plex Sans"/>
              </a:rPr>
              <a:t>Header + unique DB constraint on scores.</a:t>
            </a:r>
            <a:br/>
            <a:r>
              <a:t>Retries are safe; duplicates are impossible.</a:t>
            </a:r>
          </a:p>
        </p:txBody>
      </p:sp>
      <p:sp>
        <p:nvSpPr>
          <p:cNvPr id="17" name="Rounded Rectangle 16"/>
          <p:cNvSpPr/>
          <p:nvPr/>
        </p:nvSpPr>
        <p:spPr>
          <a:xfrm>
            <a:off x="4297680" y="3474720"/>
            <a:ext cx="3291840" cy="146304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3611880"/>
            <a:ext cx="2926080" cy="320040"/>
          </a:xfrm>
          <a:prstGeom prst="rect">
            <a:avLst/>
          </a:prstGeom>
          <a:noFill/>
        </p:spPr>
        <p:txBody>
          <a:bodyPr wrap="square"/>
          <a:lstStyle/>
          <a:p>
            <a:pPr algn="l">
              <a:spcBef>
                <a:spcPts val="0"/>
              </a:spcBef>
              <a:spcAft>
                <a:spcPts val="0"/>
              </a:spcAft>
              <a:defRPr sz="1400" b="1">
                <a:solidFill>
                  <a:srgbClr val="0F766E"/>
                </a:solidFill>
                <a:latin typeface="IBM Plex Mono"/>
              </a:defRPr>
            </a:pPr>
            <a:r>
              <a:rPr>
                <a:latin typeface="IBM Plex Mono"/>
              </a:rPr>
              <a:t>Flyway migrations</a:t>
            </a:r>
          </a:p>
        </p:txBody>
      </p:sp>
      <p:sp>
        <p:nvSpPr>
          <p:cNvPr id="19" name="TextBox 18"/>
          <p:cNvSpPr txBox="1"/>
          <p:nvPr/>
        </p:nvSpPr>
        <p:spPr>
          <a:xfrm>
            <a:off x="4480560" y="3977640"/>
            <a:ext cx="2926080" cy="914400"/>
          </a:xfrm>
          <a:prstGeom prst="rect">
            <a:avLst/>
          </a:prstGeom>
          <a:noFill/>
        </p:spPr>
        <p:txBody>
          <a:bodyPr wrap="square"/>
          <a:lstStyle/>
          <a:p>
            <a:pPr algn="l">
              <a:spcBef>
                <a:spcPts val="0"/>
              </a:spcBef>
              <a:spcAft>
                <a:spcPts val="0"/>
              </a:spcAft>
              <a:defRPr sz="1200" b="0">
                <a:solidFill>
                  <a:srgbClr val="5B6470"/>
                </a:solidFill>
                <a:latin typeface="IBM Plex Sans"/>
              </a:defRPr>
            </a:pPr>
            <a:r>
              <a:rPr>
                <a:latin typeface="IBM Plex Sans"/>
              </a:rPr>
              <a:t>Per-schema, versioned SQL migrations.</a:t>
            </a:r>
            <a:br/>
            <a:r>
              <a:t>No drift between environments.</a:t>
            </a:r>
          </a:p>
        </p:txBody>
      </p:sp>
      <p:sp>
        <p:nvSpPr>
          <p:cNvPr id="20" name="Rounded Rectangle 19"/>
          <p:cNvSpPr/>
          <p:nvPr/>
        </p:nvSpPr>
        <p:spPr>
          <a:xfrm>
            <a:off x="7955280" y="3474720"/>
            <a:ext cx="3291840" cy="146304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3611880"/>
            <a:ext cx="2926080" cy="320040"/>
          </a:xfrm>
          <a:prstGeom prst="rect">
            <a:avLst/>
          </a:prstGeom>
          <a:noFill/>
        </p:spPr>
        <p:txBody>
          <a:bodyPr wrap="square"/>
          <a:lstStyle/>
          <a:p>
            <a:pPr algn="l">
              <a:spcBef>
                <a:spcPts val="0"/>
              </a:spcBef>
              <a:spcAft>
                <a:spcPts val="0"/>
              </a:spcAft>
              <a:defRPr sz="1400" b="1">
                <a:solidFill>
                  <a:srgbClr val="0F766E"/>
                </a:solidFill>
                <a:latin typeface="IBM Plex Mono"/>
              </a:defRPr>
            </a:pPr>
            <a:r>
              <a:rPr>
                <a:latin typeface="IBM Plex Mono"/>
              </a:rPr>
              <a:t>Testcontainers</a:t>
            </a:r>
          </a:p>
        </p:txBody>
      </p:sp>
      <p:sp>
        <p:nvSpPr>
          <p:cNvPr id="22" name="TextBox 21"/>
          <p:cNvSpPr txBox="1"/>
          <p:nvPr/>
        </p:nvSpPr>
        <p:spPr>
          <a:xfrm>
            <a:off x="8138160" y="3977640"/>
            <a:ext cx="2926080" cy="914400"/>
          </a:xfrm>
          <a:prstGeom prst="rect">
            <a:avLst/>
          </a:prstGeom>
          <a:noFill/>
        </p:spPr>
        <p:txBody>
          <a:bodyPr wrap="square"/>
          <a:lstStyle/>
          <a:p>
            <a:pPr algn="l">
              <a:spcBef>
                <a:spcPts val="0"/>
              </a:spcBef>
              <a:spcAft>
                <a:spcPts val="0"/>
              </a:spcAft>
              <a:defRPr sz="1200" b="0">
                <a:solidFill>
                  <a:srgbClr val="5B6470"/>
                </a:solidFill>
                <a:latin typeface="IBM Plex Sans"/>
              </a:defRPr>
            </a:pPr>
            <a:r>
              <a:rPr>
                <a:latin typeface="IBM Plex Sans"/>
              </a:rPr>
              <a:t>Integration tests spin up real Postgres,</a:t>
            </a:r>
            <a:br/>
            <a:r>
              <a:t>Redis, RabbitMQ. No mocks for infra.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640080" y="548640"/>
            <a:ext cx="10911535" cy="457200"/>
          </a:xfrm>
          <a:prstGeom prst="rect">
            <a:avLst/>
          </a:prstGeom>
          <a:noFill/>
        </p:spPr>
        <p:txBody>
          <a:bodyPr wrap="square"/>
          <a:lstStyle/>
          <a:p>
            <a:pPr algn="l">
              <a:spcBef>
                <a:spcPts val="0"/>
              </a:spcBef>
              <a:spcAft>
                <a:spcPts val="0"/>
              </a:spcAft>
              <a:defRPr sz="2800" b="1">
                <a:solidFill>
                  <a:srgbClr val="0E1116"/>
                </a:solidFill>
                <a:latin typeface="IBM Plex Sans"/>
              </a:defRPr>
            </a:pPr>
            <a:r>
              <a:rPr>
                <a:latin typeface="IBM Plex Sans"/>
              </a:rPr>
              <a:t>Organizers can read the audit trail without a database client</a:t>
            </a:r>
          </a:p>
        </p:txBody>
      </p:sp>
      <p:sp>
        <p:nvSpPr>
          <p:cNvPr id="3" name="TextBox 2"/>
          <p:cNvSpPr txBox="1"/>
          <p:nvPr/>
        </p:nvSpPr>
        <p:spPr>
          <a:xfrm>
            <a:off x="11430000" y="6400800"/>
            <a:ext cx="548640" cy="274320"/>
          </a:xfrm>
          <a:prstGeom prst="rect">
            <a:avLst/>
          </a:prstGeom>
          <a:noFill/>
        </p:spPr>
        <p:txBody>
          <a:bodyPr wrap="square"/>
          <a:lstStyle/>
          <a:p>
            <a:pPr algn="r">
              <a:spcBef>
                <a:spcPts val="0"/>
              </a:spcBef>
              <a:spcAft>
                <a:spcPts val="0"/>
              </a:spcAft>
              <a:defRPr sz="1000" b="0">
                <a:solidFill>
                  <a:srgbClr val="5B6470"/>
                </a:solidFill>
                <a:latin typeface="IBM Plex Sans"/>
              </a:defRPr>
            </a:pPr>
            <a:r>
              <a:rPr>
                <a:latin typeface="IBM Plex Sans"/>
              </a:rPr>
              <a:t>14</a:t>
            </a:r>
          </a:p>
        </p:txBody>
      </p:sp>
      <p:sp>
        <p:nvSpPr>
          <p:cNvPr id="4" name="TextBox 3"/>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
        <p:nvSpPr>
          <p:cNvPr id="5" name="Rounded Rectangle 4"/>
          <p:cNvSpPr/>
          <p:nvPr/>
        </p:nvSpPr>
        <p:spPr>
          <a:xfrm>
            <a:off x="640080" y="1463040"/>
            <a:ext cx="3291840" cy="228600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377440"/>
            <a:ext cx="3291840" cy="274320"/>
          </a:xfrm>
          <a:prstGeom prst="rect">
            <a:avLst/>
          </a:prstGeom>
          <a:noFill/>
        </p:spPr>
        <p:txBody>
          <a:bodyPr wrap="square"/>
          <a:lstStyle/>
          <a:p>
            <a:pPr algn="ctr">
              <a:spcBef>
                <a:spcPts val="0"/>
              </a:spcBef>
              <a:spcAft>
                <a:spcPts val="0"/>
              </a:spcAft>
              <a:defRPr sz="1000" b="0">
                <a:solidFill>
                  <a:srgbClr val="B45309"/>
                </a:solidFill>
                <a:latin typeface="IBM Plex Mono"/>
              </a:defRPr>
            </a:pPr>
            <a:r>
              <a:rPr>
                <a:latin typeface="IBM Plex Mono"/>
              </a:rPr>
              <a:t>[SCREENSHOT: 09-audit-log.png]</a:t>
            </a:r>
          </a:p>
        </p:txBody>
      </p:sp>
      <p:sp>
        <p:nvSpPr>
          <p:cNvPr id="7" name="TextBox 6"/>
          <p:cNvSpPr txBox="1"/>
          <p:nvPr/>
        </p:nvSpPr>
        <p:spPr>
          <a:xfrm>
            <a:off x="640080" y="3840480"/>
            <a:ext cx="3291840" cy="274320"/>
          </a:xfrm>
          <a:prstGeom prst="rect">
            <a:avLst/>
          </a:prstGeom>
          <a:noFill/>
        </p:spPr>
        <p:txBody>
          <a:bodyPr wrap="square"/>
          <a:lstStyle/>
          <a:p>
            <a:pPr algn="ctr">
              <a:spcBef>
                <a:spcPts val="0"/>
              </a:spcBef>
              <a:spcAft>
                <a:spcPts val="0"/>
              </a:spcAft>
              <a:defRPr sz="1100" b="0">
                <a:solidFill>
                  <a:srgbClr val="5B6470"/>
                </a:solidFill>
                <a:latin typeface="IBM Plex Sans"/>
              </a:defRPr>
            </a:pPr>
            <a:r>
              <a:rPr>
                <a:latin typeface="IBM Plex Sans"/>
              </a:rPr>
              <a:t>Filterable audit log — human-readable</a:t>
            </a:r>
          </a:p>
        </p:txBody>
      </p:sp>
      <p:sp>
        <p:nvSpPr>
          <p:cNvPr id="8" name="Rounded Rectangle 7"/>
          <p:cNvSpPr/>
          <p:nvPr/>
        </p:nvSpPr>
        <p:spPr>
          <a:xfrm>
            <a:off x="4297680" y="1463040"/>
            <a:ext cx="3291840" cy="228600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0" y="2377440"/>
            <a:ext cx="3291840" cy="274320"/>
          </a:xfrm>
          <a:prstGeom prst="rect">
            <a:avLst/>
          </a:prstGeom>
          <a:noFill/>
        </p:spPr>
        <p:txBody>
          <a:bodyPr wrap="square"/>
          <a:lstStyle/>
          <a:p>
            <a:pPr algn="ctr">
              <a:spcBef>
                <a:spcPts val="0"/>
              </a:spcBef>
              <a:spcAft>
                <a:spcPts val="0"/>
              </a:spcAft>
              <a:defRPr sz="1000" b="0">
                <a:solidFill>
                  <a:srgbClr val="B45309"/>
                </a:solidFill>
                <a:latin typeface="IBM Plex Mono"/>
              </a:defRPr>
            </a:pPr>
            <a:r>
              <a:rPr>
                <a:latin typeface="IBM Plex Mono"/>
              </a:rPr>
              <a:t>[SCREENSHOT: 10-ops-dashboard.png]</a:t>
            </a:r>
          </a:p>
        </p:txBody>
      </p:sp>
      <p:sp>
        <p:nvSpPr>
          <p:cNvPr id="10" name="TextBox 9"/>
          <p:cNvSpPr txBox="1"/>
          <p:nvPr/>
        </p:nvSpPr>
        <p:spPr>
          <a:xfrm>
            <a:off x="4297680" y="3840480"/>
            <a:ext cx="3291840" cy="274320"/>
          </a:xfrm>
          <a:prstGeom prst="rect">
            <a:avLst/>
          </a:prstGeom>
          <a:noFill/>
        </p:spPr>
        <p:txBody>
          <a:bodyPr wrap="square"/>
          <a:lstStyle/>
          <a:p>
            <a:pPr algn="ctr">
              <a:spcBef>
                <a:spcPts val="0"/>
              </a:spcBef>
              <a:spcAft>
                <a:spcPts val="0"/>
              </a:spcAft>
              <a:defRPr sz="1100" b="0">
                <a:solidFill>
                  <a:srgbClr val="5B6470"/>
                </a:solidFill>
                <a:latin typeface="IBM Plex Sans"/>
              </a:defRPr>
            </a:pPr>
            <a:r>
              <a:rPr>
                <a:latin typeface="IBM Plex Sans"/>
              </a:rPr>
              <a:t>Health and uptime dashboard</a:t>
            </a:r>
          </a:p>
        </p:txBody>
      </p:sp>
      <p:sp>
        <p:nvSpPr>
          <p:cNvPr id="11" name="Rounded Rectangle 10"/>
          <p:cNvSpPr/>
          <p:nvPr/>
        </p:nvSpPr>
        <p:spPr>
          <a:xfrm>
            <a:off x="7955280" y="1463040"/>
            <a:ext cx="3291840" cy="228600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0" y="2377440"/>
            <a:ext cx="3291840" cy="274320"/>
          </a:xfrm>
          <a:prstGeom prst="rect">
            <a:avLst/>
          </a:prstGeom>
          <a:noFill/>
        </p:spPr>
        <p:txBody>
          <a:bodyPr wrap="square"/>
          <a:lstStyle/>
          <a:p>
            <a:pPr algn="ctr">
              <a:spcBef>
                <a:spcPts val="0"/>
              </a:spcBef>
              <a:spcAft>
                <a:spcPts val="0"/>
              </a:spcAft>
              <a:defRPr sz="1000" b="0">
                <a:solidFill>
                  <a:srgbClr val="B45309"/>
                </a:solidFill>
                <a:latin typeface="IBM Plex Mono"/>
              </a:defRPr>
            </a:pPr>
            <a:r>
              <a:rPr>
                <a:latin typeface="IBM Plex Mono"/>
              </a:rPr>
              <a:t>[SCREENSHOT: 11-status-page.png]</a:t>
            </a:r>
          </a:p>
        </p:txBody>
      </p:sp>
      <p:sp>
        <p:nvSpPr>
          <p:cNvPr id="13" name="TextBox 12"/>
          <p:cNvSpPr txBox="1"/>
          <p:nvPr/>
        </p:nvSpPr>
        <p:spPr>
          <a:xfrm>
            <a:off x="7955280" y="3840480"/>
            <a:ext cx="3291840" cy="274320"/>
          </a:xfrm>
          <a:prstGeom prst="rect">
            <a:avLst/>
          </a:prstGeom>
          <a:noFill/>
        </p:spPr>
        <p:txBody>
          <a:bodyPr wrap="square"/>
          <a:lstStyle/>
          <a:p>
            <a:pPr algn="ctr">
              <a:spcBef>
                <a:spcPts val="0"/>
              </a:spcBef>
              <a:spcAft>
                <a:spcPts val="0"/>
              </a:spcAft>
              <a:defRPr sz="1100" b="0">
                <a:solidFill>
                  <a:srgbClr val="5B6470"/>
                </a:solidFill>
                <a:latin typeface="IBM Plex Sans"/>
              </a:defRPr>
            </a:pPr>
            <a:r>
              <a:rPr>
                <a:latin typeface="IBM Plex Sans"/>
              </a:rPr>
              <a:t>Public /status page</a:t>
            </a:r>
          </a:p>
        </p:txBody>
      </p:sp>
      <p:sp>
        <p:nvSpPr>
          <p:cNvPr id="14" name="TextBox 13"/>
          <p:cNvSpPr txBox="1"/>
          <p:nvPr/>
        </p:nvSpPr>
        <p:spPr>
          <a:xfrm>
            <a:off x="640080" y="4572000"/>
            <a:ext cx="10911535" cy="457200"/>
          </a:xfrm>
          <a:prstGeom prst="rect">
            <a:avLst/>
          </a:prstGeom>
          <a:noFill/>
        </p:spPr>
        <p:txBody>
          <a:bodyPr wrap="square"/>
          <a:lstStyle/>
          <a:p>
            <a:pPr algn="l">
              <a:spcBef>
                <a:spcPts val="0"/>
              </a:spcBef>
              <a:spcAft>
                <a:spcPts val="0"/>
              </a:spcAft>
              <a:defRPr sz="1300" b="0">
                <a:solidFill>
                  <a:srgbClr val="0E1116"/>
                </a:solidFill>
                <a:latin typeface="IBM Plex Sans"/>
              </a:defRPr>
            </a:pPr>
            <a:r>
              <a:rPr>
                <a:latin typeface="IBM Plex Sans"/>
              </a:rPr>
              <a:t>Every mutation publishes an audit event to RabbitMQ. The Observability service ingests, stores, and serves them. Actuator health endpoints are polled for uptime history.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640080" y="548640"/>
            <a:ext cx="10911535" cy="457200"/>
          </a:xfrm>
          <a:prstGeom prst="rect">
            <a:avLst/>
          </a:prstGeom>
          <a:noFill/>
        </p:spPr>
        <p:txBody>
          <a:bodyPr wrap="square"/>
          <a:lstStyle/>
          <a:p>
            <a:pPr algn="l">
              <a:spcBef>
                <a:spcPts val="0"/>
              </a:spcBef>
              <a:spcAft>
                <a:spcPts val="0"/>
              </a:spcAft>
              <a:defRPr sz="2800" b="1">
                <a:solidFill>
                  <a:srgbClr val="0E1116"/>
                </a:solidFill>
                <a:latin typeface="IBM Plex Sans"/>
              </a:defRPr>
            </a:pPr>
            <a:r>
              <a:rPr>
                <a:latin typeface="IBM Plex Sans"/>
              </a:rPr>
              <a:t>Four screens that show the complete participant-to-results flow</a:t>
            </a:r>
          </a:p>
        </p:txBody>
      </p:sp>
      <p:sp>
        <p:nvSpPr>
          <p:cNvPr id="3" name="TextBox 2"/>
          <p:cNvSpPr txBox="1"/>
          <p:nvPr/>
        </p:nvSpPr>
        <p:spPr>
          <a:xfrm>
            <a:off x="11430000" y="6400800"/>
            <a:ext cx="548640" cy="274320"/>
          </a:xfrm>
          <a:prstGeom prst="rect">
            <a:avLst/>
          </a:prstGeom>
          <a:noFill/>
        </p:spPr>
        <p:txBody>
          <a:bodyPr wrap="square"/>
          <a:lstStyle/>
          <a:p>
            <a:pPr algn="r">
              <a:spcBef>
                <a:spcPts val="0"/>
              </a:spcBef>
              <a:spcAft>
                <a:spcPts val="0"/>
              </a:spcAft>
              <a:defRPr sz="1000" b="0">
                <a:solidFill>
                  <a:srgbClr val="5B6470"/>
                </a:solidFill>
                <a:latin typeface="IBM Plex Sans"/>
              </a:defRPr>
            </a:pPr>
            <a:r>
              <a:rPr>
                <a:latin typeface="IBM Plex Sans"/>
              </a:rPr>
              <a:t>15</a:t>
            </a:r>
          </a:p>
        </p:txBody>
      </p:sp>
      <p:sp>
        <p:nvSpPr>
          <p:cNvPr id="4" name="TextBox 3"/>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
        <p:nvSpPr>
          <p:cNvPr id="5" name="Rounded Rectangle 4"/>
          <p:cNvSpPr/>
          <p:nvPr/>
        </p:nvSpPr>
        <p:spPr>
          <a:xfrm>
            <a:off x="640080" y="1463040"/>
            <a:ext cx="5029200" cy="182880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194560"/>
            <a:ext cx="5029200" cy="274320"/>
          </a:xfrm>
          <a:prstGeom prst="rect">
            <a:avLst/>
          </a:prstGeom>
          <a:noFill/>
        </p:spPr>
        <p:txBody>
          <a:bodyPr wrap="square"/>
          <a:lstStyle/>
          <a:p>
            <a:pPr algn="ctr">
              <a:spcBef>
                <a:spcPts val="0"/>
              </a:spcBef>
              <a:spcAft>
                <a:spcPts val="0"/>
              </a:spcAft>
              <a:defRPr sz="1000" b="0">
                <a:solidFill>
                  <a:srgbClr val="B45309"/>
                </a:solidFill>
                <a:latin typeface="IBM Plex Mono"/>
              </a:defRPr>
            </a:pPr>
            <a:r>
              <a:rPr>
                <a:latin typeface="IBM Plex Mono"/>
              </a:rPr>
              <a:t>[SCREENSHOT: 03-gallery.png]</a:t>
            </a:r>
          </a:p>
        </p:txBody>
      </p:sp>
      <p:sp>
        <p:nvSpPr>
          <p:cNvPr id="7" name="TextBox 6"/>
          <p:cNvSpPr txBox="1"/>
          <p:nvPr/>
        </p:nvSpPr>
        <p:spPr>
          <a:xfrm>
            <a:off x="640080" y="3337559"/>
            <a:ext cx="5029200" cy="274320"/>
          </a:xfrm>
          <a:prstGeom prst="rect">
            <a:avLst/>
          </a:prstGeom>
          <a:noFill/>
        </p:spPr>
        <p:txBody>
          <a:bodyPr wrap="square"/>
          <a:lstStyle/>
          <a:p>
            <a:pPr algn="ctr">
              <a:spcBef>
                <a:spcPts val="0"/>
              </a:spcBef>
              <a:spcAft>
                <a:spcPts val="0"/>
              </a:spcAft>
              <a:defRPr sz="1100" b="0">
                <a:solidFill>
                  <a:srgbClr val="5B6470"/>
                </a:solidFill>
                <a:latin typeface="IBM Plex Sans"/>
              </a:defRPr>
            </a:pPr>
            <a:r>
              <a:rPr>
                <a:latin typeface="IBM Plex Sans"/>
              </a:rPr>
              <a:t>Gallery with search and filters</a:t>
            </a:r>
          </a:p>
        </p:txBody>
      </p:sp>
      <p:sp>
        <p:nvSpPr>
          <p:cNvPr id="8" name="Rounded Rectangle 7"/>
          <p:cNvSpPr/>
          <p:nvPr/>
        </p:nvSpPr>
        <p:spPr>
          <a:xfrm>
            <a:off x="6126480" y="1463040"/>
            <a:ext cx="5029200" cy="182880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2194560"/>
            <a:ext cx="5029200" cy="274320"/>
          </a:xfrm>
          <a:prstGeom prst="rect">
            <a:avLst/>
          </a:prstGeom>
          <a:noFill/>
        </p:spPr>
        <p:txBody>
          <a:bodyPr wrap="square"/>
          <a:lstStyle/>
          <a:p>
            <a:pPr algn="ctr">
              <a:spcBef>
                <a:spcPts val="0"/>
              </a:spcBef>
              <a:spcAft>
                <a:spcPts val="0"/>
              </a:spcAft>
              <a:defRPr sz="1000" b="0">
                <a:solidFill>
                  <a:srgbClr val="B45309"/>
                </a:solidFill>
                <a:latin typeface="IBM Plex Mono"/>
              </a:defRPr>
            </a:pPr>
            <a:r>
              <a:rPr>
                <a:latin typeface="IBM Plex Mono"/>
              </a:rPr>
              <a:t>[SCREENSHOT: 04-submission-form.png]</a:t>
            </a:r>
          </a:p>
        </p:txBody>
      </p:sp>
      <p:sp>
        <p:nvSpPr>
          <p:cNvPr id="10" name="TextBox 9"/>
          <p:cNvSpPr txBox="1"/>
          <p:nvPr/>
        </p:nvSpPr>
        <p:spPr>
          <a:xfrm>
            <a:off x="6126480" y="3337559"/>
            <a:ext cx="5029200" cy="274320"/>
          </a:xfrm>
          <a:prstGeom prst="rect">
            <a:avLst/>
          </a:prstGeom>
          <a:noFill/>
        </p:spPr>
        <p:txBody>
          <a:bodyPr wrap="square"/>
          <a:lstStyle/>
          <a:p>
            <a:pPr algn="ctr">
              <a:spcBef>
                <a:spcPts val="0"/>
              </a:spcBef>
              <a:spcAft>
                <a:spcPts val="0"/>
              </a:spcAft>
              <a:defRPr sz="1100" b="0">
                <a:solidFill>
                  <a:srgbClr val="5B6470"/>
                </a:solidFill>
                <a:latin typeface="IBM Plex Sans"/>
              </a:defRPr>
            </a:pPr>
            <a:r>
              <a:rPr>
                <a:latin typeface="IBM Plex Sans"/>
              </a:rPr>
              <a:t>Submission wizard</a:t>
            </a:r>
          </a:p>
        </p:txBody>
      </p:sp>
      <p:sp>
        <p:nvSpPr>
          <p:cNvPr id="11" name="Rounded Rectangle 10"/>
          <p:cNvSpPr/>
          <p:nvPr/>
        </p:nvSpPr>
        <p:spPr>
          <a:xfrm>
            <a:off x="640080" y="3840480"/>
            <a:ext cx="5029200" cy="182880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572000"/>
            <a:ext cx="5029200" cy="274320"/>
          </a:xfrm>
          <a:prstGeom prst="rect">
            <a:avLst/>
          </a:prstGeom>
          <a:noFill/>
        </p:spPr>
        <p:txBody>
          <a:bodyPr wrap="square"/>
          <a:lstStyle/>
          <a:p>
            <a:pPr algn="ctr">
              <a:spcBef>
                <a:spcPts val="0"/>
              </a:spcBef>
              <a:spcAft>
                <a:spcPts val="0"/>
              </a:spcAft>
              <a:defRPr sz="1000" b="0">
                <a:solidFill>
                  <a:srgbClr val="B45309"/>
                </a:solidFill>
                <a:latin typeface="IBM Plex Mono"/>
              </a:defRPr>
            </a:pPr>
            <a:r>
              <a:rPr>
                <a:latin typeface="IBM Plex Mono"/>
              </a:rPr>
              <a:t>[SCREENSHOT: 05-judge-scoring.png]</a:t>
            </a:r>
          </a:p>
        </p:txBody>
      </p:sp>
      <p:sp>
        <p:nvSpPr>
          <p:cNvPr id="13" name="TextBox 12"/>
          <p:cNvSpPr txBox="1"/>
          <p:nvPr/>
        </p:nvSpPr>
        <p:spPr>
          <a:xfrm>
            <a:off x="640080" y="5714999"/>
            <a:ext cx="5029200" cy="274320"/>
          </a:xfrm>
          <a:prstGeom prst="rect">
            <a:avLst/>
          </a:prstGeom>
          <a:noFill/>
        </p:spPr>
        <p:txBody>
          <a:bodyPr wrap="square"/>
          <a:lstStyle/>
          <a:p>
            <a:pPr algn="ctr">
              <a:spcBef>
                <a:spcPts val="0"/>
              </a:spcBef>
              <a:spcAft>
                <a:spcPts val="0"/>
              </a:spcAft>
              <a:defRPr sz="1100" b="0">
                <a:solidFill>
                  <a:srgbClr val="5B6470"/>
                </a:solidFill>
                <a:latin typeface="IBM Plex Sans"/>
              </a:defRPr>
            </a:pPr>
            <a:r>
              <a:rPr>
                <a:latin typeface="IBM Plex Sans"/>
              </a:rPr>
              <a:t>Judge scoring — no peer scores visible</a:t>
            </a:r>
          </a:p>
        </p:txBody>
      </p:sp>
      <p:sp>
        <p:nvSpPr>
          <p:cNvPr id="14" name="Rounded Rectangle 13"/>
          <p:cNvSpPr/>
          <p:nvPr/>
        </p:nvSpPr>
        <p:spPr>
          <a:xfrm>
            <a:off x="6126480" y="3840480"/>
            <a:ext cx="5029200" cy="1828800"/>
          </a:xfrm>
          <a:prstGeom prst="roundRect">
            <a:avLst>
              <a:gd name="adj" fmla="val 2000"/>
            </a:avLst>
          </a:prstGeom>
          <a:noFill/>
          <a:ln w="12700">
            <a:solidFill>
              <a:srgbClr val="D9D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4572000"/>
            <a:ext cx="5029200" cy="274320"/>
          </a:xfrm>
          <a:prstGeom prst="rect">
            <a:avLst/>
          </a:prstGeom>
          <a:noFill/>
        </p:spPr>
        <p:txBody>
          <a:bodyPr wrap="square"/>
          <a:lstStyle/>
          <a:p>
            <a:pPr algn="ctr">
              <a:spcBef>
                <a:spcPts val="0"/>
              </a:spcBef>
              <a:spcAft>
                <a:spcPts val="0"/>
              </a:spcAft>
              <a:defRPr sz="1000" b="0">
                <a:solidFill>
                  <a:srgbClr val="B45309"/>
                </a:solidFill>
                <a:latin typeface="IBM Plex Mono"/>
              </a:defRPr>
            </a:pPr>
            <a:r>
              <a:rPr>
                <a:latin typeface="IBM Plex Mono"/>
              </a:rPr>
              <a:t>[SCREENSHOT: 08-judge-progress.png]</a:t>
            </a:r>
          </a:p>
        </p:txBody>
      </p:sp>
      <p:sp>
        <p:nvSpPr>
          <p:cNvPr id="16" name="TextBox 15"/>
          <p:cNvSpPr txBox="1"/>
          <p:nvPr/>
        </p:nvSpPr>
        <p:spPr>
          <a:xfrm>
            <a:off x="6126480" y="5714999"/>
            <a:ext cx="5029200" cy="274320"/>
          </a:xfrm>
          <a:prstGeom prst="rect">
            <a:avLst/>
          </a:prstGeom>
          <a:noFill/>
        </p:spPr>
        <p:txBody>
          <a:bodyPr wrap="square"/>
          <a:lstStyle/>
          <a:p>
            <a:pPr algn="ctr">
              <a:spcBef>
                <a:spcPts val="0"/>
              </a:spcBef>
              <a:spcAft>
                <a:spcPts val="0"/>
              </a:spcAft>
              <a:defRPr sz="1100" b="0">
                <a:solidFill>
                  <a:srgbClr val="5B6470"/>
                </a:solidFill>
                <a:latin typeface="IBM Plex Sans"/>
              </a:defRPr>
            </a:pPr>
            <a:r>
              <a:rPr>
                <a:latin typeface="IBM Plex Sans"/>
              </a:rPr>
              <a:t>Live judge progress (SSE)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640080" y="548640"/>
            <a:ext cx="10911535" cy="457200"/>
          </a:xfrm>
          <a:prstGeom prst="rect">
            <a:avLst/>
          </a:prstGeom>
          <a:noFill/>
        </p:spPr>
        <p:txBody>
          <a:bodyPr wrap="square"/>
          <a:lstStyle/>
          <a:p>
            <a:pPr algn="l">
              <a:spcBef>
                <a:spcPts val="0"/>
              </a:spcBef>
              <a:spcAft>
                <a:spcPts val="0"/>
              </a:spcAft>
              <a:defRPr sz="2800" b="1">
                <a:solidFill>
                  <a:srgbClr val="0E1116"/>
                </a:solidFill>
                <a:latin typeface="IBM Plex Sans"/>
              </a:defRPr>
            </a:pPr>
            <a:r>
              <a:rPr>
                <a:latin typeface="IBM Plex Sans"/>
              </a:rPr>
              <a:t>Honest threat model: what we mitigate and what we do not</a:t>
            </a:r>
          </a:p>
        </p:txBody>
      </p:sp>
      <p:sp>
        <p:nvSpPr>
          <p:cNvPr id="3" name="TextBox 2"/>
          <p:cNvSpPr txBox="1"/>
          <p:nvPr/>
        </p:nvSpPr>
        <p:spPr>
          <a:xfrm>
            <a:off x="11430000" y="6400800"/>
            <a:ext cx="548640" cy="274320"/>
          </a:xfrm>
          <a:prstGeom prst="rect">
            <a:avLst/>
          </a:prstGeom>
          <a:noFill/>
        </p:spPr>
        <p:txBody>
          <a:bodyPr wrap="square"/>
          <a:lstStyle/>
          <a:p>
            <a:pPr algn="r">
              <a:spcBef>
                <a:spcPts val="0"/>
              </a:spcBef>
              <a:spcAft>
                <a:spcPts val="0"/>
              </a:spcAft>
              <a:defRPr sz="1000" b="0">
                <a:solidFill>
                  <a:srgbClr val="5B6470"/>
                </a:solidFill>
                <a:latin typeface="IBM Plex Sans"/>
              </a:defRPr>
            </a:pPr>
            <a:r>
              <a:rPr>
                <a:latin typeface="IBM Plex Sans"/>
              </a:rPr>
              <a:t>16</a:t>
            </a:r>
          </a:p>
        </p:txBody>
      </p:sp>
      <p:sp>
        <p:nvSpPr>
          <p:cNvPr id="4" name="TextBox 3"/>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
        <p:nvSpPr>
          <p:cNvPr id="5" name="TextBox 4"/>
          <p:cNvSpPr txBox="1"/>
          <p:nvPr/>
        </p:nvSpPr>
        <p:spPr>
          <a:xfrm>
            <a:off x="640080" y="1371600"/>
            <a:ext cx="2286000" cy="274320"/>
          </a:xfrm>
          <a:prstGeom prst="rect">
            <a:avLst/>
          </a:prstGeom>
          <a:noFill/>
        </p:spPr>
        <p:txBody>
          <a:bodyPr wrap="square"/>
          <a:lstStyle/>
          <a:p>
            <a:pPr algn="l">
              <a:spcBef>
                <a:spcPts val="0"/>
              </a:spcBef>
              <a:spcAft>
                <a:spcPts val="0"/>
              </a:spcAft>
              <a:defRPr sz="1100" b="1">
                <a:solidFill>
                  <a:srgbClr val="5B6470"/>
                </a:solidFill>
                <a:latin typeface="IBM Plex Sans"/>
              </a:defRPr>
            </a:pPr>
            <a:r>
              <a:rPr>
                <a:latin typeface="IBM Plex Sans"/>
              </a:rPr>
              <a:t>Threat</a:t>
            </a:r>
          </a:p>
        </p:txBody>
      </p:sp>
      <p:sp>
        <p:nvSpPr>
          <p:cNvPr id="6" name="TextBox 5"/>
          <p:cNvSpPr txBox="1"/>
          <p:nvPr/>
        </p:nvSpPr>
        <p:spPr>
          <a:xfrm>
            <a:off x="2926080" y="1371600"/>
            <a:ext cx="4114800" cy="274320"/>
          </a:xfrm>
          <a:prstGeom prst="rect">
            <a:avLst/>
          </a:prstGeom>
          <a:noFill/>
        </p:spPr>
        <p:txBody>
          <a:bodyPr wrap="square"/>
          <a:lstStyle/>
          <a:p>
            <a:pPr algn="l">
              <a:spcBef>
                <a:spcPts val="0"/>
              </a:spcBef>
              <a:spcAft>
                <a:spcPts val="0"/>
              </a:spcAft>
              <a:defRPr sz="1100" b="1">
                <a:solidFill>
                  <a:srgbClr val="1F7A5A"/>
                </a:solidFill>
                <a:latin typeface="IBM Plex Sans"/>
              </a:defRPr>
            </a:pPr>
            <a:r>
              <a:rPr>
                <a:latin typeface="IBM Plex Sans"/>
              </a:rPr>
              <a:t>Mitigated</a:t>
            </a:r>
          </a:p>
        </p:txBody>
      </p:sp>
      <p:sp>
        <p:nvSpPr>
          <p:cNvPr id="7" name="TextBox 6"/>
          <p:cNvSpPr txBox="1"/>
          <p:nvPr/>
        </p:nvSpPr>
        <p:spPr>
          <a:xfrm>
            <a:off x="7040880" y="1371600"/>
            <a:ext cx="4114800" cy="274320"/>
          </a:xfrm>
          <a:prstGeom prst="rect">
            <a:avLst/>
          </a:prstGeom>
          <a:noFill/>
        </p:spPr>
        <p:txBody>
          <a:bodyPr wrap="square"/>
          <a:lstStyle/>
          <a:p>
            <a:pPr algn="l">
              <a:spcBef>
                <a:spcPts val="0"/>
              </a:spcBef>
              <a:spcAft>
                <a:spcPts val="0"/>
              </a:spcAft>
              <a:defRPr sz="1100" b="1">
                <a:solidFill>
                  <a:srgbClr val="B45309"/>
                </a:solidFill>
                <a:latin typeface="IBM Plex Sans"/>
              </a:defRPr>
            </a:pPr>
            <a:r>
              <a:rPr>
                <a:latin typeface="IBM Plex Sans"/>
              </a:rPr>
              <a:t>Not mitigated</a:t>
            </a:r>
          </a:p>
        </p:txBody>
      </p:sp>
      <p:cxnSp>
        <p:nvCxnSpPr>
          <p:cNvPr id="8" name="Connector 7"/>
          <p:cNvCxnSpPr/>
          <p:nvPr/>
        </p:nvCxnSpPr>
        <p:spPr>
          <a:xfrm>
            <a:off x="640080" y="1645920"/>
            <a:ext cx="10515600" cy="0"/>
          </a:xfrm>
          <a:prstGeom prst="line">
            <a:avLst/>
          </a:prstGeom>
          <a:ln w="12700">
            <a:solidFill>
              <a:srgbClr val="D9D7D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1691640"/>
            <a:ext cx="2286000" cy="502920"/>
          </a:xfrm>
          <a:prstGeom prst="rect">
            <a:avLst/>
          </a:prstGeom>
          <a:noFill/>
        </p:spPr>
        <p:txBody>
          <a:bodyPr wrap="square"/>
          <a:lstStyle/>
          <a:p>
            <a:pPr algn="l">
              <a:spcBef>
                <a:spcPts val="0"/>
              </a:spcBef>
              <a:spcAft>
                <a:spcPts val="0"/>
              </a:spcAft>
              <a:defRPr sz="1000" b="0">
                <a:solidFill>
                  <a:srgbClr val="0E1116"/>
                </a:solidFill>
                <a:latin typeface="IBM Plex Sans"/>
              </a:defRPr>
            </a:pPr>
            <a:r>
              <a:rPr>
                <a:latin typeface="IBM Plex Sans"/>
              </a:rPr>
              <a:t>Sybil voting (fake accounts)</a:t>
            </a:r>
          </a:p>
        </p:txBody>
      </p:sp>
      <p:sp>
        <p:nvSpPr>
          <p:cNvPr id="10" name="TextBox 9"/>
          <p:cNvSpPr txBox="1"/>
          <p:nvPr/>
        </p:nvSpPr>
        <p:spPr>
          <a:xfrm>
            <a:off x="2926080" y="1691640"/>
            <a:ext cx="4114800" cy="502920"/>
          </a:xfrm>
          <a:prstGeom prst="rect">
            <a:avLst/>
          </a:prstGeom>
          <a:noFill/>
        </p:spPr>
        <p:txBody>
          <a:bodyPr wrap="square"/>
          <a:lstStyle/>
          <a:p>
            <a:pPr algn="l">
              <a:spcBef>
                <a:spcPts val="0"/>
              </a:spcBef>
              <a:spcAft>
                <a:spcPts val="0"/>
              </a:spcAft>
              <a:defRPr sz="1000" b="0">
                <a:solidFill>
                  <a:srgbClr val="1F7A5A"/>
                </a:solidFill>
                <a:latin typeface="IBM Plex Sans"/>
              </a:defRPr>
            </a:pPr>
            <a:r>
              <a:rPr>
                <a:latin typeface="IBM Plex Sans"/>
              </a:rPr>
              <a:t>Email verification, rate limiting, device fingerprinting</a:t>
            </a:r>
          </a:p>
        </p:txBody>
      </p:sp>
      <p:sp>
        <p:nvSpPr>
          <p:cNvPr id="11" name="TextBox 10"/>
          <p:cNvSpPr txBox="1"/>
          <p:nvPr/>
        </p:nvSpPr>
        <p:spPr>
          <a:xfrm>
            <a:off x="7040880" y="1691640"/>
            <a:ext cx="4114800" cy="502920"/>
          </a:xfrm>
          <a:prstGeom prst="rect">
            <a:avLst/>
          </a:prstGeom>
          <a:noFill/>
        </p:spPr>
        <p:txBody>
          <a:bodyPr wrap="square"/>
          <a:lstStyle/>
          <a:p>
            <a:pPr algn="l">
              <a:spcBef>
                <a:spcPts val="0"/>
              </a:spcBef>
              <a:spcAft>
                <a:spcPts val="0"/>
              </a:spcAft>
              <a:defRPr sz="1000" b="0">
                <a:solidFill>
                  <a:srgbClr val="B45309"/>
                </a:solidFill>
                <a:latin typeface="IBM Plex Sans"/>
              </a:defRPr>
            </a:pPr>
            <a:r>
              <a:rPr>
                <a:latin typeface="IBM Plex Sans"/>
              </a:rPr>
              <a:t>Determined attacker with many real emails</a:t>
            </a:r>
          </a:p>
        </p:txBody>
      </p:sp>
      <p:sp>
        <p:nvSpPr>
          <p:cNvPr id="12" name="TextBox 11"/>
          <p:cNvSpPr txBox="1"/>
          <p:nvPr/>
        </p:nvSpPr>
        <p:spPr>
          <a:xfrm>
            <a:off x="640080" y="2194560"/>
            <a:ext cx="2286000" cy="502920"/>
          </a:xfrm>
          <a:prstGeom prst="rect">
            <a:avLst/>
          </a:prstGeom>
          <a:noFill/>
        </p:spPr>
        <p:txBody>
          <a:bodyPr wrap="square"/>
          <a:lstStyle/>
          <a:p>
            <a:pPr algn="l">
              <a:spcBef>
                <a:spcPts val="0"/>
              </a:spcBef>
              <a:spcAft>
                <a:spcPts val="0"/>
              </a:spcAft>
              <a:defRPr sz="1000" b="0">
                <a:solidFill>
                  <a:srgbClr val="0E1116"/>
                </a:solidFill>
                <a:latin typeface="IBM Plex Sans"/>
              </a:defRPr>
            </a:pPr>
            <a:r>
              <a:rPr>
                <a:latin typeface="IBM Plex Sans"/>
              </a:rPr>
              <a:t>Ballot stuffing</a:t>
            </a:r>
          </a:p>
        </p:txBody>
      </p:sp>
      <p:sp>
        <p:nvSpPr>
          <p:cNvPr id="13" name="TextBox 12"/>
          <p:cNvSpPr txBox="1"/>
          <p:nvPr/>
        </p:nvSpPr>
        <p:spPr>
          <a:xfrm>
            <a:off x="2926080" y="2194560"/>
            <a:ext cx="4114800" cy="502920"/>
          </a:xfrm>
          <a:prstGeom prst="rect">
            <a:avLst/>
          </a:prstGeom>
          <a:noFill/>
        </p:spPr>
        <p:txBody>
          <a:bodyPr wrap="square"/>
          <a:lstStyle/>
          <a:p>
            <a:pPr algn="l">
              <a:spcBef>
                <a:spcPts val="0"/>
              </a:spcBef>
              <a:spcAft>
                <a:spcPts val="0"/>
              </a:spcAft>
              <a:defRPr sz="1000" b="0">
                <a:solidFill>
                  <a:srgbClr val="1F7A5A"/>
                </a:solidFill>
                <a:latin typeface="IBM Plex Sans"/>
              </a:defRPr>
            </a:pPr>
            <a:r>
              <a:rPr>
                <a:latin typeface="IBM Plex Sans"/>
              </a:rPr>
              <a:t>Quadratic cost, token-bucket rate limit</a:t>
            </a:r>
          </a:p>
        </p:txBody>
      </p:sp>
      <p:sp>
        <p:nvSpPr>
          <p:cNvPr id="14" name="TextBox 13"/>
          <p:cNvSpPr txBox="1"/>
          <p:nvPr/>
        </p:nvSpPr>
        <p:spPr>
          <a:xfrm>
            <a:off x="7040880" y="2194560"/>
            <a:ext cx="4114800" cy="502920"/>
          </a:xfrm>
          <a:prstGeom prst="rect">
            <a:avLst/>
          </a:prstGeom>
          <a:noFill/>
        </p:spPr>
        <p:txBody>
          <a:bodyPr wrap="square"/>
          <a:lstStyle/>
          <a:p>
            <a:pPr algn="l">
              <a:spcBef>
                <a:spcPts val="0"/>
              </a:spcBef>
              <a:spcAft>
                <a:spcPts val="0"/>
              </a:spcAft>
              <a:defRPr sz="1000" b="0">
                <a:solidFill>
                  <a:srgbClr val="B45309"/>
                </a:solidFill>
                <a:latin typeface="IBM Plex Sans"/>
              </a:defRPr>
            </a:pPr>
            <a:r>
              <a:rPr>
                <a:latin typeface="IBM Plex Sans"/>
              </a:rPr>
              <a:t>Coordinated group buying strategy</a:t>
            </a:r>
          </a:p>
        </p:txBody>
      </p:sp>
      <p:sp>
        <p:nvSpPr>
          <p:cNvPr id="15" name="TextBox 14"/>
          <p:cNvSpPr txBox="1"/>
          <p:nvPr/>
        </p:nvSpPr>
        <p:spPr>
          <a:xfrm>
            <a:off x="640080" y="2697480"/>
            <a:ext cx="2286000" cy="502920"/>
          </a:xfrm>
          <a:prstGeom prst="rect">
            <a:avLst/>
          </a:prstGeom>
          <a:noFill/>
        </p:spPr>
        <p:txBody>
          <a:bodyPr wrap="square"/>
          <a:lstStyle/>
          <a:p>
            <a:pPr algn="l">
              <a:spcBef>
                <a:spcPts val="0"/>
              </a:spcBef>
              <a:spcAft>
                <a:spcPts val="0"/>
              </a:spcAft>
              <a:defRPr sz="1000" b="0">
                <a:solidFill>
                  <a:srgbClr val="0E1116"/>
                </a:solidFill>
                <a:latin typeface="IBM Plex Sans"/>
              </a:defRPr>
            </a:pPr>
            <a:r>
              <a:rPr>
                <a:latin typeface="IBM Plex Sans"/>
              </a:rPr>
              <a:t>Submission scraping</a:t>
            </a:r>
          </a:p>
        </p:txBody>
      </p:sp>
      <p:sp>
        <p:nvSpPr>
          <p:cNvPr id="16" name="TextBox 15"/>
          <p:cNvSpPr txBox="1"/>
          <p:nvPr/>
        </p:nvSpPr>
        <p:spPr>
          <a:xfrm>
            <a:off x="2926080" y="2697480"/>
            <a:ext cx="4114800" cy="502920"/>
          </a:xfrm>
          <a:prstGeom prst="rect">
            <a:avLst/>
          </a:prstGeom>
          <a:noFill/>
        </p:spPr>
        <p:txBody>
          <a:bodyPr wrap="square"/>
          <a:lstStyle/>
          <a:p>
            <a:pPr algn="l">
              <a:spcBef>
                <a:spcPts val="0"/>
              </a:spcBef>
              <a:spcAft>
                <a:spcPts val="0"/>
              </a:spcAft>
              <a:defRPr sz="1000" b="0">
                <a:solidFill>
                  <a:srgbClr val="1F7A5A"/>
                </a:solidFill>
                <a:latin typeface="IBM Plex Sans"/>
              </a:defRPr>
            </a:pPr>
            <a:r>
              <a:rPr>
                <a:latin typeface="IBM Plex Sans"/>
              </a:rPr>
              <a:t>Gallery is public by design; no private data exposed</a:t>
            </a:r>
          </a:p>
        </p:txBody>
      </p:sp>
      <p:sp>
        <p:nvSpPr>
          <p:cNvPr id="17" name="TextBox 16"/>
          <p:cNvSpPr txBox="1"/>
          <p:nvPr/>
        </p:nvSpPr>
        <p:spPr>
          <a:xfrm>
            <a:off x="7040880" y="2697480"/>
            <a:ext cx="4114800" cy="502920"/>
          </a:xfrm>
          <a:prstGeom prst="rect">
            <a:avLst/>
          </a:prstGeom>
          <a:noFill/>
        </p:spPr>
        <p:txBody>
          <a:bodyPr wrap="square"/>
          <a:lstStyle/>
          <a:p>
            <a:pPr algn="l">
              <a:spcBef>
                <a:spcPts val="0"/>
              </a:spcBef>
              <a:spcAft>
                <a:spcPts val="0"/>
              </a:spcAft>
              <a:defRPr sz="1000" b="0">
                <a:solidFill>
                  <a:srgbClr val="D9D7D0"/>
                </a:solidFill>
                <a:latin typeface="IBM Plex Sans"/>
              </a:defRPr>
            </a:pPr>
            <a:r>
              <a:rPr>
                <a:latin typeface="IBM Plex Sans"/>
              </a:rPr>
              <a:t>—</a:t>
            </a:r>
          </a:p>
        </p:txBody>
      </p:sp>
      <p:sp>
        <p:nvSpPr>
          <p:cNvPr id="18" name="TextBox 17"/>
          <p:cNvSpPr txBox="1"/>
          <p:nvPr/>
        </p:nvSpPr>
        <p:spPr>
          <a:xfrm>
            <a:off x="640080" y="3200400"/>
            <a:ext cx="2286000" cy="502920"/>
          </a:xfrm>
          <a:prstGeom prst="rect">
            <a:avLst/>
          </a:prstGeom>
          <a:noFill/>
        </p:spPr>
        <p:txBody>
          <a:bodyPr wrap="square"/>
          <a:lstStyle/>
          <a:p>
            <a:pPr algn="l">
              <a:spcBef>
                <a:spcPts val="0"/>
              </a:spcBef>
              <a:spcAft>
                <a:spcPts val="0"/>
              </a:spcAft>
              <a:defRPr sz="1000" b="0">
                <a:solidFill>
                  <a:srgbClr val="0E1116"/>
                </a:solidFill>
                <a:latin typeface="IBM Plex Sans"/>
              </a:defRPr>
            </a:pPr>
            <a:r>
              <a:rPr>
                <a:latin typeface="IBM Plex Sans"/>
              </a:rPr>
              <a:t>Judge collusion</a:t>
            </a:r>
          </a:p>
        </p:txBody>
      </p:sp>
      <p:sp>
        <p:nvSpPr>
          <p:cNvPr id="19" name="TextBox 18"/>
          <p:cNvSpPr txBox="1"/>
          <p:nvPr/>
        </p:nvSpPr>
        <p:spPr>
          <a:xfrm>
            <a:off x="2926080" y="3200400"/>
            <a:ext cx="4114800" cy="502920"/>
          </a:xfrm>
          <a:prstGeom prst="rect">
            <a:avLst/>
          </a:prstGeom>
          <a:noFill/>
        </p:spPr>
        <p:txBody>
          <a:bodyPr wrap="square"/>
          <a:lstStyle/>
          <a:p>
            <a:pPr algn="l">
              <a:spcBef>
                <a:spcPts val="0"/>
              </a:spcBef>
              <a:spcAft>
                <a:spcPts val="0"/>
              </a:spcAft>
              <a:defRPr sz="1000" b="0">
                <a:solidFill>
                  <a:srgbClr val="1F7A5A"/>
                </a:solidFill>
                <a:latin typeface="IBM Plex Sans"/>
              </a:defRPr>
            </a:pPr>
            <a:r>
              <a:rPr>
                <a:latin typeface="IBM Plex Sans"/>
              </a:rPr>
              <a:t>COI declarations, z-score outlier detection, audit log</a:t>
            </a:r>
          </a:p>
        </p:txBody>
      </p:sp>
      <p:sp>
        <p:nvSpPr>
          <p:cNvPr id="20" name="TextBox 19"/>
          <p:cNvSpPr txBox="1"/>
          <p:nvPr/>
        </p:nvSpPr>
        <p:spPr>
          <a:xfrm>
            <a:off x="7040880" y="3200400"/>
            <a:ext cx="4114800" cy="502920"/>
          </a:xfrm>
          <a:prstGeom prst="rect">
            <a:avLst/>
          </a:prstGeom>
          <a:noFill/>
        </p:spPr>
        <p:txBody>
          <a:bodyPr wrap="square"/>
          <a:lstStyle/>
          <a:p>
            <a:pPr algn="l">
              <a:spcBef>
                <a:spcPts val="0"/>
              </a:spcBef>
              <a:spcAft>
                <a:spcPts val="0"/>
              </a:spcAft>
              <a:defRPr sz="1000" b="0">
                <a:solidFill>
                  <a:srgbClr val="B45309"/>
                </a:solidFill>
                <a:latin typeface="IBM Plex Sans"/>
              </a:defRPr>
            </a:pPr>
            <a:r>
              <a:rPr>
                <a:latin typeface="IBM Plex Sans"/>
              </a:rPr>
              <a:t>Judges who collude without declaring</a:t>
            </a:r>
          </a:p>
        </p:txBody>
      </p:sp>
      <p:sp>
        <p:nvSpPr>
          <p:cNvPr id="21" name="TextBox 20"/>
          <p:cNvSpPr txBox="1"/>
          <p:nvPr/>
        </p:nvSpPr>
        <p:spPr>
          <a:xfrm>
            <a:off x="640080" y="3703320"/>
            <a:ext cx="2286000" cy="502920"/>
          </a:xfrm>
          <a:prstGeom prst="rect">
            <a:avLst/>
          </a:prstGeom>
          <a:noFill/>
        </p:spPr>
        <p:txBody>
          <a:bodyPr wrap="square"/>
          <a:lstStyle/>
          <a:p>
            <a:pPr algn="l">
              <a:spcBef>
                <a:spcPts val="0"/>
              </a:spcBef>
              <a:spcAft>
                <a:spcPts val="0"/>
              </a:spcAft>
              <a:defRPr sz="1000" b="0">
                <a:solidFill>
                  <a:srgbClr val="0E1116"/>
                </a:solidFill>
                <a:latin typeface="IBM Plex Sans"/>
              </a:defRPr>
            </a:pPr>
            <a:r>
              <a:rPr>
                <a:latin typeface="IBM Plex Sans"/>
              </a:rPr>
              <a:t>Deadline gaming</a:t>
            </a:r>
          </a:p>
        </p:txBody>
      </p:sp>
      <p:sp>
        <p:nvSpPr>
          <p:cNvPr id="22" name="TextBox 21"/>
          <p:cNvSpPr txBox="1"/>
          <p:nvPr/>
        </p:nvSpPr>
        <p:spPr>
          <a:xfrm>
            <a:off x="2926080" y="3703320"/>
            <a:ext cx="4114800" cy="502920"/>
          </a:xfrm>
          <a:prstGeom prst="rect">
            <a:avLst/>
          </a:prstGeom>
          <a:noFill/>
        </p:spPr>
        <p:txBody>
          <a:bodyPr wrap="square"/>
          <a:lstStyle/>
          <a:p>
            <a:pPr algn="l">
              <a:spcBef>
                <a:spcPts val="0"/>
              </a:spcBef>
              <a:spcAft>
                <a:spcPts val="0"/>
              </a:spcAft>
              <a:defRPr sz="1000" b="0">
                <a:solidFill>
                  <a:srgbClr val="1F7A5A"/>
                </a:solidFill>
                <a:latin typeface="IBM Plex Sans"/>
              </a:defRPr>
            </a:pPr>
            <a:r>
              <a:rPr>
                <a:latin typeface="IBM Plex Sans"/>
              </a:rPr>
              <a:t>Server-time enforcement with Redis distributed lock</a:t>
            </a:r>
          </a:p>
        </p:txBody>
      </p:sp>
      <p:sp>
        <p:nvSpPr>
          <p:cNvPr id="23" name="TextBox 22"/>
          <p:cNvSpPr txBox="1"/>
          <p:nvPr/>
        </p:nvSpPr>
        <p:spPr>
          <a:xfrm>
            <a:off x="7040880" y="3703320"/>
            <a:ext cx="4114800" cy="502920"/>
          </a:xfrm>
          <a:prstGeom prst="rect">
            <a:avLst/>
          </a:prstGeom>
          <a:noFill/>
        </p:spPr>
        <p:txBody>
          <a:bodyPr wrap="square"/>
          <a:lstStyle/>
          <a:p>
            <a:pPr algn="l">
              <a:spcBef>
                <a:spcPts val="0"/>
              </a:spcBef>
              <a:spcAft>
                <a:spcPts val="0"/>
              </a:spcAft>
              <a:defRPr sz="1000" b="0">
                <a:solidFill>
                  <a:srgbClr val="B45309"/>
                </a:solidFill>
                <a:latin typeface="IBM Plex Sans"/>
              </a:defRPr>
            </a:pPr>
            <a:r>
              <a:rPr>
                <a:latin typeface="IBM Plex Sans"/>
              </a:rPr>
              <a:t>Clock skew &gt; 1 s (unlikely in single-host)</a:t>
            </a:r>
          </a:p>
        </p:txBody>
      </p:sp>
      <p:sp>
        <p:nvSpPr>
          <p:cNvPr id="24" name="TextBox 23"/>
          <p:cNvSpPr txBox="1"/>
          <p:nvPr/>
        </p:nvSpPr>
        <p:spPr>
          <a:xfrm>
            <a:off x="640080" y="4206240"/>
            <a:ext cx="2286000" cy="502920"/>
          </a:xfrm>
          <a:prstGeom prst="rect">
            <a:avLst/>
          </a:prstGeom>
          <a:noFill/>
        </p:spPr>
        <p:txBody>
          <a:bodyPr wrap="square"/>
          <a:lstStyle/>
          <a:p>
            <a:pPr algn="l">
              <a:spcBef>
                <a:spcPts val="0"/>
              </a:spcBef>
              <a:spcAft>
                <a:spcPts val="0"/>
              </a:spcAft>
              <a:defRPr sz="1000" b="0">
                <a:solidFill>
                  <a:srgbClr val="0E1116"/>
                </a:solidFill>
                <a:latin typeface="IBM Plex Sans"/>
              </a:defRPr>
            </a:pPr>
            <a:r>
              <a:rPr>
                <a:latin typeface="IBM Plex Sans"/>
              </a:rPr>
              <a:t>Pre-built submissions</a:t>
            </a:r>
          </a:p>
        </p:txBody>
      </p:sp>
      <p:sp>
        <p:nvSpPr>
          <p:cNvPr id="25" name="TextBox 24"/>
          <p:cNvSpPr txBox="1"/>
          <p:nvPr/>
        </p:nvSpPr>
        <p:spPr>
          <a:xfrm>
            <a:off x="2926080" y="4206240"/>
            <a:ext cx="4114800" cy="502920"/>
          </a:xfrm>
          <a:prstGeom prst="rect">
            <a:avLst/>
          </a:prstGeom>
          <a:noFill/>
        </p:spPr>
        <p:txBody>
          <a:bodyPr wrap="square"/>
          <a:lstStyle/>
          <a:p>
            <a:pPr algn="l">
              <a:spcBef>
                <a:spcPts val="0"/>
              </a:spcBef>
              <a:spcAft>
                <a:spcPts val="0"/>
              </a:spcAft>
              <a:defRPr sz="1000" b="0">
                <a:solidFill>
                  <a:srgbClr val="1F7A5A"/>
                </a:solidFill>
                <a:latin typeface="IBM Plex Sans"/>
              </a:defRPr>
            </a:pPr>
            <a:r>
              <a:rPr>
                <a:latin typeface="IBM Plex Sans"/>
              </a:rPr>
              <a:t>JGit forensic scan flags for review</a:t>
            </a:r>
          </a:p>
        </p:txBody>
      </p:sp>
      <p:sp>
        <p:nvSpPr>
          <p:cNvPr id="26" name="TextBox 25"/>
          <p:cNvSpPr txBox="1"/>
          <p:nvPr/>
        </p:nvSpPr>
        <p:spPr>
          <a:xfrm>
            <a:off x="7040880" y="4206240"/>
            <a:ext cx="4114800" cy="502920"/>
          </a:xfrm>
          <a:prstGeom prst="rect">
            <a:avLst/>
          </a:prstGeom>
          <a:noFill/>
        </p:spPr>
        <p:txBody>
          <a:bodyPr wrap="square"/>
          <a:lstStyle/>
          <a:p>
            <a:pPr algn="l">
              <a:spcBef>
                <a:spcPts val="0"/>
              </a:spcBef>
              <a:spcAft>
                <a:spcPts val="0"/>
              </a:spcAft>
              <a:defRPr sz="1000" b="0">
                <a:solidFill>
                  <a:srgbClr val="B45309"/>
                </a:solidFill>
                <a:latin typeface="IBM Plex Sans"/>
              </a:defRPr>
            </a:pPr>
            <a:r>
              <a:rPr>
                <a:latin typeface="IBM Plex Sans"/>
              </a:rPr>
              <a:t>Rewritten git history, squashed commits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640080" y="548640"/>
            <a:ext cx="10911535" cy="457200"/>
          </a:xfrm>
          <a:prstGeom prst="rect">
            <a:avLst/>
          </a:prstGeom>
          <a:noFill/>
        </p:spPr>
        <p:txBody>
          <a:bodyPr wrap="square"/>
          <a:lstStyle/>
          <a:p>
            <a:pPr algn="l">
              <a:spcBef>
                <a:spcPts val="0"/>
              </a:spcBef>
              <a:spcAft>
                <a:spcPts val="0"/>
              </a:spcAft>
              <a:defRPr sz="2800" b="1">
                <a:solidFill>
                  <a:srgbClr val="0E1116"/>
                </a:solidFill>
                <a:latin typeface="IBM Plex Sans"/>
              </a:defRPr>
            </a:pPr>
            <a:r>
              <a:rPr>
                <a:latin typeface="IBM Plex Sans"/>
              </a:rPr>
              <a:t>What is verified, what is not, and what comes next</a:t>
            </a:r>
          </a:p>
        </p:txBody>
      </p:sp>
      <p:sp>
        <p:nvSpPr>
          <p:cNvPr id="3" name="TextBox 2"/>
          <p:cNvSpPr txBox="1"/>
          <p:nvPr/>
        </p:nvSpPr>
        <p:spPr>
          <a:xfrm>
            <a:off x="11430000" y="6400800"/>
            <a:ext cx="548640" cy="274320"/>
          </a:xfrm>
          <a:prstGeom prst="rect">
            <a:avLst/>
          </a:prstGeom>
          <a:noFill/>
        </p:spPr>
        <p:txBody>
          <a:bodyPr wrap="square"/>
          <a:lstStyle/>
          <a:p>
            <a:pPr algn="r">
              <a:spcBef>
                <a:spcPts val="0"/>
              </a:spcBef>
              <a:spcAft>
                <a:spcPts val="0"/>
              </a:spcAft>
              <a:defRPr sz="1000" b="0">
                <a:solidFill>
                  <a:srgbClr val="5B6470"/>
                </a:solidFill>
                <a:latin typeface="IBM Plex Sans"/>
              </a:defRPr>
            </a:pPr>
            <a:r>
              <a:rPr>
                <a:latin typeface="IBM Plex Sans"/>
              </a:rPr>
              <a:t>17</a:t>
            </a:r>
          </a:p>
        </p:txBody>
      </p:sp>
      <p:sp>
        <p:nvSpPr>
          <p:cNvPr id="4" name="TextBox 3"/>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
        <p:nvSpPr>
          <p:cNvPr id="5" name="TextBox 4"/>
          <p:cNvSpPr txBox="1"/>
          <p:nvPr/>
        </p:nvSpPr>
        <p:spPr>
          <a:xfrm>
            <a:off x="640080" y="1463040"/>
            <a:ext cx="5029200" cy="320040"/>
          </a:xfrm>
          <a:prstGeom prst="rect">
            <a:avLst/>
          </a:prstGeom>
          <a:noFill/>
        </p:spPr>
        <p:txBody>
          <a:bodyPr wrap="square"/>
          <a:lstStyle/>
          <a:p>
            <a:pPr algn="l">
              <a:spcBef>
                <a:spcPts val="0"/>
              </a:spcBef>
              <a:spcAft>
                <a:spcPts val="0"/>
              </a:spcAft>
              <a:defRPr sz="1400" b="1">
                <a:solidFill>
                  <a:srgbClr val="1F7A5A"/>
                </a:solidFill>
                <a:latin typeface="IBM Plex Sans"/>
              </a:defRPr>
            </a:pPr>
            <a:r>
              <a:rPr>
                <a:latin typeface="IBM Plex Sans"/>
              </a:rPr>
              <a:t>Verified</a:t>
            </a:r>
          </a:p>
        </p:txBody>
      </p:sp>
      <p:sp>
        <p:nvSpPr>
          <p:cNvPr id="6" name="TextBox 5"/>
          <p:cNvSpPr txBox="1"/>
          <p:nvPr/>
        </p:nvSpPr>
        <p:spPr>
          <a:xfrm>
            <a:off x="914400" y="1920240"/>
            <a:ext cx="5029200" cy="274320"/>
          </a:xfrm>
          <a:prstGeom prst="rect">
            <a:avLst/>
          </a:prstGeom>
          <a:noFill/>
        </p:spPr>
        <p:txBody>
          <a:bodyPr wrap="square"/>
          <a:lstStyle/>
          <a:p>
            <a:pPr algn="l">
              <a:spcBef>
                <a:spcPts val="0"/>
              </a:spcBef>
              <a:spcAft>
                <a:spcPts val="0"/>
              </a:spcAft>
              <a:defRPr sz="1200" b="0">
                <a:solidFill>
                  <a:srgbClr val="0E1116"/>
                </a:solidFill>
                <a:latin typeface="IBM Plex Sans"/>
              </a:defRPr>
            </a:pPr>
            <a:r>
              <a:rPr>
                <a:latin typeface="IBM Plex Sans"/>
              </a:rPr>
              <a:t>✓  Z-score + Bayesian shrinkage (NormalizationEngineTest: k₀=5, σ=0 edge case)</a:t>
            </a:r>
          </a:p>
        </p:txBody>
      </p:sp>
      <p:sp>
        <p:nvSpPr>
          <p:cNvPr id="7" name="TextBox 6"/>
          <p:cNvSpPr txBox="1"/>
          <p:nvPr/>
        </p:nvSpPr>
        <p:spPr>
          <a:xfrm>
            <a:off x="914400" y="2212848"/>
            <a:ext cx="5029200" cy="274320"/>
          </a:xfrm>
          <a:prstGeom prst="rect">
            <a:avLst/>
          </a:prstGeom>
          <a:noFill/>
        </p:spPr>
        <p:txBody>
          <a:bodyPr wrap="square"/>
          <a:lstStyle/>
          <a:p>
            <a:pPr algn="l">
              <a:spcBef>
                <a:spcPts val="0"/>
              </a:spcBef>
              <a:spcAft>
                <a:spcPts val="0"/>
              </a:spcAft>
              <a:defRPr sz="1200" b="0">
                <a:solidFill>
                  <a:srgbClr val="0E1116"/>
                </a:solidFill>
                <a:latin typeface="IBM Plex Sans"/>
              </a:defRPr>
            </a:pPr>
            <a:r>
              <a:rPr>
                <a:latin typeface="IBM Plex Sans"/>
              </a:rPr>
              <a:t>✓  Role isolation: RLS (RowLevelSecurityIT w/ Testcontainers + Postgres 15)</a:t>
            </a:r>
          </a:p>
        </p:txBody>
      </p:sp>
      <p:sp>
        <p:nvSpPr>
          <p:cNvPr id="8" name="TextBox 7"/>
          <p:cNvSpPr txBox="1"/>
          <p:nvPr/>
        </p:nvSpPr>
        <p:spPr>
          <a:xfrm>
            <a:off x="914400" y="2505456"/>
            <a:ext cx="5029200" cy="274320"/>
          </a:xfrm>
          <a:prstGeom prst="rect">
            <a:avLst/>
          </a:prstGeom>
          <a:noFill/>
        </p:spPr>
        <p:txBody>
          <a:bodyPr wrap="square"/>
          <a:lstStyle/>
          <a:p>
            <a:pPr algn="l">
              <a:spcBef>
                <a:spcPts val="0"/>
              </a:spcBef>
              <a:spcAft>
                <a:spcPts val="0"/>
              </a:spcAft>
              <a:defRPr sz="1200" b="0">
                <a:solidFill>
                  <a:srgbClr val="0E1116"/>
                </a:solidFill>
                <a:latin typeface="IBM Plex Sans"/>
              </a:defRPr>
            </a:pPr>
            <a:r>
              <a:rPr>
                <a:latin typeface="IBM Plex Sans"/>
              </a:rPr>
              <a:t>✓  Idempotency keys on score submission</a:t>
            </a:r>
          </a:p>
        </p:txBody>
      </p:sp>
      <p:sp>
        <p:nvSpPr>
          <p:cNvPr id="9" name="TextBox 8"/>
          <p:cNvSpPr txBox="1"/>
          <p:nvPr/>
        </p:nvSpPr>
        <p:spPr>
          <a:xfrm>
            <a:off x="914400" y="2798064"/>
            <a:ext cx="5029200" cy="274320"/>
          </a:xfrm>
          <a:prstGeom prst="rect">
            <a:avLst/>
          </a:prstGeom>
          <a:noFill/>
        </p:spPr>
        <p:txBody>
          <a:bodyPr wrap="square"/>
          <a:lstStyle/>
          <a:p>
            <a:pPr algn="l">
              <a:spcBef>
                <a:spcPts val="0"/>
              </a:spcBef>
              <a:spcAft>
                <a:spcPts val="0"/>
              </a:spcAft>
              <a:defRPr sz="1200" b="0">
                <a:solidFill>
                  <a:srgbClr val="0E1116"/>
                </a:solidFill>
                <a:latin typeface="IBM Plex Sans"/>
              </a:defRPr>
            </a:pPr>
            <a:r>
              <a:rPr>
                <a:latin typeface="IBM Plex Sans"/>
              </a:rPr>
              <a:t>✓  JGit forensic scan (GitForensicService, 4-tier risk scoring)</a:t>
            </a:r>
          </a:p>
        </p:txBody>
      </p:sp>
      <p:sp>
        <p:nvSpPr>
          <p:cNvPr id="10" name="TextBox 9"/>
          <p:cNvSpPr txBox="1"/>
          <p:nvPr/>
        </p:nvSpPr>
        <p:spPr>
          <a:xfrm>
            <a:off x="914400" y="3090672"/>
            <a:ext cx="5029200" cy="274320"/>
          </a:xfrm>
          <a:prstGeom prst="rect">
            <a:avLst/>
          </a:prstGeom>
          <a:noFill/>
        </p:spPr>
        <p:txBody>
          <a:bodyPr wrap="square"/>
          <a:lstStyle/>
          <a:p>
            <a:pPr algn="l">
              <a:spcBef>
                <a:spcPts val="0"/>
              </a:spcBef>
              <a:spcAft>
                <a:spcPts val="0"/>
              </a:spcAft>
              <a:defRPr sz="1200" b="0">
                <a:solidFill>
                  <a:srgbClr val="0E1116"/>
                </a:solidFill>
                <a:latin typeface="IBM Plex Sans"/>
              </a:defRPr>
            </a:pPr>
            <a:r>
              <a:rPr>
                <a:latin typeface="IBM Plex Sans"/>
              </a:rPr>
              <a:t>✓  Full docker compose lifecycle (9 services + gateway + frontend)</a:t>
            </a:r>
          </a:p>
        </p:txBody>
      </p:sp>
      <p:sp>
        <p:nvSpPr>
          <p:cNvPr id="11" name="TextBox 10"/>
          <p:cNvSpPr txBox="1"/>
          <p:nvPr/>
        </p:nvSpPr>
        <p:spPr>
          <a:xfrm>
            <a:off x="914400" y="3383280"/>
            <a:ext cx="5029200" cy="274320"/>
          </a:xfrm>
          <a:prstGeom prst="rect">
            <a:avLst/>
          </a:prstGeom>
          <a:noFill/>
        </p:spPr>
        <p:txBody>
          <a:bodyPr wrap="square"/>
          <a:lstStyle/>
          <a:p>
            <a:pPr algn="l">
              <a:spcBef>
                <a:spcPts val="0"/>
              </a:spcBef>
              <a:spcAft>
                <a:spcPts val="0"/>
              </a:spcAft>
              <a:defRPr sz="1200" b="0">
                <a:solidFill>
                  <a:srgbClr val="0E1116"/>
                </a:solidFill>
                <a:latin typeface="IBM Plex Sans"/>
              </a:defRPr>
            </a:pPr>
            <a:r>
              <a:rPr>
                <a:latin typeface="IBM Plex Sans"/>
              </a:rPr>
              <a:t>✓  .dogfood.toml claims tiers T1–T4</a:t>
            </a:r>
          </a:p>
        </p:txBody>
      </p:sp>
      <p:sp>
        <p:nvSpPr>
          <p:cNvPr id="12" name="TextBox 11"/>
          <p:cNvSpPr txBox="1"/>
          <p:nvPr/>
        </p:nvSpPr>
        <p:spPr>
          <a:xfrm>
            <a:off x="6400800" y="1463040"/>
            <a:ext cx="5029200" cy="320040"/>
          </a:xfrm>
          <a:prstGeom prst="rect">
            <a:avLst/>
          </a:prstGeom>
          <a:noFill/>
        </p:spPr>
        <p:txBody>
          <a:bodyPr wrap="square"/>
          <a:lstStyle/>
          <a:p>
            <a:pPr algn="l">
              <a:spcBef>
                <a:spcPts val="0"/>
              </a:spcBef>
              <a:spcAft>
                <a:spcPts val="0"/>
              </a:spcAft>
              <a:defRPr sz="1400" b="1">
                <a:solidFill>
                  <a:srgbClr val="B45309"/>
                </a:solidFill>
                <a:latin typeface="IBM Plex Sans"/>
              </a:defRPr>
            </a:pPr>
            <a:r>
              <a:rPr>
                <a:latin typeface="IBM Plex Sans"/>
              </a:rPr>
              <a:t>Honest gaps</a:t>
            </a:r>
          </a:p>
        </p:txBody>
      </p:sp>
      <p:sp>
        <p:nvSpPr>
          <p:cNvPr id="13" name="TextBox 12"/>
          <p:cNvSpPr txBox="1"/>
          <p:nvPr/>
        </p:nvSpPr>
        <p:spPr>
          <a:xfrm>
            <a:off x="6675120" y="1920240"/>
            <a:ext cx="5029200" cy="274320"/>
          </a:xfrm>
          <a:prstGeom prst="rect">
            <a:avLst/>
          </a:prstGeom>
          <a:noFill/>
        </p:spPr>
        <p:txBody>
          <a:bodyPr wrap="square"/>
          <a:lstStyle/>
          <a:p>
            <a:pPr algn="l">
              <a:spcBef>
                <a:spcPts val="0"/>
              </a:spcBef>
              <a:spcAft>
                <a:spcPts val="0"/>
              </a:spcAft>
              <a:defRPr sz="1200" b="0">
                <a:solidFill>
                  <a:srgbClr val="5B6470"/>
                </a:solidFill>
                <a:latin typeface="IBM Plex Sans"/>
              </a:defRPr>
            </a:pPr>
            <a:r>
              <a:rPr>
                <a:latin typeface="IBM Plex Sans"/>
              </a:rPr>
              <a:t>—  No internationalization (i18n)</a:t>
            </a:r>
          </a:p>
        </p:txBody>
      </p:sp>
      <p:sp>
        <p:nvSpPr>
          <p:cNvPr id="14" name="TextBox 13"/>
          <p:cNvSpPr txBox="1"/>
          <p:nvPr/>
        </p:nvSpPr>
        <p:spPr>
          <a:xfrm>
            <a:off x="6675120" y="2212848"/>
            <a:ext cx="5029200" cy="274320"/>
          </a:xfrm>
          <a:prstGeom prst="rect">
            <a:avLst/>
          </a:prstGeom>
          <a:noFill/>
        </p:spPr>
        <p:txBody>
          <a:bodyPr wrap="square"/>
          <a:lstStyle/>
          <a:p>
            <a:pPr algn="l">
              <a:spcBef>
                <a:spcPts val="0"/>
              </a:spcBef>
              <a:spcAft>
                <a:spcPts val="0"/>
              </a:spcAft>
              <a:defRPr sz="1200" b="0">
                <a:solidFill>
                  <a:srgbClr val="5B6470"/>
                </a:solidFill>
                <a:latin typeface="IBM Plex Sans"/>
              </a:defRPr>
            </a:pPr>
            <a:r>
              <a:rPr>
                <a:latin typeface="IBM Plex Sans"/>
              </a:rPr>
              <a:t>—  No horizontal scaling (single-host only)</a:t>
            </a:r>
          </a:p>
        </p:txBody>
      </p:sp>
      <p:sp>
        <p:nvSpPr>
          <p:cNvPr id="15" name="TextBox 14"/>
          <p:cNvSpPr txBox="1"/>
          <p:nvPr/>
        </p:nvSpPr>
        <p:spPr>
          <a:xfrm>
            <a:off x="6675120" y="2505456"/>
            <a:ext cx="5029200" cy="274320"/>
          </a:xfrm>
          <a:prstGeom prst="rect">
            <a:avLst/>
          </a:prstGeom>
          <a:noFill/>
        </p:spPr>
        <p:txBody>
          <a:bodyPr wrap="square"/>
          <a:lstStyle/>
          <a:p>
            <a:pPr algn="l">
              <a:spcBef>
                <a:spcPts val="0"/>
              </a:spcBef>
              <a:spcAft>
                <a:spcPts val="0"/>
              </a:spcAft>
              <a:defRPr sz="1200" b="0">
                <a:solidFill>
                  <a:srgbClr val="5B6470"/>
                </a:solidFill>
                <a:latin typeface="IBM Plex Sans"/>
              </a:defRPr>
            </a:pPr>
            <a:r>
              <a:rPr>
                <a:latin typeface="IBM Plex Sans"/>
              </a:rPr>
              <a:t>—  No OAuth / SSO integration yet</a:t>
            </a:r>
          </a:p>
        </p:txBody>
      </p:sp>
      <p:sp>
        <p:nvSpPr>
          <p:cNvPr id="16" name="TextBox 15"/>
          <p:cNvSpPr txBox="1"/>
          <p:nvPr/>
        </p:nvSpPr>
        <p:spPr>
          <a:xfrm>
            <a:off x="6675120" y="2798064"/>
            <a:ext cx="5029200" cy="274320"/>
          </a:xfrm>
          <a:prstGeom prst="rect">
            <a:avLst/>
          </a:prstGeom>
          <a:noFill/>
        </p:spPr>
        <p:txBody>
          <a:bodyPr wrap="square"/>
          <a:lstStyle/>
          <a:p>
            <a:pPr algn="l">
              <a:spcBef>
                <a:spcPts val="0"/>
              </a:spcBef>
              <a:spcAft>
                <a:spcPts val="0"/>
              </a:spcAft>
              <a:defRPr sz="1200" b="0">
                <a:solidFill>
                  <a:srgbClr val="5B6470"/>
                </a:solidFill>
                <a:latin typeface="IBM Plex Sans"/>
              </a:defRPr>
            </a:pPr>
            <a:r>
              <a:rPr>
                <a:latin typeface="IBM Plex Sans"/>
              </a:rPr>
              <a:t>—  Bradley-Terry pairwise mode: not yet built</a:t>
            </a:r>
          </a:p>
        </p:txBody>
      </p:sp>
      <p:sp>
        <p:nvSpPr>
          <p:cNvPr id="17" name="TextBox 16"/>
          <p:cNvSpPr txBox="1"/>
          <p:nvPr/>
        </p:nvSpPr>
        <p:spPr>
          <a:xfrm>
            <a:off x="6675120" y="3090672"/>
            <a:ext cx="5029200" cy="274320"/>
          </a:xfrm>
          <a:prstGeom prst="rect">
            <a:avLst/>
          </a:prstGeom>
          <a:noFill/>
        </p:spPr>
        <p:txBody>
          <a:bodyPr wrap="square"/>
          <a:lstStyle/>
          <a:p>
            <a:pPr algn="l">
              <a:spcBef>
                <a:spcPts val="0"/>
              </a:spcBef>
              <a:spcAft>
                <a:spcPts val="0"/>
              </a:spcAft>
              <a:defRPr sz="1200" b="0">
                <a:solidFill>
                  <a:srgbClr val="5B6470"/>
                </a:solidFill>
                <a:latin typeface="IBM Plex Sans"/>
              </a:defRPr>
            </a:pPr>
            <a:r>
              <a:rPr>
                <a:latin typeface="IBM Plex Sans"/>
              </a:rPr>
              <a:t>—  Mobile-responsive UI: basic, not polished</a:t>
            </a:r>
          </a:p>
        </p:txBody>
      </p:sp>
      <p:sp>
        <p:nvSpPr>
          <p:cNvPr id="18" name="TextBox 17"/>
          <p:cNvSpPr txBox="1"/>
          <p:nvPr/>
        </p:nvSpPr>
        <p:spPr>
          <a:xfrm>
            <a:off x="6675120" y="3383280"/>
            <a:ext cx="5029200" cy="274320"/>
          </a:xfrm>
          <a:prstGeom prst="rect">
            <a:avLst/>
          </a:prstGeom>
          <a:noFill/>
        </p:spPr>
        <p:txBody>
          <a:bodyPr wrap="square"/>
          <a:lstStyle/>
          <a:p>
            <a:pPr algn="l">
              <a:spcBef>
                <a:spcPts val="0"/>
              </a:spcBef>
              <a:spcAft>
                <a:spcPts val="0"/>
              </a:spcAft>
              <a:defRPr sz="1200" b="0">
                <a:solidFill>
                  <a:srgbClr val="5B6470"/>
                </a:solidFill>
                <a:latin typeface="IBM Plex Sans"/>
              </a:defRPr>
            </a:pPr>
            <a:r>
              <a:rPr>
                <a:latin typeface="IBM Plex Sans"/>
              </a:rPr>
              <a:t>—  Load testing: not performed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11430000" y="6400800"/>
            <a:ext cx="548640" cy="274320"/>
          </a:xfrm>
          <a:prstGeom prst="rect">
            <a:avLst/>
          </a:prstGeom>
          <a:noFill/>
        </p:spPr>
        <p:txBody>
          <a:bodyPr wrap="square"/>
          <a:lstStyle/>
          <a:p>
            <a:pPr algn="r">
              <a:spcBef>
                <a:spcPts val="0"/>
              </a:spcBef>
              <a:spcAft>
                <a:spcPts val="0"/>
              </a:spcAft>
              <a:defRPr sz="1000" b="0">
                <a:solidFill>
                  <a:srgbClr val="5B6470"/>
                </a:solidFill>
                <a:latin typeface="IBM Plex Sans"/>
              </a:defRPr>
            </a:pPr>
            <a:r>
              <a:rPr>
                <a:latin typeface="IBM Plex Sans"/>
              </a:rPr>
              <a:t>18</a:t>
            </a:r>
          </a:p>
        </p:txBody>
      </p:sp>
      <p:sp>
        <p:nvSpPr>
          <p:cNvPr id="3" name="TextBox 2"/>
          <p:cNvSpPr txBox="1"/>
          <p:nvPr/>
        </p:nvSpPr>
        <p:spPr>
          <a:xfrm>
            <a:off x="640080" y="6400800"/>
            <a:ext cx="1371600" cy="274320"/>
          </a:xfrm>
          <a:prstGeom prst="rect">
            <a:avLst/>
          </a:prstGeom>
          <a:noFill/>
        </p:spPr>
        <p:txBody>
          <a:bodyPr wrap="square"/>
          <a:lstStyle/>
          <a:p>
            <a:pPr algn="l">
              <a:spcBef>
                <a:spcPts val="0"/>
              </a:spcBef>
              <a:spcAft>
                <a:spcPts val="0"/>
              </a:spcAft>
              <a:defRPr sz="1000" b="1">
                <a:solidFill>
                  <a:srgbClr val="5B6470"/>
                </a:solidFill>
                <a:latin typeface="IBM Plex Sans"/>
              </a:defRPr>
            </a:pPr>
            <a:r>
              <a:rPr>
                <a:latin typeface="IBM Plex Sans"/>
              </a:rPr>
              <a:t>Dogfood</a:t>
            </a:r>
          </a:p>
        </p:txBody>
      </p:sp>
      <p:sp>
        <p:nvSpPr>
          <p:cNvPr id="4" name="TextBox 3"/>
          <p:cNvSpPr txBox="1"/>
          <p:nvPr/>
        </p:nvSpPr>
        <p:spPr>
          <a:xfrm>
            <a:off x="640080" y="2011680"/>
            <a:ext cx="10911535" cy="457200"/>
          </a:xfrm>
          <a:prstGeom prst="rect">
            <a:avLst/>
          </a:prstGeom>
          <a:noFill/>
        </p:spPr>
        <p:txBody>
          <a:bodyPr wrap="square"/>
          <a:lstStyle/>
          <a:p>
            <a:pPr algn="l">
              <a:spcBef>
                <a:spcPts val="0"/>
              </a:spcBef>
              <a:spcAft>
                <a:spcPts val="0"/>
              </a:spcAft>
              <a:defRPr sz="4400" b="1">
                <a:solidFill>
                  <a:srgbClr val="FFFFFF"/>
                </a:solidFill>
                <a:latin typeface="IBM Plex Sans"/>
              </a:defRPr>
            </a:pPr>
            <a:r>
              <a:rPr>
                <a:latin typeface="IBM Plex Sans"/>
              </a:rPr>
              <a:t>Run it yourself.</a:t>
            </a:r>
          </a:p>
        </p:txBody>
      </p:sp>
      <p:sp>
        <p:nvSpPr>
          <p:cNvPr id="5" name="TextBox 4"/>
          <p:cNvSpPr txBox="1"/>
          <p:nvPr/>
        </p:nvSpPr>
        <p:spPr>
          <a:xfrm>
            <a:off x="640080" y="2926080"/>
            <a:ext cx="7315200" cy="457200"/>
          </a:xfrm>
          <a:prstGeom prst="rect">
            <a:avLst/>
          </a:prstGeom>
          <a:noFill/>
        </p:spPr>
        <p:txBody>
          <a:bodyPr wrap="square"/>
          <a:lstStyle/>
          <a:p>
            <a:pPr algn="l">
              <a:spcBef>
                <a:spcPts val="0"/>
              </a:spcBef>
              <a:spcAft>
                <a:spcPts val="0"/>
              </a:spcAft>
              <a:defRPr sz="1600" b="0">
                <a:solidFill>
                  <a:srgbClr val="0F766E"/>
                </a:solidFill>
                <a:latin typeface="IBM Plex Mono"/>
              </a:defRPr>
            </a:pPr>
            <a:r>
              <a:rPr>
                <a:latin typeface="IBM Plex Mono"/>
              </a:rPr>
              <a:t>git clone https://github.com/codewisp-ai/DogFood &amp;&amp; cd DogFood &amp;&amp; docker compose up</a:t>
            </a:r>
          </a:p>
        </p:txBody>
      </p:sp>
      <p:sp>
        <p:nvSpPr>
          <p:cNvPr id="6" name="TextBox 5"/>
          <p:cNvSpPr txBox="1"/>
          <p:nvPr/>
        </p:nvSpPr>
        <p:spPr>
          <a:xfrm>
            <a:off x="640080" y="3840480"/>
            <a:ext cx="5486400" cy="274320"/>
          </a:xfrm>
          <a:prstGeom prst="rect">
            <a:avLst/>
          </a:prstGeom>
          <a:noFill/>
        </p:spPr>
        <p:txBody>
          <a:bodyPr wrap="square"/>
          <a:lstStyle/>
          <a:p>
            <a:pPr algn="l">
              <a:spcBef>
                <a:spcPts val="0"/>
              </a:spcBef>
              <a:spcAft>
                <a:spcPts val="0"/>
              </a:spcAft>
              <a:defRPr sz="1600" b="0">
                <a:solidFill>
                  <a:srgbClr val="5B6470"/>
                </a:solidFill>
                <a:latin typeface="IBM Plex Sans"/>
              </a:defRPr>
            </a:pPr>
            <a:r>
              <a:rPr>
                <a:latin typeface="IBM Plex Sans"/>
              </a:rPr>
              <a:t>Offline after image pull  ·  MIT License</a:t>
            </a:r>
          </a:p>
        </p:txBody>
      </p:sp>
      <p:sp>
        <p:nvSpPr>
          <p:cNvPr id="7" name="TextBox 6"/>
          <p:cNvSpPr txBox="1"/>
          <p:nvPr/>
        </p:nvSpPr>
        <p:spPr>
          <a:xfrm>
            <a:off x="640080" y="4754880"/>
            <a:ext cx="7315200" cy="274320"/>
          </a:xfrm>
          <a:prstGeom prst="rect">
            <a:avLst/>
          </a:prstGeom>
          <a:noFill/>
        </p:spPr>
        <p:txBody>
          <a:bodyPr wrap="square"/>
          <a:lstStyle/>
          <a:p>
            <a:pPr algn="l">
              <a:spcBef>
                <a:spcPts val="0"/>
              </a:spcBef>
              <a:spcAft>
                <a:spcPts val="0"/>
              </a:spcAft>
              <a:defRPr sz="2000" b="1">
                <a:solidFill>
                  <a:srgbClr val="0F766E"/>
                </a:solidFill>
                <a:latin typeface="IBM Plex Mono"/>
              </a:defRPr>
            </a:pPr>
            <a:r>
              <a:rPr>
                <a:latin typeface="IBM Plex Mono"/>
              </a:rPr>
              <a:t>github.com/codewisp-ai/DogFood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